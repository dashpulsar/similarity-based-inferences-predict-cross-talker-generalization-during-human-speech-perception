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96b5a68d3e4d8e" /><Relationship Type="http://schemas.openxmlformats.org/officeDocument/2006/relationships/extended-properties" Target="/docProps/app.xml" Id="R11cdd57eedde4531" /><Relationship Type="http://schemas.openxmlformats.org/officeDocument/2006/relationships/officeDocument" Target="/ppt/presentation.xml" Id="R3924702e90684c32" /></Relationships>
</file>

<file path=ppt/presentation.xml><?xml version="1.0" encoding="utf-8"?>
<p:presentation xmlns:p="http://schemas.openxmlformats.org/presentationml/2006/main">
  <p:sldMasterIdLst>
    <p:sldMasterId xmlns:r="http://schemas.openxmlformats.org/officeDocument/2006/relationships" id="2147483648" r:id="R0a606c1758db4412"/>
  </p:sldMasterIdLst>
  <p:notesMasterIdLst>
    <p:notesMasterId xmlns:r="http://schemas.openxmlformats.org/officeDocument/2006/relationships" r:id="Rb21ffb54759b4470"/>
  </p:notesMasterIdLst>
  <p:sldIdLst>
    <p:sldId xmlns:r="http://schemas.openxmlformats.org/officeDocument/2006/relationships" id="256" r:id="R223a8d7f5ea343ec"/>
    <p:sldId xmlns:r="http://schemas.openxmlformats.org/officeDocument/2006/relationships" id="257" r:id="R7d318d7389c84e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2c0def0f3744ea" /><Relationship Type="http://schemas.openxmlformats.org/officeDocument/2006/relationships/slideMaster" Target="/ppt/slideMasters/slideMaster1.xml" Id="R0a606c1758db4412" /><Relationship Type="http://schemas.openxmlformats.org/officeDocument/2006/relationships/notesMaster" Target="/ppt/notesMasters/notesMaster1.xml" Id="Rb21ffb54759b4470" /><Relationship Type="http://schemas.openxmlformats.org/officeDocument/2006/relationships/presProps" Target="/ppt/presProps.xml" Id="R15528b7c27eb4319" /><Relationship Type="http://schemas.openxmlformats.org/officeDocument/2006/relationships/tableStyles" Target="/ppt/tableStyles.xml" Id="R2c1aadb3667f40b4" /><Relationship Type="http://schemas.openxmlformats.org/officeDocument/2006/relationships/slide" Target="/ppt/slides/slide1.xml" Id="R223a8d7f5ea343ec" /><Relationship Type="http://schemas.openxmlformats.org/officeDocument/2006/relationships/slide" Target="/ppt/slides/slide2.xml" Id="R7d318d7389c84e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8d10a7f04d42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040f9534c24316" /><Relationship Type="http://schemas.openxmlformats.org/officeDocument/2006/relationships/notesMaster" Target="/ppt/notesMasters/notesMaster1.xml" Id="R3b5f494371aa43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b4e89e7fb54c08" /><Relationship Type="http://schemas.openxmlformats.org/officeDocument/2006/relationships/notesMaster" Target="/ppt/notesMasters/notesMaster1.xml" Id="R36ae7c51218f4e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xmlns:a="http://schemas.openxmlformats.org/drawingml/2006/main">
            <a:r>
              <a:t/>
            </a:r>
          </a:p>
          <a:p xmlns:a="http://schemas.openxmlformats.org/drawingml/2006/main">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xmlns:a="http://schemas.openxmlformats.org/drawingml/2006/main">
            <a:r>
              <a:t/>
            </a:r>
          </a:p>
          <a:p xmlns:a="http://schemas.openxmlformats.org/drawingml/2006/main">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investigate why AN19 favors the acoustic baseline, I used the same 5,685 available responses for MFCC, STRF and both HuBERT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a:t>
            </a:r>
          </a:p>
          <a:p xmlns:a="http://schemas.openxmlformats.org/drawingml/2006/main">
            <a:r>
              <a:t/>
            </a:r>
          </a:p>
          <a:p xmlns:a="http://schemas.openxmlformats.org/drawingml/2006/main">
            <a:r>
              <a: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a:t>
            </a:r>
          </a:p>
          <a:p xmlns:a="http://schemas.openxmlformats.org/drawingml/2006/main">
            <a:r>
              <a:t/>
            </a:r>
          </a:p>
          <a:p xmlns:a="http://schemas.openxmlformats.org/drawingml/2006/main">
            <a:r>
              <a: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HuBERT. Excluding Control as well preserves that ordering.</a:t>
            </a:r>
          </a:p>
          <a:p xmlns:a="http://schemas.openxmlformats.org/drawingml/2006/main">
            <a:r>
              <a:t/>
            </a:r>
          </a:p>
          <a:p xmlns:a="http://schemas.openxmlformats.org/drawingml/2006/main">
            <a:r>
              <a: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a:t>
            </a:r>
          </a:p>
          <a:p xmlns:a="http://schemas.openxmlformats.org/drawingml/2006/main">
            <a:r>
              <a:t/>
            </a:r>
          </a:p>
          <a:p xmlns:a="http://schemas.openxmlformats.org/drawingml/2006/main">
            <a:r>
              <a:t>Sources: cross_talker_generalization/artifacts/derived/AN19-AN19_acoustic-confirmatory-full-20260906-model-input.csv;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evidence.json. Additional context: cross_talker_generalization/analysis_update_2026-09-18/AN19_BASELINE_EXPLANATION.md.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916593ff3149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b13b62eddd4bf1" /><Relationship Type="http://schemas.openxmlformats.org/officeDocument/2006/relationships/slideLayout" Target="/ppt/slideLayouts/slideLayout1.xml" Id="R564ae8355d9848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4ae8355d9848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c25c7ca3d44a45" /><Relationship Type="http://schemas.openxmlformats.org/officeDocument/2006/relationships/chart" Target="/ppt/slides/charts/chart1.xml" Id="Rc6b99d53cd8d4195" /><Relationship Type="http://schemas.openxmlformats.org/officeDocument/2006/relationships/notesSlide" Target="/ppt/notesSlides/notesSlide1.xml" Id="Rdf34261a771549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71f40942ac45f4" /><Relationship Type="http://schemas.openxmlformats.org/officeDocument/2006/relationships/chart" Target="/ppt/slides/charts/chart2.xml" Id="R87a9b1ae0c364eeb" /><Relationship Type="http://schemas.openxmlformats.org/officeDocument/2006/relationships/notesSlide" Target="/ppt/notesSlides/notesSlide2.xml" Id="Rf1cb7e2bd1ae49b6" /></Relationships>
</file>

<file path=ppt/slides/charts/chart1.xml><?xml version="1.0" encoding="utf-8"?>
<c:chartSpace xmlns:c="http://schemas.openxmlformats.org/drawingml/2006/chart">
  <c:lang val="en-US"/>
  <c:chart>
    <c:plotArea>
      <c:barChart>
        <c:barDir val="col"/>
        <c:grouping val="clustered"/>
        <c:varyColors val="0"/>
        <c:ser>
          <c:idx val="0"/>
          <c:order val="0"/>
          <c:tx>
            <c:v>MFCC39</c:v>
          </c:tx>
          <c:spPr>
            <a:solidFill xmlns:a="http://schemas.openxmlformats.org/drawingml/2006/main">
              <a:srgbClr val="727A83"/>
            </a:solidFill>
          </c:spPr>
          <c:cat>
            <c:strLit>
              <c:ptCount val="2"/>
              <c:pt idx="0">
                <c:v>AN19</c:v>
              </c:pt>
              <c:pt idx="1">
                <c:v>X21</c:v>
              </c:pt>
            </c:strLit>
          </c:cat>
          <c:val>
            <c:numLit>
              <c:formatCode>0.0</c:formatCode>
              <c:ptCount val="2"/>
              <c:pt idx="0">
                <c:v>11.720367</c:v>
              </c:pt>
              <c:pt idx="1">
                <c:v>5.73644</c:v>
              </c:pt>
            </c:numLit>
          </c:val>
        </c:ser>
        <c:ser>
          <c:idx val="1"/>
          <c:order val="1"/>
          <c:tx>
            <c:v>STRF24</c:v>
          </c:tx>
          <c:spPr>
            <a:solidFill xmlns:a="http://schemas.openxmlformats.org/drawingml/2006/main">
              <a:srgbClr val="CC7837"/>
            </a:solidFill>
          </c:spPr>
          <c:cat>
            <c:strLit>
              <c:ptCount val="2"/>
              <c:pt idx="0">
                <c:v>AN19</c:v>
              </c:pt>
              <c:pt idx="1">
                <c:v>X21</c:v>
              </c:pt>
            </c:strLit>
          </c:cat>
          <c:val>
            <c:numLit>
              <c:formatCode>0.0</c:formatCode>
              <c:ptCount val="2"/>
              <c:pt idx="0">
                <c:v>13.942255</c:v>
              </c:pt>
              <c:pt idx="1">
                <c:v>5.723491</c:v>
              </c:pt>
            </c:numLit>
          </c:val>
        </c:ser>
        <c:ser>
          <c:idx val="2"/>
          <c:order val="2"/>
          <c:tx>
            <c:v>HuBERT base Tr-24</c:v>
          </c:tx>
          <c:spPr>
            <a:solidFill xmlns:a="http://schemas.openxmlformats.org/drawingml/2006/main">
              <a:srgbClr val="286499"/>
            </a:solidFill>
          </c:spPr>
          <c:cat>
            <c:strLit>
              <c:ptCount val="2"/>
              <c:pt idx="0">
                <c:v>AN19</c:v>
              </c:pt>
              <c:pt idx="1">
                <c:v>X21</c:v>
              </c:pt>
            </c:strLit>
          </c:cat>
          <c:val>
            <c:numLit>
              <c:formatCode>0.0</c:formatCode>
              <c:ptCount val="2"/>
              <c:pt idx="0">
                <c:v>10.825501</c:v>
              </c:pt>
              <c:pt idx="1">
                <c:v>7.76177</c:v>
              </c:pt>
            </c:numLit>
          </c:val>
        </c:ser>
        <c:ser>
          <c:idx val="3"/>
          <c:order val="3"/>
          <c:tx>
            <c:v>HuBERT FT Tr-24</c:v>
          </c:tx>
          <c:spPr>
            <a:solidFill xmlns:a="http://schemas.openxmlformats.org/drawingml/2006/main">
              <a:srgbClr val="198575"/>
            </a:solidFill>
          </c:spPr>
          <c:cat>
            <c:strLit>
              <c:ptCount val="2"/>
              <c:pt idx="0">
                <c:v>AN19</c:v>
              </c:pt>
              <c:pt idx="1">
                <c:v>X21</c:v>
              </c:pt>
            </c:strLit>
          </c:cat>
          <c:val>
            <c:numLit>
              <c:formatCode>0.0</c:formatCode>
              <c:ptCount val="2"/>
              <c:pt idx="0">
                <c:v>9.028088</c:v>
              </c:pt>
              <c:pt idx="1">
                <c:v>7.679416</c:v>
              </c:pt>
            </c:numLit>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6"/>
          <c:min val="0"/>
        </c:scaling>
        <c:delete val="0"/>
        <c:axPos val="l"/>
        <c:majorGridlines>
          <c:spPr>
            <a:ln xmlns:a="http://schemas.openxmlformats.org/drawingml/2006/main" w="9525">
              <a:solidFill>
                <a:srgbClr val="E3E6E9"/>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Mean Wald z</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MFCC39</c:v>
          </c:tx>
          <c:spPr>
            <a:solidFill xmlns:a="http://schemas.openxmlformats.org/drawingml/2006/main">
              <a:srgbClr val="727A83"/>
            </a:solidFill>
          </c:spPr>
          <c:cat>
            <c:strLit>
              <c:ptCount val="2"/>
              <c:pt idx="0">
                <c:v>Across all cells</c:v>
              </c:pt>
              <c:pt idx="1">
                <c:v>After removing word means</c:v>
              </c:pt>
            </c:strLit>
          </c:cat>
          <c:val>
            <c:numLit>
              <c:formatCode>0.00</c:formatCode>
              <c:ptCount val="2"/>
              <c:pt idx="0">
                <c:v>0.375661</c:v>
              </c:pt>
              <c:pt idx="1">
                <c:v>0.249149</c:v>
              </c:pt>
            </c:numLit>
          </c:val>
        </c:ser>
        <c:ser>
          <c:idx val="1"/>
          <c:order val="1"/>
          <c:tx>
            <c:v>STRF24</c:v>
          </c:tx>
          <c:spPr>
            <a:solidFill xmlns:a="http://schemas.openxmlformats.org/drawingml/2006/main">
              <a:srgbClr val="CC7837"/>
            </a:solidFill>
          </c:spPr>
          <c:cat>
            <c:strLit>
              <c:ptCount val="2"/>
              <c:pt idx="0">
                <c:v>Across all cells</c:v>
              </c:pt>
              <c:pt idx="1">
                <c:v>After removing word means</c:v>
              </c:pt>
            </c:strLit>
          </c:cat>
          <c:val>
            <c:numLit>
              <c:formatCode>0.00</c:formatCode>
              <c:ptCount val="2"/>
              <c:pt idx="0">
                <c:v>0.456144</c:v>
              </c:pt>
              <c:pt idx="1">
                <c:v>0.198126</c:v>
              </c:pt>
            </c:numLit>
          </c:val>
        </c:ser>
        <c:ser>
          <c:idx val="2"/>
          <c:order val="2"/>
          <c:tx>
            <c:v>HuBERT base Tr-24</c:v>
          </c:tx>
          <c:spPr>
            <a:solidFill xmlns:a="http://schemas.openxmlformats.org/drawingml/2006/main">
              <a:srgbClr val="286499"/>
            </a:solidFill>
          </c:spPr>
          <c:cat>
            <c:strLit>
              <c:ptCount val="2"/>
              <c:pt idx="0">
                <c:v>Across all cells</c:v>
              </c:pt>
              <c:pt idx="1">
                <c:v>After removing word means</c:v>
              </c:pt>
            </c:strLit>
          </c:cat>
          <c:val>
            <c:numLit>
              <c:formatCode>0.00</c:formatCode>
              <c:ptCount val="2"/>
              <c:pt idx="0">
                <c:v>0.440191</c:v>
              </c:pt>
              <c:pt idx="1">
                <c:v>0.339071</c:v>
              </c:pt>
            </c:numLit>
          </c:val>
        </c:ser>
        <c:ser>
          <c:idx val="3"/>
          <c:order val="3"/>
          <c:tx>
            <c:v>HuBERT FT Tr-24</c:v>
          </c:tx>
          <c:spPr>
            <a:solidFill xmlns:a="http://schemas.openxmlformats.org/drawingml/2006/main">
              <a:srgbClr val="198575"/>
            </a:solidFill>
          </c:spPr>
          <c:cat>
            <c:strLit>
              <c:ptCount val="2"/>
              <c:pt idx="0">
                <c:v>Across all cells</c:v>
              </c:pt>
              <c:pt idx="1">
                <c:v>After removing word means</c:v>
              </c:pt>
            </c:strLit>
          </c:cat>
          <c:val>
            <c:numLit>
              <c:formatCode>0.00</c:formatCode>
              <c:ptCount val="2"/>
              <c:pt idx="0">
                <c:v>0.364377</c:v>
              </c:pt>
              <c:pt idx="1">
                <c:v>0.36167</c:v>
              </c:pt>
            </c:numLit>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E3E6E9"/>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Pearson r with listener accuracy</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0EDE78-9B15-4362-B1A7-8DB1A24F05FD}"/>
              </a:ext>
            </a:extLst>
          </p:cNvPr>
          <p:cNvSpPr>
            <a:spLocks xmlns:a="http://schemas.openxmlformats.org/drawingml/2006/main" noGrp="1"/>
          </p:cNvSpPr>
          <p:nvPr/>
        </p:nvSpPr>
        <p:spPr>
          <a:xfrm xmlns:a="http://schemas.openxmlformats.org/drawingml/2006/main">
            <a:off x="533400" y="2857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5"/>
                </a:solidFill>
                <a:latin typeface="Arial"/>
                <a:ea typeface="Arial"/>
                <a:cs typeface="Arial"/>
              </a:defRPr>
            </a:pPr>
            <a:r>
              <a:rPr sz="3300" b="1">
                <a:solidFill>
                  <a:srgbClr val="172E45"/>
                </a:solidFill>
                <a:latin typeface="Arial"/>
                <a:ea typeface="Arial"/>
                <a:cs typeface="Arial"/>
              </a:rPr>
              <a:t>Acoustic baselines rival HuBERT in AN19</a:t>
            </a:r>
          </a:p>
        </p:txBody>
      </p:sp>
      <p:sp>
        <p:nvSpPr>
          <p:cNvPr id="2" name="">
            <a:extLst xmlns:a="http://schemas.openxmlformats.org/drawingml/2006/main">
              <a:ext uri="{FF2B5EF4-FFF2-40B4-BE49-F238E27FC236}">
                <a16:creationId xmlns:a16="http://schemas.microsoft.com/office/drawing/2014/main" id="{08DD3CD2-3E95-4AC2-AECE-FDC87296902E}"/>
              </a:ext>
            </a:extLst>
          </p:cNvPr>
          <p:cNvSpPr>
            <a:spLocks xmlns:a="http://schemas.openxmlformats.org/drawingml/2006/main" noGrp="1"/>
          </p:cNvSpPr>
          <p:nvPr/>
        </p:nvSpPr>
        <p:spPr>
          <a:xfrm xmlns:a="http://schemas.openxmlformats.org/drawingml/2006/main">
            <a:off x="533400" y="99060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mlns:a="http://schemas.openxmlformats.org/drawingml/2006/main" x="685800" y="1466850"/>
          <a:ext xmlns:a="http://schemas.openxmlformats.org/drawingml/2006/main" cx="10820400" cy="3790950"/>
        </p:xfrm>
        <a:graphic xmlns:a="http://schemas.openxmlformats.org/drawingml/2006/main">
          <a:graphicData uri="http://schemas.openxmlformats.org/drawingml/2006/chart">
            <c:chart xmlns:r="http://schemas.openxmlformats.org/officeDocument/2006/relationships" xmlns:c="http://schemas.openxmlformats.org/drawingml/2006/chart" r:id="Rc6b99d53cd8d4195"/>
          </a:graphicData>
        </a:graphic>
      </p:graphicFrame>
      <p:sp>
        <p:nvSpPr>
          <p:cNvPr id="4" name="">
            <a:extLst xmlns:a="http://schemas.openxmlformats.org/drawingml/2006/main">
              <a:ext uri="{FF2B5EF4-FFF2-40B4-BE49-F238E27FC236}">
                <a16:creationId xmlns:a16="http://schemas.microsoft.com/office/drawing/2014/main" id="{E4E93BFF-B0FA-4409-84A9-BE168ADA2185}"/>
              </a:ext>
            </a:extLst>
          </p:cNvPr>
          <p:cNvSpPr>
            <a:spLocks xmlns:a="http://schemas.openxmlformats.org/drawingml/2006/main" noGrp="1"/>
          </p:cNvSpPr>
          <p:nvPr/>
        </p:nvSpPr>
        <p:spPr>
          <a:xfrm xmlns:a="http://schemas.openxmlformats.org/drawingml/2006/main">
            <a:off x="628650" y="54292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E45"/>
                </a:solidFill>
                <a:latin typeface="Arial"/>
                <a:ea typeface="Arial"/>
                <a:cs typeface="Arial"/>
              </a:defRPr>
            </a:pPr>
            <a:r>
              <a:rPr sz="2025" b="1">
                <a:solidFill>
                  <a:srgbClr val="172E45"/>
                </a:solidFill>
                <a:latin typeface="Arial"/>
                <a:ea typeface="Arial"/>
                <a:cs typeface="Arial"/>
              </a:rPr>
              <a:t>AN19 STRF also matches the best base layer: 13.94 vs 13.69 (Tr-12).</a:t>
            </a:r>
          </a:p>
        </p:txBody>
      </p:sp>
      <p:sp>
        <p:nvSpPr>
          <p:cNvPr id="5" name="">
            <a:extLst xmlns:a="http://schemas.openxmlformats.org/drawingml/2006/main">
              <a:ext uri="{FF2B5EF4-FFF2-40B4-BE49-F238E27FC236}">
                <a16:creationId xmlns:a16="http://schemas.microsoft.com/office/drawing/2014/main" id="{7290BC40-3881-42FA-ACDC-E86F0DCEC94B}"/>
              </a:ext>
            </a:extLst>
          </p:cNvPr>
          <p:cNvSpPr>
            <a:spLocks xmlns:a="http://schemas.openxmlformats.org/drawingml/2006/main" noGrp="1"/>
          </p:cNvSpPr>
          <p:nvPr/>
        </p:nvSpPr>
        <p:spPr>
          <a:xfrm xmlns:a="http://schemas.openxmlformats.org/drawingml/2006/main">
            <a:off x="628650" y="5848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340"/>
                </a:solidFill>
                <a:latin typeface="Arial"/>
                <a:ea typeface="Arial"/>
                <a:cs typeface="Arial"/>
              </a:defRPr>
            </a:pPr>
            <a:r>
              <a:rPr sz="1875" b="0">
                <a:solidFill>
                  <a:srgbClr val="263340"/>
                </a:solidFill>
                <a:latin typeface="Arial"/>
                <a:ea typeface="Arial"/>
                <a:cs typeface="Arial"/>
              </a:rPr>
              <a:t>X21 shows a clearer HuBERT advantage. The cause of this difference remains open.</a:t>
            </a:r>
          </a:p>
        </p:txBody>
      </p:sp>
      <p:sp>
        <p:nvSpPr>
          <p:cNvPr id="6" name="">
            <a:extLst xmlns:a="http://schemas.openxmlformats.org/drawingml/2006/main">
              <a:ext uri="{FF2B5EF4-FFF2-40B4-BE49-F238E27FC236}">
                <a16:creationId xmlns:a16="http://schemas.microsoft.com/office/drawing/2014/main" id="{D7BBBEFA-8A5E-45E9-90A0-0955C6BBD48A}"/>
              </a:ext>
            </a:extLst>
          </p:cNvPr>
          <p:cNvSpPr>
            <a:spLocks xmlns:a="http://schemas.openxmlformats.org/drawingml/2006/main" noGrp="1"/>
          </p:cNvSpPr>
          <p:nvPr/>
        </p:nvSpPr>
        <p:spPr>
          <a:xfrm xmlns:a="http://schemas.openxmlformats.org/drawingml/2006/main">
            <a:off x="628650" y="63817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2311813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578A20-6261-4564-BE4A-97133FF74534}"/>
              </a:ext>
            </a:extLst>
          </p:cNvPr>
          <p:cNvSpPr>
            <a:spLocks xmlns:a="http://schemas.openxmlformats.org/drawingml/2006/main" noGrp="1"/>
          </p:cNvSpPr>
          <p:nvPr/>
        </p:nvSpPr>
        <p:spPr>
          <a:xfrm xmlns:a="http://schemas.openxmlformats.org/drawingml/2006/main">
            <a:off x="533400" y="2857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
            <a:extLst xmlns:a="http://schemas.openxmlformats.org/drawingml/2006/main">
              <a:ext uri="{FF2B5EF4-FFF2-40B4-BE49-F238E27FC236}">
                <a16:creationId xmlns:a16="http://schemas.microsoft.com/office/drawing/2014/main" id="{A7CA244D-F2DA-41C1-A07F-4A40310B9C41}"/>
              </a:ext>
            </a:extLst>
          </p:cNvPr>
          <p:cNvSpPr>
            <a:spLocks xmlns:a="http://schemas.openxmlformats.org/drawingml/2006/main" noGrp="1"/>
          </p:cNvSpPr>
          <p:nvPr/>
        </p:nvSpPr>
        <p:spPr>
          <a:xfrm xmlns:a="http://schemas.openxmlformats.org/drawingml/2006/main">
            <a:off x="533400" y="99060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mlns:a="http://schemas.openxmlformats.org/drawingml/2006/main" x="685800" y="1466850"/>
          <a:ext xmlns:a="http://schemas.openxmlformats.org/drawingml/2006/main" cx="10820400" cy="3790950"/>
        </p:xfrm>
        <a:graphic xmlns:a="http://schemas.openxmlformats.org/drawingml/2006/main">
          <a:graphicData uri="http://schemas.openxmlformats.org/drawingml/2006/chart">
            <c:chart xmlns:r="http://schemas.openxmlformats.org/officeDocument/2006/relationships" xmlns:c="http://schemas.openxmlformats.org/drawingml/2006/chart" r:id="R87a9b1ae0c364eeb"/>
          </a:graphicData>
        </a:graphic>
      </p:graphicFrame>
      <p:sp>
        <p:nvSpPr>
          <p:cNvPr id="4" name="">
            <a:extLst xmlns:a="http://schemas.openxmlformats.org/drawingml/2006/main">
              <a:ext uri="{FF2B5EF4-FFF2-40B4-BE49-F238E27FC236}">
                <a16:creationId xmlns:a16="http://schemas.microsoft.com/office/drawing/2014/main" id="{FDB44DCA-7A89-4F72-8929-43CB3D6D0E11}"/>
              </a:ext>
            </a:extLst>
          </p:cNvPr>
          <p:cNvSpPr>
            <a:spLocks xmlns:a="http://schemas.openxmlformats.org/drawingml/2006/main" noGrp="1"/>
          </p:cNvSpPr>
          <p:nvPr/>
        </p:nvSpPr>
        <p:spPr>
          <a:xfrm xmlns:a="http://schemas.openxmlformats.org/drawingml/2006/main">
            <a:off x="628650" y="54292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
            <a:extLst xmlns:a="http://schemas.openxmlformats.org/drawingml/2006/main">
              <a:ext uri="{FF2B5EF4-FFF2-40B4-BE49-F238E27FC236}">
                <a16:creationId xmlns:a16="http://schemas.microsoft.com/office/drawing/2014/main" id="{E0C5C91C-0555-49DE-A799-A3869C1CC658}"/>
              </a:ext>
            </a:extLst>
          </p:cNvPr>
          <p:cNvSpPr>
            <a:spLocks xmlns:a="http://schemas.openxmlformats.org/drawingml/2006/main" noGrp="1"/>
          </p:cNvSpPr>
          <p:nvPr/>
        </p:nvSpPr>
        <p:spPr>
          <a:xfrm xmlns:a="http://schemas.openxmlformats.org/drawingml/2006/main">
            <a:off x="628650"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
            <a:extLst xmlns:a="http://schemas.openxmlformats.org/drawingml/2006/main">
              <a:ext uri="{FF2B5EF4-FFF2-40B4-BE49-F238E27FC236}">
                <a16:creationId xmlns:a16="http://schemas.microsoft.com/office/drawing/2014/main" id="{2AF883FF-2819-46F7-B17C-C6B2DB401E68}"/>
              </a:ext>
            </a:extLst>
          </p:cNvPr>
          <p:cNvSpPr>
            <a:spLocks xmlns:a="http://schemas.openxmlformats.org/drawingml/2006/main" noGrp="1"/>
          </p:cNvSpPr>
          <p:nvPr/>
        </p:nvSpPr>
        <p:spPr>
          <a:xfrm xmlns:a="http://schemas.openxmlformats.org/drawingml/2006/main">
            <a:off x="628650" y="63722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2052184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2026-09-18T06:15:50.9810000Z</dcterms:created>
  <dcterms:modified xsi:type="dcterms:W3CDTF">2026-09-18T06:15:50.9810000Z</dcterms:modified>
</coreProperties>
</file>