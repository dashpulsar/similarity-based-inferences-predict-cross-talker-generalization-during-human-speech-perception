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sbi_added_core.xml" ContentType="application/vnd.openxmlformats-package.core-properties+xml"/>
  <Override PartName="/docProps/sbi_added_app.xml" ContentType="application/vnd.openxmlformats-officedocument.extended-properties+xml"/>
  <Override PartName="/ppt/sbi_added_presentation.xml" ContentType="application/vnd.openxmlformats-officedocument.presentationml.presentation.main+xml"/>
  <Override PartName="/ppt/theme/sbi_added_theme1.xml" ContentType="application/vnd.openxmlformats-officedocument.theme+xml"/>
  <Override PartName="/ppt/slideMasters/sbi_added_slideMaster1.xml" ContentType="application/vnd.openxmlformats-officedocument.presentationml.slideMaster+xml"/>
  <Override PartName="/ppt/slideMasters/theme/sbi_added_theme2.xml" ContentType="application/vnd.openxmlformats-officedocument.theme+xml"/>
  <Override PartName="/ppt/slideLayouts/sbi_added_slideLayout1.xml" ContentType="application/vnd.openxmlformats-officedocument.presentationml.slideLayout+xml"/>
  <Override PartName="/ppt/notesMasters/sbi_added_notesMaster1.xml" ContentType="application/vnd.openxmlformats-officedocument.presentationml.notesMaster+xml"/>
  <Override PartName="/ppt/notesMasters/theme/sbi_added_theme3.xml" ContentType="application/vnd.openxmlformats-officedocument.theme+xml"/>
  <Override PartName="/ppt/sbi_added_presProps.xml" ContentType="application/vnd.openxmlformats-officedocument.presentationml.presProps+xml"/>
  <Override PartName="/ppt/sbi_added_tableStyles.xml" ContentType="application/vnd.openxmlformats-officedocument.presentationml.tableStyles+xml"/>
  <Override PartName="/ppt/slides/sbi_added_slide1.xml" ContentType="application/vnd.openxmlformats-officedocument.presentationml.slide+xml"/>
  <Override PartName="/ppt/notesSlides/sbi_added_notesSlide1.xml" ContentType="application/vnd.openxmlformats-officedocument.presentationml.notesSlide+xml"/>
  <Override PartName="/ppt/slides/sbi_added_slide2.xml" ContentType="application/vnd.openxmlformats-officedocument.presentationml.slide+xml"/>
  <Override PartName="/ppt/notesSlides/sbi_added_notesSlide2.xml" ContentType="application/vnd.openxmlformats-officedocument.presentationml.notesSlide+xml"/>
  <Override PartName="/ppt/slides/sbi_added_slide3.xml" ContentType="application/vnd.openxmlformats-officedocument.presentationml.slide+xml"/>
  <Override PartName="/ppt/notesSlides/sbi_added_notesSlide3.xml" ContentType="application/vnd.openxmlformats-officedocument.presentationml.notesSlide+xml"/>
  <Override PartName="/ppt/slides/sbi_added_slide4.xml" ContentType="application/vnd.openxmlformats-officedocument.presentationml.slide+xml"/>
  <Override PartName="/ppt/notesSlides/sbi_added_notesSlide4.xml" ContentType="application/vnd.openxmlformats-officedocument.presentationml.notesSlide+xml"/>
  <Override PartName="/ppt/slides/sbi_added_slide5.xml" ContentType="application/vnd.openxmlformats-officedocument.presentationml.slide+xml"/>
  <Override PartName="/ppt/notesSlides/sbi_added_notesSlide5.xml" ContentType="application/vnd.openxmlformats-officedocument.presentationml.notesSlide+xml"/>
  <Override PartName="/ppt/slides/sbi_added_slide6.xml" ContentType="application/vnd.openxmlformats-officedocument.presentationml.slide+xml"/>
  <Override PartName="/ppt/notesSlides/sbi_added_notesSlide6.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ns2="http://schemas.openxmlformats.org/drawingml/2006/main" xmlns:p="http://schemas.openxmlformats.org/presentationml/2006/main" xmlns:r="http://schemas.openxmlformats.org/officeDocument/2006/relationships">
  <p:sldMasterIdLst>
    <p:sldMasterId id="2147483648" r:id="rId1"/>
    <p:sldMasterId id="2147483649" r:id="rIdSBIDiagnosticssldMasterIdLst0"/>
  </p:sldMasterIdLst>
  <p:notesMasterIdLst>
    <p:notesMasterId r:id="rId6"/>
    <p:notesMasterId r:id="rIdSBIDiagnosticsnotesMasterIdLst0"/>
  </p:notesMasterIdLst>
  <p:sldIdLst>
    <p:sldId id="256" r:id="rId2"/>
    <p:sldId id="257" r:id="rId3"/>
    <p:sldId id="258" r:id="rId4"/>
    <p:sldId id="259" r:id="rId5"/>
    <p:sldId id="260" r:id="rIdSBIDiagnosticssldIdLst0"/>
    <p:sldId id="261" r:id="rIdSBIDiagnosticssldIdLst1"/>
    <p:sldId id="262" r:id="rIdSBIDiagnosticssldIdLst2"/>
    <p:sldId id="263" r:id="rIdSBIDiagnosticssldIdLst3"/>
    <p:sldId id="264" r:id="rIdSBIDiagnosticssldIdLst4"/>
    <p:sldId id="265" r:id="rIdSBIDiagnosticssldIdLst5"/>
  </p:sldIdLst>
  <p:sldSz cx="12192000" cy="6858000"/>
  <p:notesSz cx="6858000" cy="9144000"/>
  <p:defaultTextStyle>
    <ns2:defPPr>
      <ns2:defRPr lang="zh-CN"/>
    </ns2:defPPr>
    <ns2:lvl1pPr marL="0" algn="l" defTabSz="914400" rtl="0" eaLnBrk="1" latinLnBrk="0" hangingPunct="1">
      <ns2:defRPr sz="1800" kern="1200">
        <ns2:solidFill>
          <ns2:schemeClr val="tx1"/>
        </ns2:solidFill>
        <ns2:latin typeface="+mn-lt"/>
        <ns2:ea typeface="+mn-ea"/>
        <ns2:cs typeface="+mn-cs"/>
      </ns2:defRPr>
    </ns2:lvl1pPr>
    <ns2:lvl2pPr marL="457200" algn="l" defTabSz="914400" rtl="0" eaLnBrk="1" latinLnBrk="0" hangingPunct="1">
      <ns2:defRPr sz="1800" kern="1200">
        <ns2:solidFill>
          <ns2:schemeClr val="tx1"/>
        </ns2:solidFill>
        <ns2:latin typeface="+mn-lt"/>
        <ns2:ea typeface="+mn-ea"/>
        <ns2:cs typeface="+mn-cs"/>
      </ns2:defRPr>
    </ns2:lvl2pPr>
    <ns2:lvl3pPr marL="914400" algn="l" defTabSz="914400" rtl="0" eaLnBrk="1" latinLnBrk="0" hangingPunct="1">
      <ns2:defRPr sz="1800" kern="1200">
        <ns2:solidFill>
          <ns2:schemeClr val="tx1"/>
        </ns2:solidFill>
        <ns2:latin typeface="+mn-lt"/>
        <ns2:ea typeface="+mn-ea"/>
        <ns2:cs typeface="+mn-cs"/>
      </ns2:defRPr>
    </ns2:lvl3pPr>
    <ns2:lvl4pPr marL="1371600" algn="l" defTabSz="914400" rtl="0" eaLnBrk="1" latinLnBrk="0" hangingPunct="1">
      <ns2:defRPr sz="1800" kern="1200">
        <ns2:solidFill>
          <ns2:schemeClr val="tx1"/>
        </ns2:solidFill>
        <ns2:latin typeface="+mn-lt"/>
        <ns2:ea typeface="+mn-ea"/>
        <ns2:cs typeface="+mn-cs"/>
      </ns2:defRPr>
    </ns2:lvl4pPr>
    <ns2:lvl5pPr marL="1828800" algn="l" defTabSz="914400" rtl="0" eaLnBrk="1" latinLnBrk="0" hangingPunct="1">
      <ns2:defRPr sz="1800" kern="1200">
        <ns2:solidFill>
          <ns2:schemeClr val="tx1"/>
        </ns2:solidFill>
        <ns2:latin typeface="+mn-lt"/>
        <ns2:ea typeface="+mn-ea"/>
        <ns2:cs typeface="+mn-cs"/>
      </ns2:defRPr>
    </ns2:lvl5pPr>
    <ns2:lvl6pPr marL="2286000" algn="l" defTabSz="914400" rtl="0" eaLnBrk="1" latinLnBrk="0" hangingPunct="1">
      <ns2:defRPr sz="1800" kern="1200">
        <ns2:solidFill>
          <ns2:schemeClr val="tx1"/>
        </ns2:solidFill>
        <ns2:latin typeface="+mn-lt"/>
        <ns2:ea typeface="+mn-ea"/>
        <ns2:cs typeface="+mn-cs"/>
      </ns2:defRPr>
    </ns2:lvl6pPr>
    <ns2:lvl7pPr marL="2743200" algn="l" defTabSz="914400" rtl="0" eaLnBrk="1" latinLnBrk="0" hangingPunct="1">
      <ns2:defRPr sz="1800" kern="1200">
        <ns2:solidFill>
          <ns2:schemeClr val="tx1"/>
        </ns2:solidFill>
        <ns2:latin typeface="+mn-lt"/>
        <ns2:ea typeface="+mn-ea"/>
        <ns2:cs typeface="+mn-cs"/>
      </ns2:defRPr>
    </ns2:lvl7pPr>
    <ns2:lvl8pPr marL="3200400" algn="l" defTabSz="914400" rtl="0" eaLnBrk="1" latinLnBrk="0" hangingPunct="1">
      <ns2:defRPr sz="1800" kern="1200">
        <ns2:solidFill>
          <ns2:schemeClr val="tx1"/>
        </ns2:solidFill>
        <ns2:latin typeface="+mn-lt"/>
        <ns2:ea typeface="+mn-ea"/>
        <ns2:cs typeface="+mn-cs"/>
      </ns2:defRPr>
    </ns2:lvl8pPr>
    <ns2:lvl9pPr marL="3657600" algn="l" defTabSz="914400" rtl="0" eaLnBrk="1" latinLnBrk="0" hangingPunct="1">
      <ns2:defRPr sz="1800" kern="1200">
        <ns2:solidFill>
          <ns2:schemeClr val="tx1"/>
        </ns2:solidFill>
        <ns2:latin typeface="+mn-lt"/>
        <ns2:ea typeface="+mn-ea"/>
        <ns2:cs typeface="+mn-cs"/>
      </ns2:defRPr>
    </ns2: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sbi_added_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sbi_added_presentation.xml><?xml version="1.0" encoding="utf-8"?>
<p:presentation xmlns:p="http://schemas.openxmlformats.org/presentationml/2006/main">
  <p:sldMasterIdLst>
    <p:sldMasterId xmlns:r="http://schemas.openxmlformats.org/officeDocument/2006/relationships" id="2147483648" r:id="R3a0ae18329644ec1"/>
  </p:sldMasterIdLst>
  <p:notesMasterIdLst>
    <p:notesMasterId xmlns:r="http://schemas.openxmlformats.org/officeDocument/2006/relationships" r:id="Rdd195af0d5da487e"/>
  </p:notesMasterIdLst>
  <p:sldIdLst>
    <p:sldId xmlns:r="http://schemas.openxmlformats.org/officeDocument/2006/relationships" id="256" r:id="R2df0299ac6694261"/>
    <p:sldId xmlns:r="http://schemas.openxmlformats.org/officeDocument/2006/relationships" id="257" r:id="R7e959ec94f72498d"/>
    <p:sldId xmlns:r="http://schemas.openxmlformats.org/officeDocument/2006/relationships" id="258" r:id="R81067a9046a34a99"/>
    <p:sldId xmlns:r="http://schemas.openxmlformats.org/officeDocument/2006/relationships" id="259" r:id="R437f1942af72446e"/>
    <p:sldId xmlns:r="http://schemas.openxmlformats.org/officeDocument/2006/relationships" id="260" r:id="R4b442fa46e7f4e67"/>
    <p:sldId xmlns:r="http://schemas.openxmlformats.org/officeDocument/2006/relationships" id="261" r:id="R7a2bd1134a8c40f4"/>
  </p:sldIdLst>
  <p:sldSz cx="12192000" cy="6858000"/>
  <p:notesSz cx="6858000" cy="9144000"/>
</p:presentation>
</file>

<file path=ppt/sbi_added_tableStyles.xml><?xml version="1.0" encoding="utf-8"?>
<a:tblStyleLst xmlns:a="http://schemas.openxmlformats.org/drawingml/2006/main" def="{5C22544A-7EE6-4342-B048-85BDC9FD1C3A}"/>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387" autoAdjust="0"/>
  </p:normalViewPr>
  <p:slideViewPr>
    <p:cSldViewPr snapToGrid="0">
      <p:cViewPr varScale="1">
        <p:scale>
          <a:sx n="99" d="100"/>
          <a:sy n="99" d="100"/>
        </p:scale>
        <p:origin x="748" y="60"/>
      </p:cViewPr>
      <p:guideLst/>
    </p:cSldViewPr>
  </p:slideViewPr>
  <p:notesTextViewPr>
    <p:cViewPr>
      <p:scale>
        <a:sx n="1" d="1"/>
        <a:sy n="1" d="1"/>
      </p:scale>
      <p:origin x="0" y="-2040"/>
    </p:cViewPr>
  </p:notesTextViewPr>
  <p:gridSpacing cx="72008" cy="72008"/>
</p:viewPr>
</file>

<file path=ppt/_rels/presentation.xml.rels><?xml version='1.0' encoding='utf-8'?>
<ns0:Relationships xmlns:ns0="http://schemas.openxmlformats.org/package/2006/relationships"><ns0:Relationship Id="rId8" Type="http://schemas.openxmlformats.org/officeDocument/2006/relationships/viewProps" Target="viewProps.xml" /><ns0:Relationship Id="rId3" Type="http://schemas.openxmlformats.org/officeDocument/2006/relationships/slide" Target="slides/slide2.xml" /><ns0:Relationship Id="rId7" Type="http://schemas.openxmlformats.org/officeDocument/2006/relationships/presProps" Target="presProps.xml" /><ns0:Relationship Id="rId2" Type="http://schemas.openxmlformats.org/officeDocument/2006/relationships/slide" Target="slides/slide1.xml" /><ns0:Relationship Id="rId1" Type="http://schemas.openxmlformats.org/officeDocument/2006/relationships/slideMaster" Target="slideMasters/slideMaster1.xml" /><ns0:Relationship Id="rId6" Type="http://schemas.openxmlformats.org/officeDocument/2006/relationships/notesMaster" Target="notesMasters/notesMaster1.xml" /><ns0:Relationship Id="rId5" Type="http://schemas.openxmlformats.org/officeDocument/2006/relationships/slide" Target="slides/slide4.xml" /><ns0:Relationship Id="rId10" Type="http://schemas.openxmlformats.org/officeDocument/2006/relationships/tableStyles" Target="tableStyles.xml" /><ns0:Relationship Id="rId4" Type="http://schemas.openxmlformats.org/officeDocument/2006/relationships/slide" Target="slides/slide3.xml" /><ns0:Relationship Id="rId9" Type="http://schemas.openxmlformats.org/officeDocument/2006/relationships/theme" Target="theme/theme1.xml" /><ns0:Relationship Id="rIdSBIDiagnosticssldMasterIdLst0" Type="http://schemas.openxmlformats.org/officeDocument/2006/relationships/slideMaster" Target="slideMasters/sbi_added_slideMaster1.xml" /><ns0:Relationship Id="rIdSBIDiagnosticsnotesMasterIdLst0" Type="http://schemas.openxmlformats.org/officeDocument/2006/relationships/notesMaster" Target="notesMasters/sbi_added_notesMaster1.xml" /><ns0:Relationship Id="rIdSBIDiagnosticssldIdLst0" Type="http://schemas.openxmlformats.org/officeDocument/2006/relationships/slide" Target="slides/sbi_added_slide1.xml" /><ns0:Relationship Id="rIdSBIDiagnosticssldIdLst1" Type="http://schemas.openxmlformats.org/officeDocument/2006/relationships/slide" Target="slides/sbi_added_slide2.xml" /><ns0:Relationship Id="rIdSBIDiagnosticssldIdLst2" Type="http://schemas.openxmlformats.org/officeDocument/2006/relationships/slide" Target="slides/sbi_added_slide3.xml" /><ns0:Relationship Id="rIdSBIDiagnosticssldIdLst3" Type="http://schemas.openxmlformats.org/officeDocument/2006/relationships/slide" Target="slides/sbi_added_slide4.xml" /><ns0:Relationship Id="rIdSBIDiagnosticssldIdLst4" Type="http://schemas.openxmlformats.org/officeDocument/2006/relationships/slide" Target="slides/sbi_added_slide5.xml" /><ns0:Relationship Id="rIdSBIDiagnosticssldIdLst5" Type="http://schemas.openxmlformats.org/officeDocument/2006/relationships/slide" Target="slides/sbi_added_slide6.xml" /></ns0:Relationships>
</file>

<file path=ppt/_rels/sbi_added_presentation.xml.rels><?xml version='1.0' encoding='utf-8'?>
<ns0:Relationships xmlns:ns0="http://schemas.openxmlformats.org/package/2006/relationships"><ns0:Relationship Type="http://schemas.openxmlformats.org/officeDocument/2006/relationships/theme" Target="theme/sbi_added_theme1.xml" Id="R9c8fbc6bd1b64f92" /><ns0:Relationship Type="http://schemas.openxmlformats.org/officeDocument/2006/relationships/slideMaster" Target="slideMasters/sbi_added_slideMaster1.xml" Id="R3a0ae18329644ec1" /><ns0:Relationship Type="http://schemas.openxmlformats.org/officeDocument/2006/relationships/notesMaster" Target="notesMasters/sbi_added_notesMaster1.xml" Id="Rdd195af0d5da487e" /><ns0:Relationship Type="http://schemas.openxmlformats.org/officeDocument/2006/relationships/presProps" Target="sbi_added_presProps.xml" Id="Rdf7f047e163848d0" /><ns0:Relationship Type="http://schemas.openxmlformats.org/officeDocument/2006/relationships/tableStyles" Target="sbi_added_tableStyles.xml" Id="R519fc3c1df674a2b" /><ns0:Relationship Type="http://schemas.openxmlformats.org/officeDocument/2006/relationships/slide" Target="slides/sbi_added_slide1.xml" Id="R2df0299ac6694261" /><ns0:Relationship Type="http://schemas.openxmlformats.org/officeDocument/2006/relationships/slide" Target="slides/sbi_added_slide2.xml" Id="R7e959ec94f72498d" /><ns0:Relationship Type="http://schemas.openxmlformats.org/officeDocument/2006/relationships/slide" Target="slides/sbi_added_slide3.xml" Id="R81067a9046a34a99" /><ns0:Relationship Type="http://schemas.openxmlformats.org/officeDocument/2006/relationships/slide" Target="slides/sbi_added_slide4.xml" Id="R437f1942af72446e" /><ns0:Relationship Type="http://schemas.openxmlformats.org/officeDocument/2006/relationships/slide" Target="slides/sbi_added_slide5.xml" Id="R4b442fa46e7f4e67" /><ns0:Relationship Type="http://schemas.openxmlformats.org/officeDocument/2006/relationships/slide" Target="slides/sbi_added_slide6.xml" Id="R7a2bd1134a8c40f4" /></ns0: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ns0:chartSpace xmlns:ns0="http://schemas.openxmlformats.org/drawingml/2006/chart" xmlns:ns1="http://schemas.openxmlformats.org/drawingml/2006/main" xmlns:ns2="http://schemas.microsoft.com/office/drawing/2012/chart" xmlns:ns3="http://schemas.microsoft.com/office/drawing/2007/8/2/chart" xmlns:ns4="http://schemas.microsoft.com/office/drawing/2014/chart" xmlns:r="http://schemas.openxmlformats.org/officeDocument/2006/relationships">
  <ns0:date1904 val="1"/>
  <ns0:lang val="zh-CN"/>
  <ns0:roundedCorners val="1"/>
  <ns0:style val="2"/>
  <ns0:chart>
    <ns0:autoTitleDeleted val="1"/>
    <ns0:plotArea>
      <ns0:layout/>
      <ns0:barChart>
        <ns0:barDir val="col"/>
        <ns0:grouping val="clustered"/>
        <ns0:varyColors val="0"/>
        <ns0:ser>
          <ns0:idx val="0"/>
          <ns0:order val="0"/>
          <ns0:tx>
            <ns0:v>MFCC39</ns0:v>
          </ns0:tx>
          <ns0:spPr>
            <ns1:solidFill>
              <ns1:srgbClr val="727A83"/>
            </ns1:solidFill>
          </ns0:spPr>
          <ns0:invertIfNegative val="1"/>
          <ns0:dLbls>
            <ns0:spPr>
              <ns1:noFill/>
              <ns1:ln>
                <ns1:noFill/>
              </ns1:ln>
              <ns1:effectLst/>
            </ns0:spPr>
            <ns0:txPr>
              <ns1:bodyPr anchorCtr="1"/>
              <ns1:lstStyle/>
              <ns1:p>
                <ns1:pPr>
                  <ns1:defRPr sz="1575">
                    <ns1:latin typeface="Arial"/>
                    <ns1:ea typeface="Arial"/>
                    <ns1:cs typeface="Arial"/>
                  </ns1:defRPr>
                </ns1:pPr>
                <ns1:endParaRPr lang="zh-CN"/>
              </ns1:p>
            </ns0:txPr>
            <ns0:dLblPos val="outEnd"/>
            <ns0:showLegendKey val="0"/>
            <ns0:showVal val="1"/>
            <ns0:showCatName val="0"/>
            <ns0:showSerName val="0"/>
            <ns0:showPercent val="0"/>
            <ns0:showBubbleSize val="0"/>
            <ns0:showLeaderLines val="0"/>
            <ns0:extLst>
              <ns0:ext uri="{CE6537A1-D6FC-4f65-9D91-7224C49458BB}">
                <ns2:showLeaderLines val="0"/>
              </ns0:ext>
            </ns0:extLst>
          </ns0:dLbls>
          <ns0:cat>
            <ns0:strRef>
              <ns0:f>'Chart Data'!$A$2:$A$3</ns0:f>
              <ns0:strCache>
                <ns0:ptCount val="2"/>
                <ns0:pt idx="0">
                  <ns0:v>AN19</ns0:v>
                </ns0:pt>
                <ns0:pt idx="1">
                  <ns0:v>X21</ns0:v>
                </ns0:pt>
              </ns0:strCache>
            </ns0:strRef>
          </ns0:cat>
          <ns0:val>
            <ns0:numRef>
              <ns0:f>'Chart Data'!$B$2:$B$3</ns0:f>
              <ns0:numCache>
                <ns0:formatCode>0.0</ns0:formatCode>
                <ns0:ptCount val="2"/>
                <ns0:pt idx="0">
                  <ns0:v>11.720367</ns0:v>
                </ns0:pt>
                <ns0:pt idx="1">
                  <ns0:v>5.73644</ns0:v>
                </ns0:pt>
              </ns0:numCache>
            </ns0:numRef>
          </ns0:val>
          <ns0:extLst>
            <ns0:ext uri="{6F2FDCE9-48DA-4B69-8628-5D25D57E5C99}">
              <ns3:invertSolidFillFmt>
                <ns3:spPr>
                  <ns1:solidFill>
                    <ns1:srgbClr val="FFFFFF"/>
                  </ns1:solidFill>
                </ns3:spPr>
              </ns3:invertSolidFillFmt>
            </ns0:ext>
            <ns0:ext uri="{C3380CC4-5D6E-409C-BE32-E72D297353CC}">
              <ns4:uniqueId val="{00000000-21F2-4F30-BE13-D54AE851B2CF}"/>
            </ns0:ext>
          </ns0:extLst>
        </ns0:ser>
        <ns0:ser>
          <ns0:idx val="1"/>
          <ns0:order val="1"/>
          <ns0:tx>
            <ns0:v>STRF24</ns0:v>
          </ns0:tx>
          <ns0:spPr>
            <ns1:solidFill>
              <ns1:srgbClr val="CC7837"/>
            </ns1:solidFill>
          </ns0:spPr>
          <ns0:invertIfNegative val="1"/>
          <ns0:dLbls>
            <ns0:spPr>
              <ns1:noFill/>
              <ns1:ln>
                <ns1:noFill/>
              </ns1:ln>
              <ns1:effectLst/>
            </ns0:spPr>
            <ns0:txPr>
              <ns1:bodyPr anchorCtr="1"/>
              <ns1:lstStyle/>
              <ns1:p>
                <ns1:pPr>
                  <ns1:defRPr sz="1575">
                    <ns1:latin typeface="Arial"/>
                    <ns1:ea typeface="Arial"/>
                    <ns1:cs typeface="Arial"/>
                  </ns1:defRPr>
                </ns1:pPr>
                <ns1:endParaRPr lang="zh-CN"/>
              </ns1:p>
            </ns0:txPr>
            <ns0:dLblPos val="outEnd"/>
            <ns0:showLegendKey val="0"/>
            <ns0:showVal val="1"/>
            <ns0:showCatName val="0"/>
            <ns0:showSerName val="0"/>
            <ns0:showPercent val="0"/>
            <ns0:showBubbleSize val="0"/>
            <ns0:showLeaderLines val="0"/>
            <ns0:extLst>
              <ns0:ext uri="{CE6537A1-D6FC-4f65-9D91-7224C49458BB}">
                <ns2:showLeaderLines val="0"/>
              </ns0:ext>
            </ns0:extLst>
          </ns0:dLbls>
          <ns0:cat>
            <ns0:strRef>
              <ns0:f>'Chart Data'!$C$2:$C$3</ns0:f>
              <ns0:strCache>
                <ns0:ptCount val="2"/>
                <ns0:pt idx="0">
                  <ns0:v>AN19</ns0:v>
                </ns0:pt>
                <ns0:pt idx="1">
                  <ns0:v>X21</ns0:v>
                </ns0:pt>
              </ns0:strCache>
            </ns0:strRef>
          </ns0:cat>
          <ns0:val>
            <ns0:numRef>
              <ns0:f>'Chart Data'!$D$2:$D$3</ns0:f>
              <ns0:numCache>
                <ns0:formatCode>0.0</ns0:formatCode>
                <ns0:ptCount val="2"/>
                <ns0:pt idx="0">
                  <ns0:v>13.942255</ns0:v>
                </ns0:pt>
                <ns0:pt idx="1">
                  <ns0:v>5.723491</ns0:v>
                </ns0:pt>
              </ns0:numCache>
            </ns0:numRef>
          </ns0:val>
          <ns0:extLst>
            <ns0:ext uri="{6F2FDCE9-48DA-4B69-8628-5D25D57E5C99}">
              <ns3:invertSolidFillFmt>
                <ns3:spPr>
                  <ns1:solidFill>
                    <ns1:srgbClr val="FFFFFF"/>
                  </ns1:solidFill>
                </ns3:spPr>
              </ns3:invertSolidFillFmt>
            </ns0:ext>
            <ns0:ext uri="{C3380CC4-5D6E-409C-BE32-E72D297353CC}">
              <ns4:uniqueId val="{00000001-21F2-4F30-BE13-D54AE851B2CF}"/>
            </ns0:ext>
          </ns0:extLst>
        </ns0:ser>
        <ns0:ser>
          <ns0:idx val="2"/>
          <ns0:order val="2"/>
          <ns0:tx>
            <ns0:v>HuBERT base Tr-24</ns0:v>
          </ns0:tx>
          <ns0:spPr>
            <ns1:solidFill>
              <ns1:srgbClr val="286499"/>
            </ns1:solidFill>
          </ns0:spPr>
          <ns0:invertIfNegative val="1"/>
          <ns0:dLbls>
            <ns0:spPr>
              <ns1:noFill/>
              <ns1:ln>
                <ns1:noFill/>
              </ns1:ln>
              <ns1:effectLst/>
            </ns0:spPr>
            <ns0:txPr>
              <ns1:bodyPr anchorCtr="1"/>
              <ns1:lstStyle/>
              <ns1:p>
                <ns1:pPr>
                  <ns1:defRPr sz="1575">
                    <ns1:latin typeface="Arial"/>
                    <ns1:ea typeface="Arial"/>
                    <ns1:cs typeface="Arial"/>
                  </ns1:defRPr>
                </ns1:pPr>
                <ns1:endParaRPr lang="zh-CN"/>
              </ns1:p>
            </ns0:txPr>
            <ns0:dLblPos val="outEnd"/>
            <ns0:showLegendKey val="0"/>
            <ns0:showVal val="1"/>
            <ns0:showCatName val="0"/>
            <ns0:showSerName val="0"/>
            <ns0:showPercent val="0"/>
            <ns0:showBubbleSize val="0"/>
            <ns0:showLeaderLines val="0"/>
            <ns0:extLst>
              <ns0:ext uri="{CE6537A1-D6FC-4f65-9D91-7224C49458BB}">
                <ns2:showLeaderLines val="0"/>
              </ns0:ext>
            </ns0:extLst>
          </ns0:dLbls>
          <ns0:cat>
            <ns0:strRef>
              <ns0:f>'Chart Data'!$E$2:$E$3</ns0:f>
              <ns0:strCache>
                <ns0:ptCount val="2"/>
                <ns0:pt idx="0">
                  <ns0:v>AN19</ns0:v>
                </ns0:pt>
                <ns0:pt idx="1">
                  <ns0:v>X21</ns0:v>
                </ns0:pt>
              </ns0:strCache>
            </ns0:strRef>
          </ns0:cat>
          <ns0:val>
            <ns0:numRef>
              <ns0:f>'Chart Data'!$F$2:$F$3</ns0:f>
              <ns0:numCache>
                <ns0:formatCode>0.0</ns0:formatCode>
                <ns0:ptCount val="2"/>
                <ns0:pt idx="0">
                  <ns0:v>10.825501</ns0:v>
                </ns0:pt>
                <ns0:pt idx="1">
                  <ns0:v>7.76177</ns0:v>
                </ns0:pt>
              </ns0:numCache>
            </ns0:numRef>
          </ns0:val>
          <ns0:extLst>
            <ns0:ext uri="{6F2FDCE9-48DA-4B69-8628-5D25D57E5C99}">
              <ns3:invertSolidFillFmt>
                <ns3:spPr>
                  <ns1:solidFill>
                    <ns1:srgbClr val="FFFFFF"/>
                  </ns1:solidFill>
                </ns3:spPr>
              </ns3:invertSolidFillFmt>
            </ns0:ext>
            <ns0:ext uri="{C3380CC4-5D6E-409C-BE32-E72D297353CC}">
              <ns4:uniqueId val="{00000002-21F2-4F30-BE13-D54AE851B2CF}"/>
            </ns0:ext>
          </ns0:extLst>
        </ns0:ser>
        <ns0:ser>
          <ns0:idx val="3"/>
          <ns0:order val="3"/>
          <ns0:tx>
            <ns0:v>HuBERT FT Tr-24</ns0:v>
          </ns0:tx>
          <ns0:spPr>
            <ns1:solidFill>
              <ns1:srgbClr val="198575"/>
            </ns1:solidFill>
          </ns0:spPr>
          <ns0:invertIfNegative val="1"/>
          <ns0:dLbls>
            <ns0:spPr>
              <ns1:noFill/>
              <ns1:ln>
                <ns1:noFill/>
              </ns1:ln>
              <ns1:effectLst/>
            </ns0:spPr>
            <ns0:txPr>
              <ns1:bodyPr anchorCtr="1"/>
              <ns1:lstStyle/>
              <ns1:p>
                <ns1:pPr>
                  <ns1:defRPr sz="1575">
                    <ns1:latin typeface="Arial"/>
                    <ns1:ea typeface="Arial"/>
                    <ns1:cs typeface="Arial"/>
                  </ns1:defRPr>
                </ns1:pPr>
                <ns1:endParaRPr lang="zh-CN"/>
              </ns1:p>
            </ns0:txPr>
            <ns0:dLblPos val="outEnd"/>
            <ns0:showLegendKey val="0"/>
            <ns0:showVal val="1"/>
            <ns0:showCatName val="0"/>
            <ns0:showSerName val="0"/>
            <ns0:showPercent val="0"/>
            <ns0:showBubbleSize val="0"/>
            <ns0:showLeaderLines val="0"/>
            <ns0:extLst>
              <ns0:ext uri="{CE6537A1-D6FC-4f65-9D91-7224C49458BB}">
                <ns2:showLeaderLines val="0"/>
              </ns0:ext>
            </ns0:extLst>
          </ns0:dLbls>
          <ns0:cat>
            <ns0:strRef>
              <ns0:f>'Chart Data'!$G$2:$G$3</ns0:f>
              <ns0:strCache>
                <ns0:ptCount val="2"/>
                <ns0:pt idx="0">
                  <ns0:v>AN19</ns0:v>
                </ns0:pt>
                <ns0:pt idx="1">
                  <ns0:v>X21</ns0:v>
                </ns0:pt>
              </ns0:strCache>
            </ns0:strRef>
          </ns0:cat>
          <ns0:val>
            <ns0:numRef>
              <ns0:f>'Chart Data'!$H$2:$H$3</ns0:f>
              <ns0:numCache>
                <ns0:formatCode>0.0</ns0:formatCode>
                <ns0:ptCount val="2"/>
                <ns0:pt idx="0">
                  <ns0:v>9.028088</ns0:v>
                </ns0:pt>
                <ns0:pt idx="1">
                  <ns0:v>7.679416</ns0:v>
                </ns0:pt>
              </ns0:numCache>
            </ns0:numRef>
          </ns0:val>
          <ns0:extLst>
            <ns0:ext uri="{6F2FDCE9-48DA-4B69-8628-5D25D57E5C99}">
              <ns3:invertSolidFillFmt>
                <ns3:spPr>
                  <ns1:solidFill>
                    <ns1:srgbClr val="FFFFFF"/>
                  </ns1:solidFill>
                </ns3:spPr>
              </ns3:invertSolidFillFmt>
            </ns0:ext>
            <ns0:ext uri="{C3380CC4-5D6E-409C-BE32-E72D297353CC}">
              <ns4:uniqueId val="{00000003-21F2-4F30-BE13-D54AE851B2CF}"/>
            </ns0:ext>
          </ns0:extLst>
        </ns0:ser>
        <ns0:dLbls>
          <ns0:dLblPos val="outEnd"/>
          <ns0:showLegendKey val="0"/>
          <ns0:showVal val="1"/>
          <ns0:showCatName val="0"/>
          <ns0:showSerName val="0"/>
          <ns0:showPercent val="0"/>
          <ns0:showBubbleSize val="0"/>
        </ns0:dLbls>
        <ns0:gapWidth val="110"/>
        <ns0:axId val="48650112"/>
        <ns0:axId val="48672768"/>
      </ns0:barChart>
      <ns0:catAx>
        <ns0:axId val="48650112"/>
        <ns0:scaling>
          <ns0:orientation val="minMax"/>
        </ns0:scaling>
        <ns0:delete val="0"/>
        <ns0:axPos val="b"/>
        <ns0:numFmt formatCode="General" sourceLinked="1"/>
        <ns0:majorTickMark val="none"/>
        <ns0:minorTickMark val="none"/>
        <ns0:tickLblPos val="nextTo"/>
        <ns0:spPr>
          <ns1:ln w="9525">
            <ns1:solidFill>
              <ns1:srgbClr val="D4D4D4"/>
            </ns1:solidFill>
            <ns1:prstDash val="solid"/>
          </ns1:ln>
        </ns0:spPr>
        <ns0:txPr>
          <ns1:bodyPr anchorCtr="1"/>
          <ns1:lstStyle/>
          <ns1:p>
            <ns1:pPr>
              <ns1:defRPr sz="1725">
                <ns1:solidFill>
                  <ns1:srgbClr val="666666"/>
                </ns1:solidFill>
                <ns1:latin typeface="Arial"/>
                <ns1:ea typeface="Arial"/>
                <ns1:cs typeface="Arial"/>
              </ns1:defRPr>
            </ns1:pPr>
            <ns1:endParaRPr lang="zh-CN"/>
          </ns1:p>
        </ns0:txPr>
        <ns0:crossAx val="48672768"/>
        <ns0:crosses val="autoZero"/>
        <ns0:auto val="1"/>
        <ns0:lblAlgn val="ctr"/>
        <ns0:lblOffset val="100"/>
        <ns0:noMultiLvlLbl val="1"/>
      </ns0:catAx>
      <ns0:valAx>
        <ns0:axId val="48672768"/>
        <ns0:scaling>
          <ns0:orientation val="minMax"/>
          <ns0:max val="16"/>
          <ns0:min val="0"/>
        </ns0:scaling>
        <ns0:delete val="0"/>
        <ns0:axPos val="l"/>
        <ns0:majorGridlines>
          <ns0:spPr>
            <ns1:ln w="9525">
              <ns1:solidFill>
                <ns1:srgbClr val="E3E6E9"/>
              </ns1:solidFill>
            </ns1:ln>
          </ns0:spPr>
        </ns0:majorGridlines>
        <ns0:title>
          <ns0:tx>
            <ns0:rich>
              <ns1:bodyPr/>
              <ns1:lstStyle/>
              <ns1:p>
                <ns1:r>
                  <ns1:rPr lang="en-US" sz="1575">
                    <ns1:latin typeface="Arial"/>
                    <ns1:ea typeface="Arial"/>
                    <ns1:cs typeface="Arial"/>
                  </ns1:rPr>
                  <ns1:t>Mean Wald z</ns1:t>
                </ns1:r>
              </ns1:p>
            </ns0:rich>
          </ns0:tx>
          <ns0:overlay val="0"/>
        </ns0:title>
        <ns0:numFmt formatCode="0.0" sourceLinked="1"/>
        <ns0:majorTickMark val="none"/>
        <ns0:minorTickMark val="none"/>
        <ns0:tickLblPos val="nextTo"/>
        <ns0:spPr>
          <ns1:ln w="9525">
            <ns1:solidFill>
              <ns1:srgbClr val="D4D4D4"/>
            </ns1:solidFill>
            <ns1:prstDash val="solid"/>
          </ns1:ln>
        </ns0:spPr>
        <ns0:txPr>
          <ns1:bodyPr anchorCtr="1"/>
          <ns1:lstStyle/>
          <ns1:p>
            <ns1:pPr>
              <ns1:defRPr sz="1425">
                <ns1:solidFill>
                  <ns1:srgbClr val="666666"/>
                </ns1:solidFill>
                <ns1:latin typeface="Arial"/>
                <ns1:ea typeface="Arial"/>
                <ns1:cs typeface="Arial"/>
              </ns1:defRPr>
            </ns1:pPr>
            <ns1:endParaRPr lang="zh-CN"/>
          </ns1:p>
        </ns0:txPr>
        <ns0:crossAx val="48650112"/>
        <ns0:crosses val="autoZero"/>
        <ns0:crossBetween val="between"/>
        <ns0:majorUnit val="4"/>
      </ns0:valAx>
      <ns0:spPr>
        <ns1:solidFill>
          <ns1:srgbClr val="FFFFFF"/>
        </ns1:solidFill>
      </ns0:spPr>
    </ns0:plotArea>
    <ns0:legend>
      <ns0:legendPos val="b"/>
      <ns0:overlay val="0"/>
      <ns0:txPr>
        <ns1:bodyPr anchorCtr="1"/>
        <ns1:lstStyle/>
        <ns1:p>
          <ns1:pPr>
            <ns1:defRPr sz="1500">
              <ns1:latin typeface="Arial"/>
              <ns1:ea typeface="Arial"/>
              <ns1:cs typeface="Arial"/>
            </ns1:defRPr>
          </ns1:pPr>
          <ns1:endParaRPr lang="zh-CN"/>
        </ns1:p>
      </ns0:txPr>
    </ns0:legend>
    <ns0:plotVisOnly val="1"/>
    <ns0:dispBlanksAs val="zero"/>
    <ns0:showDLblsOverMax val="1"/>
  </ns0:chart>
  <ns0:spPr>
    <ns1:solidFill>
      <ns1:srgbClr val="FFFFFF"/>
    </ns1:solidFill>
    <ns1:ln w="0">
      <ns1:noFill/>
    </ns1:ln>
  </ns0:spPr>
  <ns0:externalData r:id="rId1">
    <ns0:autoUpdate val="0"/>
  </ns0:externalData>
</ns0:chartSpace>
</file>

<file path=ppt/charts/chart2.xml><?xml version="1.0" encoding="utf-8"?>
<ns0:chartSpace xmlns:ns0="http://schemas.openxmlformats.org/drawingml/2006/chart" xmlns:ns1="http://schemas.openxmlformats.org/drawingml/2006/main" xmlns:ns2="http://schemas.microsoft.com/office/drawing/2012/chart" xmlns:ns3="http://schemas.microsoft.com/office/drawing/2007/8/2/chart" xmlns:ns4="http://schemas.microsoft.com/office/drawing/2014/chart" xmlns:r="http://schemas.openxmlformats.org/officeDocument/2006/relationships">
  <ns0:date1904 val="1"/>
  <ns0:lang val="zh-CN"/>
  <ns0:roundedCorners val="1"/>
  <ns0:style val="2"/>
  <ns0:chart>
    <ns0:autoTitleDeleted val="1"/>
    <ns0:plotArea>
      <ns0:layout/>
      <ns0:barChart>
        <ns0:barDir val="col"/>
        <ns0:grouping val="clustered"/>
        <ns0:varyColors val="0"/>
        <ns0:ser>
          <ns0:idx val="0"/>
          <ns0:order val="0"/>
          <ns0:tx>
            <ns0:v>MFCC39</ns0:v>
          </ns0:tx>
          <ns0:spPr>
            <ns1:solidFill>
              <ns1:srgbClr val="727A83"/>
            </ns1:solidFill>
          </ns0:spPr>
          <ns0:invertIfNegative val="1"/>
          <ns0:dLbls>
            <ns0:spPr>
              <ns1:noFill/>
              <ns1:ln>
                <ns1:noFill/>
              </ns1:ln>
              <ns1:effectLst/>
            </ns0:spPr>
            <ns0:txPr>
              <ns1:bodyPr anchorCtr="1"/>
              <ns1:lstStyle/>
              <ns1:p>
                <ns1:pPr>
                  <ns1:defRPr sz="1575">
                    <ns1:latin typeface="Arial"/>
                    <ns1:ea typeface="Arial"/>
                    <ns1:cs typeface="Arial"/>
                  </ns1:defRPr>
                </ns1:pPr>
                <ns1:endParaRPr lang="zh-CN"/>
              </ns1:p>
            </ns0:txPr>
            <ns0:dLblPos val="outEnd"/>
            <ns0:showLegendKey val="0"/>
            <ns0:showVal val="1"/>
            <ns0:showCatName val="0"/>
            <ns0:showSerName val="0"/>
            <ns0:showPercent val="0"/>
            <ns0:showBubbleSize val="0"/>
            <ns0:showLeaderLines val="0"/>
            <ns0:extLst>
              <ns0:ext uri="{CE6537A1-D6FC-4f65-9D91-7224C49458BB}">
                <ns2:showLeaderLines val="0"/>
              </ns0:ext>
            </ns0:extLst>
          </ns0:dLbls>
          <ns0:cat>
            <ns0:strRef>
              <ns0:f>'Chart Data'!$A$2:$A$3</ns0:f>
              <ns0:strCache>
                <ns0:ptCount val="2"/>
                <ns0:pt idx="0">
                  <ns0:v>Across all cells</ns0:v>
                </ns0:pt>
                <ns0:pt idx="1">
                  <ns0:v>After removing word means</ns0:v>
                </ns0:pt>
              </ns0:strCache>
            </ns0:strRef>
          </ns0:cat>
          <ns0:val>
            <ns0:numRef>
              <ns0:f>'Chart Data'!$B$2:$B$3</ns0:f>
              <ns0:numCache>
                <ns0:formatCode>0.00</ns0:formatCode>
                <ns0:ptCount val="2"/>
                <ns0:pt idx="0">
                  <ns0:v>0.375661</ns0:v>
                </ns0:pt>
                <ns0:pt idx="1">
                  <ns0:v>0.249149</ns0:v>
                </ns0:pt>
              </ns0:numCache>
            </ns0:numRef>
          </ns0:val>
          <ns0:extLst>
            <ns0:ext uri="{6F2FDCE9-48DA-4B69-8628-5D25D57E5C99}">
              <ns3:invertSolidFillFmt>
                <ns3:spPr>
                  <ns1:solidFill>
                    <ns1:srgbClr val="FFFFFF"/>
                  </ns1:solidFill>
                </ns3:spPr>
              </ns3:invertSolidFillFmt>
            </ns0:ext>
            <ns0:ext uri="{C3380CC4-5D6E-409C-BE32-E72D297353CC}">
              <ns4:uniqueId val="{00000000-0390-4F72-B2E2-CFB0772A61D8}"/>
            </ns0:ext>
          </ns0:extLst>
        </ns0:ser>
        <ns0:ser>
          <ns0:idx val="1"/>
          <ns0:order val="1"/>
          <ns0:tx>
            <ns0:v>STRF24</ns0:v>
          </ns0:tx>
          <ns0:spPr>
            <ns1:solidFill>
              <ns1:srgbClr val="CC7837"/>
            </ns1:solidFill>
          </ns0:spPr>
          <ns0:invertIfNegative val="1"/>
          <ns0:dLbls>
            <ns0:spPr>
              <ns1:noFill/>
              <ns1:ln>
                <ns1:noFill/>
              </ns1:ln>
              <ns1:effectLst/>
            </ns0:spPr>
            <ns0:txPr>
              <ns1:bodyPr anchorCtr="1"/>
              <ns1:lstStyle/>
              <ns1:p>
                <ns1:pPr>
                  <ns1:defRPr sz="1575">
                    <ns1:latin typeface="Arial"/>
                    <ns1:ea typeface="Arial"/>
                    <ns1:cs typeface="Arial"/>
                  </ns1:defRPr>
                </ns1:pPr>
                <ns1:endParaRPr lang="zh-CN"/>
              </ns1:p>
            </ns0:txPr>
            <ns0:dLblPos val="outEnd"/>
            <ns0:showLegendKey val="0"/>
            <ns0:showVal val="1"/>
            <ns0:showCatName val="0"/>
            <ns0:showSerName val="0"/>
            <ns0:showPercent val="0"/>
            <ns0:showBubbleSize val="0"/>
            <ns0:showLeaderLines val="0"/>
            <ns0:extLst>
              <ns0:ext uri="{CE6537A1-D6FC-4f65-9D91-7224C49458BB}">
                <ns2:showLeaderLines val="0"/>
              </ns0:ext>
            </ns0:extLst>
          </ns0:dLbls>
          <ns0:cat>
            <ns0:strRef>
              <ns0:f>'Chart Data'!$C$2:$C$3</ns0:f>
              <ns0:strCache>
                <ns0:ptCount val="2"/>
                <ns0:pt idx="0">
                  <ns0:v>Across all cells</ns0:v>
                </ns0:pt>
                <ns0:pt idx="1">
                  <ns0:v>After removing word means</ns0:v>
                </ns0:pt>
              </ns0:strCache>
            </ns0:strRef>
          </ns0:cat>
          <ns0:val>
            <ns0:numRef>
              <ns0:f>'Chart Data'!$D$2:$D$3</ns0:f>
              <ns0:numCache>
                <ns0:formatCode>0.00</ns0:formatCode>
                <ns0:ptCount val="2"/>
                <ns0:pt idx="0">
                  <ns0:v>0.456144</ns0:v>
                </ns0:pt>
                <ns0:pt idx="1">
                  <ns0:v>0.198126</ns0:v>
                </ns0:pt>
              </ns0:numCache>
            </ns0:numRef>
          </ns0:val>
          <ns0:extLst>
            <ns0:ext uri="{6F2FDCE9-48DA-4B69-8628-5D25D57E5C99}">
              <ns3:invertSolidFillFmt>
                <ns3:spPr>
                  <ns1:solidFill>
                    <ns1:srgbClr val="FFFFFF"/>
                  </ns1:solidFill>
                </ns3:spPr>
              </ns3:invertSolidFillFmt>
            </ns0:ext>
            <ns0:ext uri="{C3380CC4-5D6E-409C-BE32-E72D297353CC}">
              <ns4:uniqueId val="{00000001-0390-4F72-B2E2-CFB0772A61D8}"/>
            </ns0:ext>
          </ns0:extLst>
        </ns0:ser>
        <ns0:ser>
          <ns0:idx val="2"/>
          <ns0:order val="2"/>
          <ns0:tx>
            <ns0:v>HuBERT base Tr-24</ns0:v>
          </ns0:tx>
          <ns0:spPr>
            <ns1:solidFill>
              <ns1:srgbClr val="286499"/>
            </ns1:solidFill>
          </ns0:spPr>
          <ns0:invertIfNegative val="1"/>
          <ns0:dLbls>
            <ns0:spPr>
              <ns1:noFill/>
              <ns1:ln>
                <ns1:noFill/>
              </ns1:ln>
              <ns1:effectLst/>
            </ns0:spPr>
            <ns0:txPr>
              <ns1:bodyPr anchorCtr="1"/>
              <ns1:lstStyle/>
              <ns1:p>
                <ns1:pPr>
                  <ns1:defRPr sz="1575">
                    <ns1:latin typeface="Arial"/>
                    <ns1:ea typeface="Arial"/>
                    <ns1:cs typeface="Arial"/>
                  </ns1:defRPr>
                </ns1:pPr>
                <ns1:endParaRPr lang="zh-CN"/>
              </ns1:p>
            </ns0:txPr>
            <ns0:dLblPos val="outEnd"/>
            <ns0:showLegendKey val="0"/>
            <ns0:showVal val="1"/>
            <ns0:showCatName val="0"/>
            <ns0:showSerName val="0"/>
            <ns0:showPercent val="0"/>
            <ns0:showBubbleSize val="0"/>
            <ns0:showLeaderLines val="0"/>
            <ns0:extLst>
              <ns0:ext uri="{CE6537A1-D6FC-4f65-9D91-7224C49458BB}">
                <ns2:showLeaderLines val="0"/>
              </ns0:ext>
            </ns0:extLst>
          </ns0:dLbls>
          <ns0:cat>
            <ns0:strRef>
              <ns0:f>'Chart Data'!$E$2:$E$3</ns0:f>
              <ns0:strCache>
                <ns0:ptCount val="2"/>
                <ns0:pt idx="0">
                  <ns0:v>Across all cells</ns0:v>
                </ns0:pt>
                <ns0:pt idx="1">
                  <ns0:v>After removing word means</ns0:v>
                </ns0:pt>
              </ns0:strCache>
            </ns0:strRef>
          </ns0:cat>
          <ns0:val>
            <ns0:numRef>
              <ns0:f>'Chart Data'!$F$2:$F$3</ns0:f>
              <ns0:numCache>
                <ns0:formatCode>0.00</ns0:formatCode>
                <ns0:ptCount val="2"/>
                <ns0:pt idx="0">
                  <ns0:v>0.440191</ns0:v>
                </ns0:pt>
                <ns0:pt idx="1">
                  <ns0:v>0.339071</ns0:v>
                </ns0:pt>
              </ns0:numCache>
            </ns0:numRef>
          </ns0:val>
          <ns0:extLst>
            <ns0:ext uri="{6F2FDCE9-48DA-4B69-8628-5D25D57E5C99}">
              <ns3:invertSolidFillFmt>
                <ns3:spPr>
                  <ns1:solidFill>
                    <ns1:srgbClr val="FFFFFF"/>
                  </ns1:solidFill>
                </ns3:spPr>
              </ns3:invertSolidFillFmt>
            </ns0:ext>
            <ns0:ext uri="{C3380CC4-5D6E-409C-BE32-E72D297353CC}">
              <ns4:uniqueId val="{00000002-0390-4F72-B2E2-CFB0772A61D8}"/>
            </ns0:ext>
          </ns0:extLst>
        </ns0:ser>
        <ns0:ser>
          <ns0:idx val="3"/>
          <ns0:order val="3"/>
          <ns0:tx>
            <ns0:v>HuBERT FT Tr-24</ns0:v>
          </ns0:tx>
          <ns0:spPr>
            <ns1:solidFill>
              <ns1:srgbClr val="198575"/>
            </ns1:solidFill>
          </ns0:spPr>
          <ns0:invertIfNegative val="1"/>
          <ns0:dLbls>
            <ns0:spPr>
              <ns1:noFill/>
              <ns1:ln>
                <ns1:noFill/>
              </ns1:ln>
              <ns1:effectLst/>
            </ns0:spPr>
            <ns0:txPr>
              <ns1:bodyPr anchorCtr="1"/>
              <ns1:lstStyle/>
              <ns1:p>
                <ns1:pPr>
                  <ns1:defRPr sz="1575">
                    <ns1:latin typeface="Arial"/>
                    <ns1:ea typeface="Arial"/>
                    <ns1:cs typeface="Arial"/>
                  </ns1:defRPr>
                </ns1:pPr>
                <ns1:endParaRPr lang="zh-CN"/>
              </ns1:p>
            </ns0:txPr>
            <ns0:dLblPos val="outEnd"/>
            <ns0:showLegendKey val="0"/>
            <ns0:showVal val="1"/>
            <ns0:showCatName val="0"/>
            <ns0:showSerName val="0"/>
            <ns0:showPercent val="0"/>
            <ns0:showBubbleSize val="0"/>
            <ns0:showLeaderLines val="0"/>
            <ns0:extLst>
              <ns0:ext uri="{CE6537A1-D6FC-4f65-9D91-7224C49458BB}">
                <ns2:showLeaderLines val="0"/>
              </ns0:ext>
            </ns0:extLst>
          </ns0:dLbls>
          <ns0:cat>
            <ns0:strRef>
              <ns0:f>'Chart Data'!$G$2:$G$3</ns0:f>
              <ns0:strCache>
                <ns0:ptCount val="2"/>
                <ns0:pt idx="0">
                  <ns0:v>Across all cells</ns0:v>
                </ns0:pt>
                <ns0:pt idx="1">
                  <ns0:v>After removing word means</ns0:v>
                </ns0:pt>
              </ns0:strCache>
            </ns0:strRef>
          </ns0:cat>
          <ns0:val>
            <ns0:numRef>
              <ns0:f>'Chart Data'!$H$2:$H$3</ns0:f>
              <ns0:numCache>
                <ns0:formatCode>0.00</ns0:formatCode>
                <ns0:ptCount val="2"/>
                <ns0:pt idx="0">
                  <ns0:v>0.364377</ns0:v>
                </ns0:pt>
                <ns0:pt idx="1">
                  <ns0:v>0.36167</ns0:v>
                </ns0:pt>
              </ns0:numCache>
            </ns0:numRef>
          </ns0:val>
          <ns0:extLst>
            <ns0:ext uri="{6F2FDCE9-48DA-4B69-8628-5D25D57E5C99}">
              <ns3:invertSolidFillFmt>
                <ns3:spPr>
                  <ns1:solidFill>
                    <ns1:srgbClr val="FFFFFF"/>
                  </ns1:solidFill>
                </ns3:spPr>
              </ns3:invertSolidFillFmt>
            </ns0:ext>
            <ns0:ext uri="{C3380CC4-5D6E-409C-BE32-E72D297353CC}">
              <ns4:uniqueId val="{00000003-0390-4F72-B2E2-CFB0772A61D8}"/>
            </ns0:ext>
          </ns0:extLst>
        </ns0:ser>
        <ns0:dLbls>
          <ns0:dLblPos val="outEnd"/>
          <ns0:showLegendKey val="0"/>
          <ns0:showVal val="1"/>
          <ns0:showCatName val="0"/>
          <ns0:showSerName val="0"/>
          <ns0:showPercent val="0"/>
          <ns0:showBubbleSize val="0"/>
        </ns0:dLbls>
        <ns0:gapWidth val="110"/>
        <ns0:axId val="48650112"/>
        <ns0:axId val="48672768"/>
      </ns0:barChart>
      <ns0:catAx>
        <ns0:axId val="48650112"/>
        <ns0:scaling>
          <ns0:orientation val="minMax"/>
        </ns0:scaling>
        <ns0:delete val="0"/>
        <ns0:axPos val="b"/>
        <ns0:numFmt formatCode="General" sourceLinked="1"/>
        <ns0:majorTickMark val="none"/>
        <ns0:minorTickMark val="none"/>
        <ns0:tickLblPos val="nextTo"/>
        <ns0:spPr>
          <ns1:ln w="9525">
            <ns1:solidFill>
              <ns1:srgbClr val="D4D4D4"/>
            </ns1:solidFill>
            <ns1:prstDash val="solid"/>
          </ns1:ln>
        </ns0:spPr>
        <ns0:txPr>
          <ns1:bodyPr anchorCtr="1"/>
          <ns1:lstStyle/>
          <ns1:p>
            <ns1:pPr>
              <ns1:defRPr sz="1725">
                <ns1:solidFill>
                  <ns1:srgbClr val="666666"/>
                </ns1:solidFill>
                <ns1:latin typeface="Arial"/>
                <ns1:ea typeface="Arial"/>
                <ns1:cs typeface="Arial"/>
              </ns1:defRPr>
            </ns1:pPr>
            <ns1:endParaRPr lang="zh-CN"/>
          </ns1:p>
        </ns0:txPr>
        <ns0:crossAx val="48672768"/>
        <ns0:crosses val="autoZero"/>
        <ns0:auto val="1"/>
        <ns0:lblAlgn val="ctr"/>
        <ns0:lblOffset val="100"/>
        <ns0:noMultiLvlLbl val="1"/>
      </ns0:catAx>
      <ns0:valAx>
        <ns0:axId val="48672768"/>
        <ns0:scaling>
          <ns0:orientation val="minMax"/>
          <ns0:max val="0.6"/>
          <ns0:min val="0"/>
        </ns0:scaling>
        <ns0:delete val="0"/>
        <ns0:axPos val="l"/>
        <ns0:majorGridlines>
          <ns0:spPr>
            <ns1:ln w="9525">
              <ns1:solidFill>
                <ns1:srgbClr val="E3E6E9"/>
              </ns1:solidFill>
            </ns1:ln>
          </ns0:spPr>
        </ns0:majorGridlines>
        <ns0:title>
          <ns0:tx>
            <ns0:rich>
              <ns1:bodyPr/>
              <ns1:lstStyle/>
              <ns1:p>
                <ns1:r>
                  <ns1:rPr lang="en-US" sz="1575">
                    <ns1:latin typeface="Arial"/>
                    <ns1:ea typeface="Arial"/>
                    <ns1:cs typeface="Arial"/>
                  </ns1:rPr>
                  <ns1:t>Pearson r with listener accuracy</ns1:t>
                </ns1:r>
              </ns1:p>
            </ns0:rich>
          </ns0:tx>
          <ns0:overlay val="0"/>
        </ns0:title>
        <ns0:numFmt formatCode="0.00" sourceLinked="1"/>
        <ns0:majorTickMark val="none"/>
        <ns0:minorTickMark val="none"/>
        <ns0:tickLblPos val="nextTo"/>
        <ns0:spPr>
          <ns1:ln w="9525">
            <ns1:solidFill>
              <ns1:srgbClr val="D4D4D4"/>
            </ns1:solidFill>
            <ns1:prstDash val="solid"/>
          </ns1:ln>
        </ns0:spPr>
        <ns0:txPr>
          <ns1:bodyPr anchorCtr="1"/>
          <ns1:lstStyle/>
          <ns1:p>
            <ns1:pPr>
              <ns1:defRPr sz="1425">
                <ns1:solidFill>
                  <ns1:srgbClr val="666666"/>
                </ns1:solidFill>
                <ns1:latin typeface="Arial"/>
                <ns1:ea typeface="Arial"/>
                <ns1:cs typeface="Arial"/>
              </ns1:defRPr>
            </ns1:pPr>
            <ns1:endParaRPr lang="zh-CN"/>
          </ns1:p>
        </ns0:txPr>
        <ns0:crossAx val="48650112"/>
        <ns0:crosses val="autoZero"/>
        <ns0:crossBetween val="between"/>
        <ns0:majorUnit val="0.2"/>
      </ns0:valAx>
      <ns0:spPr>
        <ns1:solidFill>
          <ns1:srgbClr val="FFFFFF"/>
        </ns1:solidFill>
      </ns0:spPr>
    </ns0:plotArea>
    <ns0:legend>
      <ns0:legendPos val="b"/>
      <ns0:overlay val="0"/>
      <ns0:txPr>
        <ns1:bodyPr anchorCtr="1"/>
        <ns1:lstStyle/>
        <ns1:p>
          <ns1:pPr>
            <ns1:defRPr sz="1500">
              <ns1:latin typeface="Arial"/>
              <ns1:ea typeface="Arial"/>
              <ns1:cs typeface="Arial"/>
            </ns1:defRPr>
          </ns1:pPr>
          <ns1:endParaRPr lang="zh-CN"/>
        </ns1:p>
      </ns0:txPr>
    </ns0:legend>
    <ns0:plotVisOnly val="1"/>
    <ns0:dispBlanksAs val="zero"/>
    <ns0:showDLblsOverMax val="1"/>
  </ns0:chart>
  <ns0:spPr>
    <ns1:solidFill>
      <ns1:srgbClr val="FFFFFF"/>
    </ns1:solidFill>
    <ns1:ln w="0">
      <ns1:noFill/>
    </ns1:ln>
  </ns0:spPr>
  <ns0:externalData r:id="rId1">
    <ns0:autoUpdate val="0"/>
  </ns0:externalData>
</ns0: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_rels/sbi_added_notesMaster1.xml.rels><?xml version='1.0' encoding='utf-8'?>
<ns0:Relationships xmlns:ns0="http://schemas.openxmlformats.org/package/2006/relationships"><ns0:Relationship Type="http://schemas.openxmlformats.org/officeDocument/2006/relationships/theme" Target="theme/sbi_added_theme3.xml" Id="R2c98708794e3493b" /></ns0: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Masters/sbi_added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sbi_added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sbi_added_notesSlide1.xml.rels><?xml version='1.0' encoding='utf-8'?>
<ns0:Relationships xmlns:ns0="http://schemas.openxmlformats.org/package/2006/relationships"><ns0:Relationship Type="http://schemas.openxmlformats.org/officeDocument/2006/relationships/slide" Target="../slides/sbi_added_slide1.xml" Id="R648c6007b48f4ca1" /><ns0:Relationship Type="http://schemas.openxmlformats.org/officeDocument/2006/relationships/notesMaster" Target="../notesMasters/sbi_added_notesMaster1.xml" Id="R46ceb7abd9364be0" /></ns0:Relationships>
</file>

<file path=ppt/notesSlides/_rels/sbi_added_notesSlide2.xml.rels><?xml version='1.0' encoding='utf-8'?>
<ns0:Relationships xmlns:ns0="http://schemas.openxmlformats.org/package/2006/relationships"><ns0:Relationship Type="http://schemas.openxmlformats.org/officeDocument/2006/relationships/slide" Target="../slides/sbi_added_slide2.xml" Id="Rf50f2e458b9a48ff" /><ns0:Relationship Type="http://schemas.openxmlformats.org/officeDocument/2006/relationships/notesMaster" Target="../notesMasters/sbi_added_notesMaster1.xml" Id="R63696e4cd7d94882" /></ns0:Relationships>
</file>

<file path=ppt/notesSlides/_rels/sbi_added_notesSlide3.xml.rels><?xml version='1.0' encoding='utf-8'?>
<ns0:Relationships xmlns:ns0="http://schemas.openxmlformats.org/package/2006/relationships"><ns0:Relationship Type="http://schemas.openxmlformats.org/officeDocument/2006/relationships/slide" Target="../slides/sbi_added_slide3.xml" Id="Rcf692a2ef659425b" /><ns0:Relationship Type="http://schemas.openxmlformats.org/officeDocument/2006/relationships/notesMaster" Target="../notesMasters/sbi_added_notesMaster1.xml" Id="Rbc60c87548de411c" /></ns0:Relationships>
</file>

<file path=ppt/notesSlides/_rels/sbi_added_notesSlide4.xml.rels><?xml version='1.0' encoding='utf-8'?>
<ns0:Relationships xmlns:ns0="http://schemas.openxmlformats.org/package/2006/relationships"><ns0:Relationship Type="http://schemas.openxmlformats.org/officeDocument/2006/relationships/slide" Target="../slides/sbi_added_slide4.xml" Id="Rb3076d0dd28f4b0b" /><ns0:Relationship Type="http://schemas.openxmlformats.org/officeDocument/2006/relationships/notesMaster" Target="../notesMasters/sbi_added_notesMaster1.xml" Id="R21309ed513fc4cae" /></ns0:Relationships>
</file>

<file path=ppt/notesSlides/_rels/sbi_added_notesSlide5.xml.rels><?xml version='1.0' encoding='utf-8'?>
<ns0:Relationships xmlns:ns0="http://schemas.openxmlformats.org/package/2006/relationships"><ns0:Relationship Type="http://schemas.openxmlformats.org/officeDocument/2006/relationships/slide" Target="../slides/sbi_added_slide5.xml" Id="R0d26de25bb6b47e5" /><ns0:Relationship Type="http://schemas.openxmlformats.org/officeDocument/2006/relationships/notesMaster" Target="../notesMasters/sbi_added_notesMaster1.xml" Id="R21837b86308d410f" /></ns0:Relationships>
</file>

<file path=ppt/notesSlides/_rels/sbi_added_notesSlide6.xml.rels><?xml version='1.0' encoding='utf-8'?>
<ns0:Relationships xmlns:ns0="http://schemas.openxmlformats.org/package/2006/relationships"><ns0:Relationship Type="http://schemas.openxmlformats.org/officeDocument/2006/relationships/slide" Target="../slides/sbi_added_slide6.xml" Id="R912081dd8255462b" /><ns0:Relationship Type="http://schemas.openxmlformats.org/officeDocument/2006/relationships/notesMaster" Target="../notesMasters/sbi_added_notesMaster1.xml" Id="R9310289a206c4590" /></ns0: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cross_talker_generalization\analysis_update_2026-09-18\x21_parameter_landscape\README.md</a:t>
            </a:r>
          </a:p>
          <a:p>
            <a:r>
              <a:t>Scores: cross_talker_generalization\analysis_update_2026-09-18\x21_parameter_landscape\landscape.csv</a:t>
            </a:r>
          </a:p>
          <a:p>
            <a:r>
              <a:t>The grid evaluates 29 tau values and 43 positive k values. Each fit re-estimates the predictor-only GLMM after training-sample standardization.</a:t>
            </a:r>
          </a:p>
          <a:p>
            <a:r>
              <a:t>Left: signed training Wald z. Right: training fitted GLMM log likelihood. Surface connections interpolate visually between fitted grid points.</a:t>
            </a:r>
          </a:p>
          <a:p>
            <a:r>
              <a:t>Tau below one is a non-metric sensitivity. The red point is the expanded-domain grid maximum. Fold 0 is excluded from both fitting and selection.</a:t>
            </a:r>
          </a:p>
          <a:p>
            <a:r>
              <a:t>This is one layer and one training split. Scores across different response samples do not establish comparative predictive performance.</a:t>
            </a:r>
          </a:p>
          <a:p>
            <a:r>
              <a:t>Open x21_all_conditions.html in a browser to rotate and zoom. Keep both HTML files beside the PPTX. The deck uses external relative hyperlinks and contains static previews.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cross_talker_generalization\analysis_update_2026-09-18\x21_parameter_landscape_no_talker_specific\README.md</a:t>
            </a:r>
          </a:p>
          <a:p>
            <a:r>
              <a:t>Scores: cross_talker_generalization\analysis_update_2026-09-18\x21_parameter_landscape_no_talker_specific\landscape.csv</a:t>
            </a:r>
          </a:p>
          <a:p>
            <a:r>
              <a:t>The grid evaluates 29 tau values and 43 positive k values. Each fit re-estimates the predictor-only GLMM after training-sample standardization.</a:t>
            </a:r>
          </a:p>
          <a:p>
            <a:r>
              <a:t>Left: signed training Wald z. Right: training fitted GLMM log likelihood. Surface connections interpolate visually between fitted grid points.</a:t>
            </a:r>
          </a:p>
          <a:p>
            <a:r>
              <a:t>Tau below one is a non-metric sensitivity. The red point is the expanded-domain grid maximum. Fold 0 is excluded from both fitting and selection.</a:t>
            </a:r>
          </a:p>
          <a:p>
            <a:r>
              <a:t>This is one layer and one training split. Scores across different response samples do not establish comparative predictive performance.</a:t>
            </a:r>
          </a:p>
          <a:p>
            <a:r>
              <a:t>Open x21_without_talker_specific.html in a browser to rotate and zoom. Keep both HTML files beside the PPTX. The deck uses external relative hyperlinks and contains static previews.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am focusing on the relative ranking. In AN19, STRF is slightly above even the best historical base-layer mean, while X21 favors HuBERT. These are averages of historical target-refit z values, not fixed-model held-out prediction scores. The plotted neural models both use Tr-24, so there is no best-layer selection in the bars. The annotation separately identifies the highest base-layer mean.</a:t>
            </a:r>
          </a:p>
          <a:p>
            <a:endParaRPr/>
          </a:p>
          <a:p>
            <a:r>
              <a:t>The same positive ceiling rescales all representations within a dataset, so ceiling normalization cannot cause the within-dataset ranking. No paired significance test supports a claim that STRF is superior. The current analysis changes several conventions: it uses negative training-standardized distance at tau=2, fits on two participant folds and scores the remaining fold. Its AN19 predictor-only training z is 4.014 for base Tr-24 and 3.817 for STRF. Thus the exact ranking is analysis-dependent.</a:t>
            </a:r>
          </a:p>
          <a:p>
            <a:endParaRPr/>
          </a:p>
          <a:p>
            <a:r>
              <a:t>Source: cross_talker_generalization/analysis_update_2026-09-06/z_value_review/tables/historical_sbi_fold_z.csv. Historical mean z: AN19 MFCC 11.720367, STRF 13.942255, base Tr-24 10.825501, FT Tr-24 9.028088. X21: 5.736440, 5.723491, 7.761770, 7.679416. Source for current scores: artifacts/models/AN19-AN19_acoustic-confirmatory-full-20260906/coefficients.csv and AN19-AN19_hubert_base_tsne-confirmatory-tr24-20260906/coefficients.csv.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To investigate why AN19 favors the acoustic baseline, I used the same 5,685 available responses for MFCC, STRF and both </a:t>
            </a:r>
            <a:r>
              <a:rPr dirty="0" err="1"/>
              <a:t>HuBERT</a:t>
            </a:r>
            <a:r>
              <a:rPr dirty="0"/>
              <a:t> Tr-24 representations. I calculated mean accuracy and mean negative distance for each condition by test-recording cell. This gives 574 cells covering 48 lexical words. A recording identifies a word produced by a particular test talker. I then correlated the two cell-level quantities, giving every cell equal weight.</a:t>
            </a:r>
          </a:p>
          <a:p>
            <a:endParaRPr dirty="0"/>
          </a:p>
          <a:p>
            <a:r>
              <a:rPr dirty="0"/>
              <a:t>For the second group of bars, I subtracted each lexical word's mean from both negative distance and accuracy before calculating Pearson correlation. STRF falls from 0.456 to 0.198, while base Tr-24 falls from 0.440 to 0.339. FT changes from 0.364 to 0.362. MFCC falls from 0.376 to 0.249. This makes word-dependent variation a more specific candidate explanation for the baseline advantage than simply saying that acoustic features are predictive.</a:t>
            </a:r>
          </a:p>
          <a:p>
            <a:endParaRPr dirty="0"/>
          </a:p>
          <a:p>
            <a:r>
              <a:rPr dirty="0"/>
              <a:t>The pattern remains when I remove word and condition effects together using an ordinary least-squares projection: correlations are 0.245 for MFCC, 0.154 for STRF, 0.323 for base Tr-24 and 0.319 for FT. This projection is a descriptive sensitivity calculation and does not refit the GLMM. In X21, excluding Talker-specific still gives raw correlations of 0.094 and 0.058 for the baselines, versus 0.283 and 0.284 for </a:t>
            </a:r>
            <a:r>
              <a:rPr dirty="0" err="1"/>
              <a:t>HuBERT</a:t>
            </a:r>
            <a:r>
              <a:rPr dirty="0"/>
              <a:t>. Excluding Control as well preserves that ordering.</a:t>
            </a:r>
          </a:p>
          <a:p>
            <a:endParaRPr dirty="0"/>
          </a:p>
          <a:p>
            <a:r>
              <a:rPr dirty="0"/>
              <a:t>This finding does not establish a cause or a fraction of explained variance. Centering changes the comparison, cells share words and talkers, and there is no significance test here. Word duration, phonetic composition and recording characteristics are possible explanations that remain untested. The diagnostic also uses a different predictor and statistical summary from the historical z analysis on slide 1. It motivates a matched within/between-word model comparison rather than explaining that historical z gap by itself.</a:t>
            </a:r>
          </a:p>
          <a:p>
            <a:endParaRPr dirty="0"/>
          </a:p>
          <a:p>
            <a:r>
              <a:rPr dirty="0"/>
              <a:t>Sources: </a:t>
            </a:r>
            <a:r>
              <a:rPr dirty="0" err="1"/>
              <a:t>cross_talker_generalization</a:t>
            </a:r>
            <a:r>
              <a:rPr dirty="0"/>
              <a:t>/artifacts/derived/AN19-AN19_acoustic-confirmatory-full-20260906-model-input.csv; AN19-AN19_hubert_base_tsne-confirmatory-tr24-20260906-model-input.csv; AN19-AN19_hubert_ft_tsne-confirmatory-tr24-20260906-model-input.csv. Descriptive calculations and input hashes: outputs/an19_baseline_explanation_2026-09-18/.build/analyze.py and </a:t>
            </a:r>
            <a:r>
              <a:rPr dirty="0" err="1"/>
              <a:t>evidence.json</a:t>
            </a:r>
            <a:r>
              <a:rPr dirty="0"/>
              <a:t>. Additional context: </a:t>
            </a:r>
            <a:r>
              <a:rPr dirty="0" err="1"/>
              <a:t>cross_talker_generalization</a:t>
            </a:r>
            <a:r>
              <a:rPr dirty="0"/>
              <a:t>/analysis_update_2026-09-18/AN19_BASELINE_EXPLANATION.md.</a:t>
            </a:r>
            <a:endParaRPr lang="en-US" dirty="0"/>
          </a:p>
          <a:p>
            <a:endParaRPr lang="en-US" dirty="0"/>
          </a:p>
          <a:p>
            <a:endParaRPr lang="en-US" dirty="0"/>
          </a:p>
          <a:p>
            <a:r>
              <a:rPr lang="zh-CN" altLang="zh-CN" dirty="0"/>
              <a:t>这次我主要想解释，为什么 MFCC 和 STRF 在 AN19 上能够与 HuBERT 竞争，而在 X21 上，HuBERT 的优势更加明显。目前我找到了一条线索：AN19 中不同单词之间的差异，可能贡献了声学基线的较高表现。</a:t>
            </a:r>
          </a:p>
          <a:p>
            <a:r>
              <a:rPr lang="zh-CN" altLang="zh-CN" dirty="0"/>
              <a:t>具体来说，我先沿用现有的距离计算：对于一个测试说话人说出的某个单词，计算它与训练说话人说出的同一个单词之间的 DTW 距离，再对训练说话人取平均。这样，每个“测试说话人 × 单词 × 训练条件”组合都有一个距离，以及对应的人类平均正确率。</a:t>
            </a:r>
          </a:p>
          <a:p>
            <a:r>
              <a:rPr lang="zh-CN" altLang="zh-CN" dirty="0"/>
              <a:t>接下来，我想区分两个问题：一个是，有些单词总体上距离较小，也总体上更容易听懂；另一个是，对于同一个单词，当说话人或训练条件变化时，距离能否跟随正确率一起变化。为此，我把每个单词在不同测试说话人、不同条件下的距离取平均，也把这些记录的正确率取平均。然后，每条记录的距离减去这个单词的平均距离，正确率减去这个单词的平均正确率。每个组合的权重相同。</a:t>
            </a:r>
          </a:p>
          <a:p>
            <a:r>
              <a:rPr lang="zh-CN" altLang="zh-CN" dirty="0"/>
              <a:t>举个假设例子，如果 dog 的平均距离是 4、平均正确率是 70%，某条记录的距离是 2、正确率是 90%，减完以后就是距离 −2、正确率高出 20 个百分点。这表示，这条记录比 dog 自身的平均水平更相似，也更容易听懂。我对所有单词都这样处理，然后重新计算相关。实际计算中使用负距离，让数值越大表示越相似。</a:t>
            </a:r>
          </a:p>
          <a:p>
            <a:r>
              <a:rPr lang="zh-CN" altLang="zh-CN" dirty="0"/>
              <a:t>结果是，在 AN19 中，STRF 与正确率的相关从 </a:t>
            </a:r>
            <a:r>
              <a:rPr lang="zh-CN" altLang="zh-CN" b="1" dirty="0"/>
              <a:t>0.46 降到 0.20</a:t>
            </a:r>
            <a:r>
              <a:rPr lang="zh-CN" altLang="zh-CN" dirty="0"/>
              <a:t>，HuBERT-base 从 </a:t>
            </a:r>
            <a:r>
              <a:rPr lang="zh-CN" altLang="zh-CN" b="1" dirty="0"/>
              <a:t>0.44 降到 0.34</a:t>
            </a:r>
            <a:r>
              <a:rPr lang="zh-CN" altLang="zh-CN" dirty="0"/>
              <a:t>。去掉单词均值后，HuBERT 的相关更强。这提示，STRF 较高的整体相关，有一部分来自不同单词之间的差异。</a:t>
            </a:r>
          </a:p>
          <a:p>
            <a:r>
              <a:rPr lang="zh-CN" altLang="zh-CN" dirty="0"/>
              <a:t>目前，这还是一项描述性检查。它没有确定这些差异来自单词时长、语音构成还是录音特征，也没有直接证明它们造成了原图中的 z-value 排名。它给我们提供了一个更具体的解释方向：进一步检查，AN19 的声学基线是否特别擅长捕捉单词之间稳定的可懂度差异。</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sbi_added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cross_talker_generalization/analysis_update_2026-09-17/si_diagnostics/figures/AN19_SBI_base_similarity_all_participants_test_train_ratio.png</a:t>
            </a:r>
          </a:p>
          <a:p xmlns:a="http://schemas.openxmlformats.org/drawingml/2006/main">
            <a:r>
              <a:t>Each point shows a participant-held-out fold. Black markers show three-fold means with descriptive 95% fold-bootstrap intervals. The horizontal line marks equal training and test mean log loss. Scores use the same training-fitted model and frozen scaling with random effects set to zero. These plots use the existing fixed-distance predictor. A near-one mean does not establish absence of overfitting.</a:t>
            </a:r>
          </a:p>
          <a:p xmlns:a="http://schemas.openxmlformats.org/drawingml/2006/main">
            <a:r>
              <a:t>Interpretation: cross_talker_generalization/analysis_update_2026-09-18/sbi_diagnostic_review/README.md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sbi_added_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cross_talker_generalization/analysis_update_2026-09-17/si_diagnostics/figures/AN19_SBI_ft_similarity_all_participants_test_train_ratio.png</a:t>
            </a:r>
          </a:p>
          <a:p xmlns:a="http://schemas.openxmlformats.org/drawingml/2006/main">
            <a:r>
              <a:t>Each point shows a participant-held-out fold. Black markers show three-fold means with descriptive 95% fold-bootstrap intervals. The horizontal line marks equal training and test mean log loss. Scores use the same training-fitted model and frozen scaling with random effects set to zero. These plots use the existing fixed-distance predictor. A near-one mean does not establish absence of overfitting.</a:t>
            </a:r>
          </a:p>
          <a:p xmlns:a="http://schemas.openxmlformats.org/drawingml/2006/main">
            <a:r>
              <a:t>Interpretation: cross_talker_generalization/analysis_update_2026-09-18/sbi_diagnostic_review/README.md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sbi_added_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cross_talker_generalization/analysis_update_2026-09-17/si_diagnostics/figures/X21_SBI_base_similarity_all_participants_test_train_ratio.png</a:t>
            </a:r>
          </a:p>
          <a:p xmlns:a="http://schemas.openxmlformats.org/drawingml/2006/main">
            <a:r>
              <a:t>Each point shows a participant-held-out fold. Black markers show three-fold means with descriptive 95% fold-bootstrap intervals. The horizontal line marks equal training and test mean log loss. Scores use the same training-fitted model and frozen scaling with random effects set to zero. These plots use the existing fixed-distance predictor. A near-one mean does not establish absence of overfitting.</a:t>
            </a:r>
          </a:p>
          <a:p xmlns:a="http://schemas.openxmlformats.org/drawingml/2006/main">
            <a:r>
              <a:t>Interpretation: cross_talker_generalization/analysis_update_2026-09-18/sbi_diagnostic_review/README.md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sbi_added_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cross_talker_generalization/analysis_update_2026-09-17/si_diagnostics/figures/X21_SBI_ft_similarity_all_participants_test_train_ratio.png</a:t>
            </a:r>
          </a:p>
          <a:p xmlns:a="http://schemas.openxmlformats.org/drawingml/2006/main">
            <a:r>
              <a:t>Each point shows a participant-held-out fold. Black markers show three-fold means with descriptive 95% fold-bootstrap intervals. The horizontal line marks equal training and test mean log loss. Scores use the same training-fitted model and frozen scaling with random effects set to zero. These plots use the existing fixed-distance predictor. A near-one mean does not establish absence of overfitting.</a:t>
            </a:r>
          </a:p>
          <a:p xmlns:a="http://schemas.openxmlformats.org/drawingml/2006/main">
            <a:r>
              <a:t>Interpretation: cross_talker_generalization/analysis_update_2026-09-18/sbi_diagnostic_review/README.md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sbi_added_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cross_talker_generalization/analysis_update_2026-09-17/si_diagnostics/figures/B23_SBI_base_similarity_all_participants_test_train_ratio.png</a:t>
            </a:r>
          </a:p>
          <a:p xmlns:a="http://schemas.openxmlformats.org/drawingml/2006/main">
            <a:r>
              <a:t>Each point shows a participant-held-out fold. Black markers show three-fold means with descriptive 95% fold-bootstrap intervals. The horizontal line marks equal training and test mean log loss. Scores use the same training-fitted model and frozen scaling with random effects set to zero. These plots use the existing fixed-distance predictor. A near-one mean does not establish absence of overfitting.</a:t>
            </a:r>
          </a:p>
          <a:p xmlns:a="http://schemas.openxmlformats.org/drawingml/2006/main">
            <a:r>
              <a:t>Interpretation: cross_talker_generalization/analysis_update_2026-09-18/sbi_diagnostic_review/README.md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sbi_added_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cross_talker_generalization/analysis_update_2026-09-17/si_diagnostics/figures/B23_SBI_ft_similarity_all_participants_test_train_ratio.png</a:t>
            </a:r>
          </a:p>
          <a:p xmlns:a="http://schemas.openxmlformats.org/drawingml/2006/main">
            <a:r>
              <a:t>Each point shows a participant-held-out fold. Black markers show three-fold means with descriptive 95% fold-bootstrap intervals. The horizontal line marks equal training and test mean log loss. Scores use the same training-fitted model and frozen scaling with random effects set to zero. These plots use the existing fixed-distance predictor. A near-one mean does not establish absence of overfitting.</a:t>
            </a:r>
          </a:p>
          <a:p xmlns:a="http://schemas.openxmlformats.org/drawingml/2006/main">
            <a:r>
              <a:t>Interpretation: cross_talker_generalization/analysis_update_2026-09-18/sbi_diagnostic_review/README.md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bi_added_slideLayout1.xml.rels><?xml version='1.0' encoding='utf-8'?>
<ns0:Relationships xmlns:ns0="http://schemas.openxmlformats.org/package/2006/relationships"><ns0:Relationship Type="http://schemas.openxmlformats.org/officeDocument/2006/relationships/slideMaster" Target="../slideMasters/sbi_added_slideMaster1.xml" Id="R98fa1abc86dc40a2" /></ns0: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bi_added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bi_added_slideMaster1.xml.rels><?xml version='1.0' encoding='utf-8'?>
<ns0:Relationships xmlns:ns0="http://schemas.openxmlformats.org/package/2006/relationships"><ns0:Relationship Type="http://schemas.openxmlformats.org/officeDocument/2006/relationships/theme" Target="theme/sbi_added_theme2.xml" Id="R9e96427627cf4208" /><ns0:Relationship Type="http://schemas.openxmlformats.org/officeDocument/2006/relationships/slideLayout" Target="../slideLayouts/sbi_added_slideLayout1.xml" Id="Rb446f701b5544522" /></ns0:Relationships>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bi_added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446f701b554452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theme/sbi_added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bi_added_slide1.xml.rels><?xml version='1.0' encoding='utf-8'?>
<ns0:Relationships xmlns:ns0="http://schemas.openxmlformats.org/package/2006/relationships"><ns0:Relationship Type="http://schemas.openxmlformats.org/officeDocument/2006/relationships/slideLayout" Target="../slideLayouts/sbi_added_slideLayout1.xml" Id="R2e89413bd5b542a7" /><ns0:Relationship Type="http://schemas.openxmlformats.org/officeDocument/2006/relationships/image" Target="../media/sbi_added_image.png" Id="R47bc15e2c85f45b5" /><ns0:Relationship Type="http://schemas.openxmlformats.org/officeDocument/2006/relationships/notesSlide" Target="../notesSlides/sbi_added_notesSlide1.xml" Id="Ra9160d2d30894b59" /></ns0:Relationships>
</file>

<file path=ppt/slides/_rels/sbi_added_slide2.xml.rels><?xml version='1.0' encoding='utf-8'?>
<ns0:Relationships xmlns:ns0="http://schemas.openxmlformats.org/package/2006/relationships"><ns0:Relationship Type="http://schemas.openxmlformats.org/officeDocument/2006/relationships/slideLayout" Target="../slideLayouts/sbi_added_slideLayout1.xml" Id="R31811a81412946d3" /><ns0:Relationship Type="http://schemas.openxmlformats.org/officeDocument/2006/relationships/image" Target="../media/sbi_added_image2.png" Id="Rc72a3bf4cd5b44b9" /><ns0:Relationship Type="http://schemas.openxmlformats.org/officeDocument/2006/relationships/notesSlide" Target="../notesSlides/sbi_added_notesSlide2.xml" Id="R65e0eda5b30b4bcb" /></ns0:Relationships>
</file>

<file path=ppt/slides/_rels/sbi_added_slide3.xml.rels><?xml version='1.0' encoding='utf-8'?>
<ns0:Relationships xmlns:ns0="http://schemas.openxmlformats.org/package/2006/relationships"><ns0:Relationship Type="http://schemas.openxmlformats.org/officeDocument/2006/relationships/slideLayout" Target="../slideLayouts/sbi_added_slideLayout1.xml" Id="Rf9cff1cb23034756" /><ns0:Relationship Type="http://schemas.openxmlformats.org/officeDocument/2006/relationships/image" Target="../media/sbi_added_image3.png" Id="R58b8ab1e3dcf4cf9" /><ns0:Relationship Type="http://schemas.openxmlformats.org/officeDocument/2006/relationships/notesSlide" Target="../notesSlides/sbi_added_notesSlide3.xml" Id="R7b32e36ebb464b76" /></ns0:Relationships>
</file>

<file path=ppt/slides/_rels/sbi_added_slide4.xml.rels><?xml version='1.0' encoding='utf-8'?>
<ns0:Relationships xmlns:ns0="http://schemas.openxmlformats.org/package/2006/relationships"><ns0:Relationship Type="http://schemas.openxmlformats.org/officeDocument/2006/relationships/slideLayout" Target="../slideLayouts/sbi_added_slideLayout1.xml" Id="Rf3405c9bb9744713" /><ns0:Relationship Type="http://schemas.openxmlformats.org/officeDocument/2006/relationships/image" Target="../media/sbi_added_image4.png" Id="Rb8bf7f3a73bd472f" /><ns0:Relationship Type="http://schemas.openxmlformats.org/officeDocument/2006/relationships/notesSlide" Target="../notesSlides/sbi_added_notesSlide4.xml" Id="R29c4d0efc89d4af3" /></ns0:Relationships>
</file>

<file path=ppt/slides/_rels/sbi_added_slide5.xml.rels><?xml version='1.0' encoding='utf-8'?>
<ns0:Relationships xmlns:ns0="http://schemas.openxmlformats.org/package/2006/relationships"><ns0:Relationship Type="http://schemas.openxmlformats.org/officeDocument/2006/relationships/slideLayout" Target="../slideLayouts/sbi_added_slideLayout1.xml" Id="R6525569079e146e8" /><ns0:Relationship Type="http://schemas.openxmlformats.org/officeDocument/2006/relationships/image" Target="../media/sbi_added_image5.png" Id="Ra543c7687e9d458b" /><ns0:Relationship Type="http://schemas.openxmlformats.org/officeDocument/2006/relationships/notesSlide" Target="../notesSlides/sbi_added_notesSlide5.xml" Id="R33239c2b280e40e7" /></ns0:Relationships>
</file>

<file path=ppt/slides/_rels/sbi_added_slide6.xml.rels><?xml version='1.0' encoding='utf-8'?>
<ns0:Relationships xmlns:ns0="http://schemas.openxmlformats.org/package/2006/relationships"><ns0:Relationship Type="http://schemas.openxmlformats.org/officeDocument/2006/relationships/slideLayout" Target="../slideLayouts/sbi_added_slideLayout1.xml" Id="Re7ca4d35bb3e4a53" /><ns0:Relationship Type="http://schemas.openxmlformats.org/officeDocument/2006/relationships/image" Target="../media/sbi_added_image6.png" Id="Rac3149b23d464da2" /><ns0:Relationship Type="http://schemas.openxmlformats.org/officeDocument/2006/relationships/notesSlide" Target="../notesSlides/sbi_added_notesSlide6.xml" Id="R1f2acea634c744d0" /></ns0:Relationships>
</file>

<file path=ppt/slides/_rels/slide1.xml.rels><?xml version="1.0" encoding="UTF-8" standalone="yes"?>
<Relationships xmlns="http://schemas.openxmlformats.org/package/2006/relationships"><Relationship Id="rId3" Type="http://schemas.openxmlformats.org/officeDocument/2006/relationships/hyperlink" Target="x21_all_conditions.html"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hyperlink" Target="x21_without_talker_specific.html"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bi_added_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7bc15e2c85f45b5"/>
          <a:stretch xmlns:a="http://schemas.openxmlformats.org/drawingml/2006/main"/>
        </p:blipFill>
        <p:spPr>
          <a:xfrm xmlns:a="http://schemas.openxmlformats.org/drawingml/2006/main">
            <a:off x="228600" y="364913"/>
            <a:ext cx="11734800" cy="6128173"/>
          </a:xfrm>
          <a:prstGeom xmlns:a="http://schemas.openxmlformats.org/drawingml/2006/main" prst="rect">
            <a:avLst/>
          </a:prstGeom>
        </p:spPr>
      </p:pic>
    </p:spTree>
    <p:extLst>
      <p:ext uri="{BB962C8B-B14F-4D97-AF65-F5344CB8AC3E}">
        <p14:creationId xmlns:p14="http://schemas.microsoft.com/office/powerpoint/2010/main" val="273680687"/>
      </p:ext>
    </p:extLst>
  </p:cSld>
</p:sld>
</file>

<file path=ppt/slides/sbi_added_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72a3bf4cd5b44b9"/>
          <a:stretch xmlns:a="http://schemas.openxmlformats.org/drawingml/2006/main"/>
        </p:blipFill>
        <p:spPr>
          <a:xfrm xmlns:a="http://schemas.openxmlformats.org/drawingml/2006/main">
            <a:off x="228600" y="364913"/>
            <a:ext cx="11734800" cy="6128173"/>
          </a:xfrm>
          <a:prstGeom xmlns:a="http://schemas.openxmlformats.org/drawingml/2006/main" prst="rect">
            <a:avLst/>
          </a:prstGeom>
        </p:spPr>
      </p:pic>
    </p:spTree>
    <p:extLst>
      <p:ext uri="{BB962C8B-B14F-4D97-AF65-F5344CB8AC3E}">
        <p14:creationId xmlns:p14="http://schemas.microsoft.com/office/powerpoint/2010/main" val="1258011214"/>
      </p:ext>
    </p:extLst>
  </p:cSld>
</p:sld>
</file>

<file path=ppt/slides/sbi_added_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8b8ab1e3dcf4cf9"/>
          <a:stretch xmlns:a="http://schemas.openxmlformats.org/drawingml/2006/main"/>
        </p:blipFill>
        <p:spPr>
          <a:xfrm xmlns:a="http://schemas.openxmlformats.org/drawingml/2006/main">
            <a:off x="228600" y="364913"/>
            <a:ext cx="11734800" cy="6128173"/>
          </a:xfrm>
          <a:prstGeom xmlns:a="http://schemas.openxmlformats.org/drawingml/2006/main" prst="rect">
            <a:avLst/>
          </a:prstGeom>
        </p:spPr>
      </p:pic>
    </p:spTree>
    <p:extLst>
      <p:ext uri="{BB962C8B-B14F-4D97-AF65-F5344CB8AC3E}">
        <p14:creationId xmlns:p14="http://schemas.microsoft.com/office/powerpoint/2010/main" val="1220202019"/>
      </p:ext>
    </p:extLst>
  </p:cSld>
</p:sld>
</file>

<file path=ppt/slides/sbi_added_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8bf7f3a73bd472f"/>
          <a:stretch xmlns:a="http://schemas.openxmlformats.org/drawingml/2006/main"/>
        </p:blipFill>
        <p:spPr>
          <a:xfrm xmlns:a="http://schemas.openxmlformats.org/drawingml/2006/main">
            <a:off x="228600" y="364913"/>
            <a:ext cx="11734800" cy="6128173"/>
          </a:xfrm>
          <a:prstGeom xmlns:a="http://schemas.openxmlformats.org/drawingml/2006/main" prst="rect">
            <a:avLst/>
          </a:prstGeom>
        </p:spPr>
      </p:pic>
    </p:spTree>
    <p:extLst>
      <p:ext uri="{BB962C8B-B14F-4D97-AF65-F5344CB8AC3E}">
        <p14:creationId xmlns:p14="http://schemas.microsoft.com/office/powerpoint/2010/main" val="921462376"/>
      </p:ext>
    </p:extLst>
  </p:cSld>
</p:sld>
</file>

<file path=ppt/slides/sbi_added_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543c7687e9d458b"/>
          <a:stretch xmlns:a="http://schemas.openxmlformats.org/drawingml/2006/main"/>
        </p:blipFill>
        <p:spPr>
          <a:xfrm xmlns:a="http://schemas.openxmlformats.org/drawingml/2006/main">
            <a:off x="228600" y="364913"/>
            <a:ext cx="11734800" cy="6128173"/>
          </a:xfrm>
          <a:prstGeom xmlns:a="http://schemas.openxmlformats.org/drawingml/2006/main" prst="rect">
            <a:avLst/>
          </a:prstGeom>
        </p:spPr>
      </p:pic>
    </p:spTree>
    <p:extLst>
      <p:ext uri="{BB962C8B-B14F-4D97-AF65-F5344CB8AC3E}">
        <p14:creationId xmlns:p14="http://schemas.microsoft.com/office/powerpoint/2010/main" val="1166262903"/>
      </p:ext>
    </p:extLst>
  </p:cSld>
</p:sld>
</file>

<file path=ppt/slides/sbi_added_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c3149b23d464da2"/>
          <a:stretch xmlns:a="http://schemas.openxmlformats.org/drawingml/2006/main"/>
        </p:blipFill>
        <p:spPr>
          <a:xfrm xmlns:a="http://schemas.openxmlformats.org/drawingml/2006/main">
            <a:off x="228600" y="364913"/>
            <a:ext cx="11734800" cy="6128173"/>
          </a:xfrm>
          <a:prstGeom xmlns:a="http://schemas.openxmlformats.org/drawingml/2006/main" prst="rect">
            <a:avLst/>
          </a:prstGeom>
        </p:spPr>
      </p:pic>
    </p:spTree>
    <p:extLst>
      <p:ext uri="{BB962C8B-B14F-4D97-AF65-F5344CB8AC3E}">
        <p14:creationId xmlns:p14="http://schemas.microsoft.com/office/powerpoint/2010/main" val="356986316"/>
      </p:ext>
    </p:extLst>
  </p:cSld>
</p:sld>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4298E8C9-85D3-4E13-A56C-02D834A01985}"/>
              </a:ext>
            </a:extLst>
          </p:cNvPr>
          <p:cNvSpPr>
            <a:spLocks noGrp="1"/>
          </p:cNvSpPr>
          <p:nvPr/>
        </p:nvSpPr>
        <p:spPr>
          <a:xfrm>
            <a:off x="533400" y="247650"/>
            <a:ext cx="11125200" cy="552450"/>
          </a:xfrm>
          <a:prstGeom prst="rect">
            <a:avLst/>
          </a:prstGeom>
          <a:noFill/>
          <a:ln w="0">
            <a:noFill/>
          </a:ln>
        </p:spPr>
        <p:txBody>
          <a:bodyPr>
            <a:noAutofit/>
          </a:bodyPr>
          <a:lstStyle/>
          <a:p>
            <a:pPr>
              <a:defRPr sz="3300" b="1">
                <a:solidFill>
                  <a:srgbClr val="18232D"/>
                </a:solidFill>
                <a:latin typeface="Arial"/>
                <a:ea typeface="Arial"/>
                <a:cs typeface="Arial"/>
              </a:defRPr>
            </a:pPr>
            <a:r>
              <a:rPr sz="3300" b="1">
                <a:solidFill>
                  <a:srgbClr val="18232D"/>
                </a:solidFill>
                <a:latin typeface="Arial"/>
                <a:ea typeface="Arial"/>
                <a:cs typeface="Arial"/>
              </a:rPr>
              <a:t>X21: all four conditions</a:t>
            </a:r>
          </a:p>
        </p:txBody>
      </p:sp>
      <p:sp>
        <p:nvSpPr>
          <p:cNvPr id="2" name="矩形 1">
            <a:extLst>
              <a:ext uri="{FF2B5EF4-FFF2-40B4-BE49-F238E27FC236}">
                <a16:creationId xmlns:a16="http://schemas.microsoft.com/office/drawing/2014/main" id="{5AF165DC-D56A-4829-8EE2-43D827F63274}"/>
              </a:ext>
            </a:extLst>
          </p:cNvPr>
          <p:cNvSpPr>
            <a:spLocks noGrp="1"/>
          </p:cNvSpPr>
          <p:nvPr/>
        </p:nvSpPr>
        <p:spPr>
          <a:xfrm>
            <a:off x="533400" y="800100"/>
            <a:ext cx="11125200" cy="333375"/>
          </a:xfrm>
          <a:prstGeom prst="rect">
            <a:avLst/>
          </a:prstGeom>
          <a:noFill/>
          <a:ln w="0">
            <a:noFill/>
          </a:ln>
        </p:spPr>
        <p:txBody>
          <a:bodyPr>
            <a:noAutofit/>
          </a:bodyPr>
          <a:lstStyle/>
          <a:p>
            <a:pPr>
              <a:defRPr sz="1800" b="0">
                <a:solidFill>
                  <a:srgbClr val="555F68"/>
                </a:solidFill>
                <a:latin typeface="Arial"/>
                <a:ea typeface="Arial"/>
                <a:cs typeface="Arial"/>
              </a:defRPr>
            </a:pPr>
            <a:r>
              <a:rPr sz="1800" b="0">
                <a:solidFill>
                  <a:srgbClr val="555F68"/>
                </a:solidFill>
                <a:latin typeface="Arial"/>
                <a:ea typeface="Arial"/>
                <a:cs typeface="Arial"/>
              </a:rPr>
              <a:t>10,969 word responses from 213 participants</a:t>
            </a:r>
          </a:p>
        </p:txBody>
      </p:sp>
      <p:pic>
        <p:nvPicPr>
          <p:cNvPr id="8" name="图片 7">
            <a:hlinkClick r:id="rId3" tooltip="Open rotatable map in a browser"/>
          </p:cNvPr>
          <p:cNvPicPr>
            <a:picLocks noChangeAspect="1"/>
          </p:cNvPicPr>
          <p:nvPr/>
        </p:nvPicPr>
        <p:blipFill>
          <a:blip r:embed="rId4"/>
          <a:stretch/>
        </p:blipFill>
        <p:spPr>
          <a:xfrm>
            <a:off x="840322" y="1143000"/>
            <a:ext cx="10511356" cy="5048250"/>
          </a:xfrm>
          <a:prstGeom prst="rect">
            <a:avLst/>
          </a:prstGeom>
        </p:spPr>
      </p:pic>
      <p:sp>
        <p:nvSpPr>
          <p:cNvPr id="4" name="矩形 3">
            <a:extLst>
              <a:ext uri="{FF2B5EF4-FFF2-40B4-BE49-F238E27FC236}">
                <a16:creationId xmlns:a16="http://schemas.microsoft.com/office/drawing/2014/main" id="{E676E69E-F9C1-4CBB-935C-4FA10DD564DB}"/>
              </a:ext>
            </a:extLst>
          </p:cNvPr>
          <p:cNvSpPr>
            <a:spLocks noGrp="1"/>
          </p:cNvSpPr>
          <p:nvPr/>
        </p:nvSpPr>
        <p:spPr>
          <a:xfrm>
            <a:off x="533400" y="6362700"/>
            <a:ext cx="4762500" cy="323850"/>
          </a:xfrm>
          <a:prstGeom prst="rect">
            <a:avLst/>
          </a:prstGeom>
          <a:noFill/>
          <a:ln w="0">
            <a:noFill/>
          </a:ln>
        </p:spPr>
        <p:txBody>
          <a:bodyPr>
            <a:noAutofit/>
          </a:bodyPr>
          <a:lstStyle/>
          <a:p>
            <a:pPr>
              <a:defRPr sz="1800" b="0">
                <a:solidFill>
                  <a:srgbClr val="1768A4"/>
                </a:solidFill>
                <a:latin typeface="Arial"/>
                <a:ea typeface="Arial"/>
                <a:cs typeface="Arial"/>
              </a:defRPr>
            </a:pPr>
            <a:r>
              <a:rPr sz="1800" b="0" u="sng">
                <a:solidFill>
                  <a:srgbClr val="1768A4"/>
                </a:solidFill>
                <a:latin typeface="Arial"/>
                <a:ea typeface="Arial"/>
                <a:cs typeface="Arial"/>
                <a:hlinkClick r:id="rId3" tooltip="Open rotatable map in a browser"/>
              </a:rPr>
              <a:t>Open interactive map</a:t>
            </a:r>
          </a:p>
        </p:txBody>
      </p:sp>
      <p:sp>
        <p:nvSpPr>
          <p:cNvPr id="5" name="矩形 4">
            <a:extLst>
              <a:ext uri="{FF2B5EF4-FFF2-40B4-BE49-F238E27FC236}">
                <a16:creationId xmlns:a16="http://schemas.microsoft.com/office/drawing/2014/main" id="{D408A452-554A-4F5C-99EB-1A11781C8D9D}"/>
              </a:ext>
            </a:extLst>
          </p:cNvPr>
          <p:cNvSpPr>
            <a:spLocks noGrp="1"/>
          </p:cNvSpPr>
          <p:nvPr/>
        </p:nvSpPr>
        <p:spPr>
          <a:xfrm>
            <a:off x="8420100" y="6362700"/>
            <a:ext cx="3238500" cy="323850"/>
          </a:xfrm>
          <a:prstGeom prst="rect">
            <a:avLst/>
          </a:prstGeom>
          <a:noFill/>
          <a:ln w="0">
            <a:noFill/>
          </a:ln>
        </p:spPr>
        <p:txBody>
          <a:bodyPr>
            <a:noAutofit/>
          </a:bodyPr>
          <a:lstStyle/>
          <a:p>
            <a:pPr>
              <a:defRPr sz="1800" b="0">
                <a:solidFill>
                  <a:srgbClr val="555F68"/>
                </a:solidFill>
                <a:latin typeface="Arial"/>
                <a:ea typeface="Arial"/>
                <a:cs typeface="Arial"/>
              </a:defRPr>
            </a:pPr>
            <a:r>
              <a:rPr sz="1800" b="0">
                <a:solidFill>
                  <a:srgbClr val="555F68"/>
                </a:solidFill>
                <a:latin typeface="Arial"/>
                <a:ea typeface="Arial"/>
                <a:cs typeface="Arial"/>
              </a:rPr>
              <a:t>Training folds 1+2 only</a:t>
            </a:r>
          </a:p>
        </p:txBody>
      </p:sp>
    </p:spTree>
    <p:extLst>
      <p:ext uri="{BB962C8B-B14F-4D97-AF65-F5344CB8AC3E}">
        <p14:creationId xmlns:p14="http://schemas.microsoft.com/office/powerpoint/2010/main" val="5140089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F8BF8B89-6BA1-4215-9C0B-6A4D54BFE833}"/>
              </a:ext>
            </a:extLst>
          </p:cNvPr>
          <p:cNvSpPr>
            <a:spLocks noGrp="1"/>
          </p:cNvSpPr>
          <p:nvPr/>
        </p:nvSpPr>
        <p:spPr>
          <a:xfrm>
            <a:off x="533400" y="247650"/>
            <a:ext cx="11125200" cy="552450"/>
          </a:xfrm>
          <a:prstGeom prst="rect">
            <a:avLst/>
          </a:prstGeom>
          <a:noFill/>
          <a:ln w="0">
            <a:noFill/>
          </a:ln>
        </p:spPr>
        <p:txBody>
          <a:bodyPr>
            <a:noAutofit/>
          </a:bodyPr>
          <a:lstStyle/>
          <a:p>
            <a:pPr>
              <a:defRPr sz="3300" b="1">
                <a:solidFill>
                  <a:srgbClr val="18232D"/>
                </a:solidFill>
                <a:latin typeface="Arial"/>
                <a:ea typeface="Arial"/>
                <a:cs typeface="Arial"/>
              </a:defRPr>
            </a:pPr>
            <a:r>
              <a:rPr sz="3300" b="1">
                <a:solidFill>
                  <a:srgbClr val="18232D"/>
                </a:solidFill>
                <a:latin typeface="Arial"/>
                <a:ea typeface="Arial"/>
                <a:cs typeface="Arial"/>
              </a:rPr>
              <a:t>X21: Talker-specific excluded</a:t>
            </a:r>
          </a:p>
        </p:txBody>
      </p:sp>
      <p:sp>
        <p:nvSpPr>
          <p:cNvPr id="2" name="矩形 1">
            <a:extLst>
              <a:ext uri="{FF2B5EF4-FFF2-40B4-BE49-F238E27FC236}">
                <a16:creationId xmlns:a16="http://schemas.microsoft.com/office/drawing/2014/main" id="{F3E6E6F2-78C2-4E76-A1DA-0A3E09ACA17A}"/>
              </a:ext>
            </a:extLst>
          </p:cNvPr>
          <p:cNvSpPr>
            <a:spLocks noGrp="1"/>
          </p:cNvSpPr>
          <p:nvPr/>
        </p:nvSpPr>
        <p:spPr>
          <a:xfrm>
            <a:off x="533400" y="800100"/>
            <a:ext cx="11125200" cy="333375"/>
          </a:xfrm>
          <a:prstGeom prst="rect">
            <a:avLst/>
          </a:prstGeom>
          <a:noFill/>
          <a:ln w="0">
            <a:noFill/>
          </a:ln>
        </p:spPr>
        <p:txBody>
          <a:bodyPr>
            <a:noAutofit/>
          </a:bodyPr>
          <a:lstStyle/>
          <a:p>
            <a:pPr>
              <a:defRPr sz="1800" b="0">
                <a:solidFill>
                  <a:srgbClr val="555F68"/>
                </a:solidFill>
                <a:latin typeface="Arial"/>
                <a:ea typeface="Arial"/>
                <a:cs typeface="Arial"/>
              </a:defRPr>
            </a:pPr>
            <a:r>
              <a:rPr sz="1800" b="0">
                <a:solidFill>
                  <a:srgbClr val="555F68"/>
                </a:solidFill>
                <a:latin typeface="Arial"/>
                <a:ea typeface="Arial"/>
                <a:cs typeface="Arial"/>
              </a:rPr>
              <a:t>8,290 word responses from 161 participants</a:t>
            </a:r>
          </a:p>
        </p:txBody>
      </p:sp>
      <p:pic>
        <p:nvPicPr>
          <p:cNvPr id="8" name="图片 7">
            <a:hlinkClick r:id="rId3" tooltip="Open rotatable map in a browser"/>
          </p:cNvPr>
          <p:cNvPicPr>
            <a:picLocks noChangeAspect="1"/>
          </p:cNvPicPr>
          <p:nvPr/>
        </p:nvPicPr>
        <p:blipFill>
          <a:blip r:embed="rId4"/>
          <a:stretch/>
        </p:blipFill>
        <p:spPr>
          <a:xfrm>
            <a:off x="840322" y="1143000"/>
            <a:ext cx="10511356" cy="5048250"/>
          </a:xfrm>
          <a:prstGeom prst="rect">
            <a:avLst/>
          </a:prstGeom>
        </p:spPr>
      </p:pic>
      <p:sp>
        <p:nvSpPr>
          <p:cNvPr id="4" name="矩形 3">
            <a:extLst>
              <a:ext uri="{FF2B5EF4-FFF2-40B4-BE49-F238E27FC236}">
                <a16:creationId xmlns:a16="http://schemas.microsoft.com/office/drawing/2014/main" id="{07DEB577-E744-4B96-B697-203DE343C445}"/>
              </a:ext>
            </a:extLst>
          </p:cNvPr>
          <p:cNvSpPr>
            <a:spLocks noGrp="1"/>
          </p:cNvSpPr>
          <p:nvPr/>
        </p:nvSpPr>
        <p:spPr>
          <a:xfrm>
            <a:off x="533400" y="6362700"/>
            <a:ext cx="4762500" cy="323850"/>
          </a:xfrm>
          <a:prstGeom prst="rect">
            <a:avLst/>
          </a:prstGeom>
          <a:noFill/>
          <a:ln w="0">
            <a:noFill/>
          </a:ln>
        </p:spPr>
        <p:txBody>
          <a:bodyPr>
            <a:noAutofit/>
          </a:bodyPr>
          <a:lstStyle/>
          <a:p>
            <a:pPr>
              <a:defRPr sz="1800" b="0">
                <a:solidFill>
                  <a:srgbClr val="1768A4"/>
                </a:solidFill>
                <a:latin typeface="Arial"/>
                <a:ea typeface="Arial"/>
                <a:cs typeface="Arial"/>
              </a:defRPr>
            </a:pPr>
            <a:r>
              <a:rPr sz="1800" b="0" u="sng">
                <a:solidFill>
                  <a:srgbClr val="1768A4"/>
                </a:solidFill>
                <a:latin typeface="Arial"/>
                <a:ea typeface="Arial"/>
                <a:cs typeface="Arial"/>
                <a:hlinkClick r:id="rId3" tooltip="Open rotatable map in a browser"/>
              </a:rPr>
              <a:t>Open interactive map</a:t>
            </a:r>
          </a:p>
        </p:txBody>
      </p:sp>
      <p:sp>
        <p:nvSpPr>
          <p:cNvPr id="5" name="矩形 4">
            <a:extLst>
              <a:ext uri="{FF2B5EF4-FFF2-40B4-BE49-F238E27FC236}">
                <a16:creationId xmlns:a16="http://schemas.microsoft.com/office/drawing/2014/main" id="{5B28984C-6119-4FE7-88DC-2627A26DE354}"/>
              </a:ext>
            </a:extLst>
          </p:cNvPr>
          <p:cNvSpPr>
            <a:spLocks noGrp="1"/>
          </p:cNvSpPr>
          <p:nvPr/>
        </p:nvSpPr>
        <p:spPr>
          <a:xfrm>
            <a:off x="8420100" y="6362700"/>
            <a:ext cx="3238500" cy="323850"/>
          </a:xfrm>
          <a:prstGeom prst="rect">
            <a:avLst/>
          </a:prstGeom>
          <a:noFill/>
          <a:ln w="0">
            <a:noFill/>
          </a:ln>
        </p:spPr>
        <p:txBody>
          <a:bodyPr>
            <a:noAutofit/>
          </a:bodyPr>
          <a:lstStyle/>
          <a:p>
            <a:pPr>
              <a:defRPr sz="1800" b="0">
                <a:solidFill>
                  <a:srgbClr val="555F68"/>
                </a:solidFill>
                <a:latin typeface="Arial"/>
                <a:ea typeface="Arial"/>
                <a:cs typeface="Arial"/>
              </a:defRPr>
            </a:pPr>
            <a:r>
              <a:rPr sz="1800" b="0">
                <a:solidFill>
                  <a:srgbClr val="555F68"/>
                </a:solidFill>
                <a:latin typeface="Arial"/>
                <a:ea typeface="Arial"/>
                <a:cs typeface="Arial"/>
              </a:rPr>
              <a:t>Training folds 1+2 only</a:t>
            </a:r>
          </a:p>
        </p:txBody>
      </p:sp>
    </p:spTree>
    <p:extLst>
      <p:ext uri="{BB962C8B-B14F-4D97-AF65-F5344CB8AC3E}">
        <p14:creationId xmlns:p14="http://schemas.microsoft.com/office/powerpoint/2010/main" val="1608510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4B0EDE78-9B15-4362-B1A7-8DB1A24F05FD}"/>
              </a:ext>
            </a:extLst>
          </p:cNvPr>
          <p:cNvSpPr>
            <a:spLocks noGrp="1"/>
          </p:cNvSpPr>
          <p:nvPr/>
        </p:nvSpPr>
        <p:spPr>
          <a:xfrm>
            <a:off x="533400" y="285750"/>
            <a:ext cx="11125200" cy="609600"/>
          </a:xfrm>
          <a:prstGeom prst="rect">
            <a:avLst/>
          </a:prstGeom>
          <a:noFill/>
          <a:ln w="0">
            <a:noFill/>
          </a:ln>
        </p:spPr>
        <p:txBody>
          <a:bodyPr>
            <a:noAutofit/>
          </a:bodyPr>
          <a:lstStyle/>
          <a:p>
            <a:pPr>
              <a:defRPr sz="3300" b="1">
                <a:solidFill>
                  <a:srgbClr val="172E45"/>
                </a:solidFill>
                <a:latin typeface="Arial"/>
                <a:ea typeface="Arial"/>
                <a:cs typeface="Arial"/>
              </a:defRPr>
            </a:pPr>
            <a:r>
              <a:rPr sz="3300" b="1">
                <a:solidFill>
                  <a:srgbClr val="172E45"/>
                </a:solidFill>
                <a:latin typeface="Arial"/>
                <a:ea typeface="Arial"/>
                <a:cs typeface="Arial"/>
              </a:rPr>
              <a:t>Acoustic baselines rival HuBERT in AN19</a:t>
            </a:r>
          </a:p>
        </p:txBody>
      </p:sp>
      <p:sp>
        <p:nvSpPr>
          <p:cNvPr id="2" name="矩形 1">
            <a:extLst>
              <a:ext uri="{FF2B5EF4-FFF2-40B4-BE49-F238E27FC236}">
                <a16:creationId xmlns:a16="http://schemas.microsoft.com/office/drawing/2014/main" id="{08DD3CD2-3E95-4AC2-AECE-FDC87296902E}"/>
              </a:ext>
            </a:extLst>
          </p:cNvPr>
          <p:cNvSpPr>
            <a:spLocks noGrp="1"/>
          </p:cNvSpPr>
          <p:nvPr/>
        </p:nvSpPr>
        <p:spPr>
          <a:xfrm>
            <a:off x="533400" y="990600"/>
            <a:ext cx="11125200" cy="342900"/>
          </a:xfrm>
          <a:prstGeom prst="rect">
            <a:avLst/>
          </a:prstGeom>
          <a:noFill/>
          <a:ln w="0">
            <a:noFill/>
          </a:ln>
        </p:spPr>
        <p:txBody>
          <a:bodyPr>
            <a:noAutofit/>
          </a:bodyPr>
          <a:lstStyle/>
          <a:p>
            <a:pPr>
              <a:defRPr sz="1875" b="0">
                <a:solidFill>
                  <a:srgbClr val="53616E"/>
                </a:solidFill>
                <a:latin typeface="Arial"/>
                <a:ea typeface="Arial"/>
                <a:cs typeface="Arial"/>
              </a:defRPr>
            </a:pPr>
            <a:r>
              <a:rPr sz="1875" b="0">
                <a:solidFill>
                  <a:srgbClr val="53616E"/>
                </a:solidFill>
                <a:latin typeface="Arial"/>
                <a:ea typeface="Arial"/>
                <a:cs typeface="Arial"/>
              </a:rPr>
              <a:t>Historical test-fold refits: three-fold mean z, with HuBERT shown at Tr-24</a:t>
            </a:r>
          </a:p>
        </p:txBody>
      </p:sp>
      <p:graphicFrame>
        <p:nvGraphicFramePr>
          <p:cNvPr id="9" name="Chart"/>
          <p:cNvGraphicFramePr/>
          <p:nvPr/>
        </p:nvGraphicFramePr>
        <p:xfrm>
          <a:off x="685800" y="1466850"/>
          <a:ext cx="10820400" cy="3790950"/>
        </p:xfrm>
        <a:graphic>
          <a:graphicData uri="http://schemas.openxmlformats.org/drawingml/2006/chart">
            <c:chart xmlns:c="http://schemas.openxmlformats.org/drawingml/2006/chart" xmlns:r="http://schemas.openxmlformats.org/officeDocument/2006/relationships" r:id="rId3"/>
          </a:graphicData>
        </a:graphic>
      </p:graphicFrame>
      <p:sp>
        <p:nvSpPr>
          <p:cNvPr id="4" name="矩形 3">
            <a:extLst>
              <a:ext uri="{FF2B5EF4-FFF2-40B4-BE49-F238E27FC236}">
                <a16:creationId xmlns:a16="http://schemas.microsoft.com/office/drawing/2014/main" id="{E4E93BFF-B0FA-4409-84A9-BE168ADA2185}"/>
              </a:ext>
            </a:extLst>
          </p:cNvPr>
          <p:cNvSpPr>
            <a:spLocks noGrp="1"/>
          </p:cNvSpPr>
          <p:nvPr/>
        </p:nvSpPr>
        <p:spPr>
          <a:xfrm>
            <a:off x="628650" y="5429250"/>
            <a:ext cx="10953750" cy="342900"/>
          </a:xfrm>
          <a:prstGeom prst="rect">
            <a:avLst/>
          </a:prstGeom>
          <a:noFill/>
          <a:ln w="0">
            <a:noFill/>
          </a:ln>
        </p:spPr>
        <p:txBody>
          <a:bodyPr>
            <a:noAutofit/>
          </a:bodyPr>
          <a:lstStyle/>
          <a:p>
            <a:pPr>
              <a:defRPr sz="2025" b="1">
                <a:solidFill>
                  <a:srgbClr val="172E45"/>
                </a:solidFill>
                <a:latin typeface="Arial"/>
                <a:ea typeface="Arial"/>
                <a:cs typeface="Arial"/>
              </a:defRPr>
            </a:pPr>
            <a:r>
              <a:rPr sz="2025" b="1">
                <a:solidFill>
                  <a:srgbClr val="172E45"/>
                </a:solidFill>
                <a:latin typeface="Arial"/>
                <a:ea typeface="Arial"/>
                <a:cs typeface="Arial"/>
              </a:rPr>
              <a:t>AN19 STRF also matches the best base layer: 13.94 vs 13.69 (Tr-12).</a:t>
            </a:r>
          </a:p>
        </p:txBody>
      </p:sp>
      <p:sp>
        <p:nvSpPr>
          <p:cNvPr id="5" name="矩形 4">
            <a:extLst>
              <a:ext uri="{FF2B5EF4-FFF2-40B4-BE49-F238E27FC236}">
                <a16:creationId xmlns:a16="http://schemas.microsoft.com/office/drawing/2014/main" id="{7290BC40-3881-42FA-ACDC-E86F0DCEC94B}"/>
              </a:ext>
            </a:extLst>
          </p:cNvPr>
          <p:cNvSpPr>
            <a:spLocks noGrp="1"/>
          </p:cNvSpPr>
          <p:nvPr/>
        </p:nvSpPr>
        <p:spPr>
          <a:xfrm>
            <a:off x="628650" y="5848350"/>
            <a:ext cx="10953750" cy="361950"/>
          </a:xfrm>
          <a:prstGeom prst="rect">
            <a:avLst/>
          </a:prstGeom>
          <a:noFill/>
          <a:ln w="0">
            <a:noFill/>
          </a:ln>
        </p:spPr>
        <p:txBody>
          <a:bodyPr>
            <a:noAutofit/>
          </a:bodyPr>
          <a:lstStyle/>
          <a:p>
            <a:pPr>
              <a:defRPr sz="1875" b="0">
                <a:solidFill>
                  <a:srgbClr val="263340"/>
                </a:solidFill>
                <a:latin typeface="Arial"/>
                <a:ea typeface="Arial"/>
                <a:cs typeface="Arial"/>
              </a:defRPr>
            </a:pPr>
            <a:r>
              <a:rPr sz="1875" b="0">
                <a:solidFill>
                  <a:srgbClr val="263340"/>
                </a:solidFill>
                <a:latin typeface="Arial"/>
                <a:ea typeface="Arial"/>
                <a:cs typeface="Arial"/>
              </a:rPr>
              <a:t>X21 shows a clearer HuBERT advantage. The cause of this difference remains open.</a:t>
            </a:r>
          </a:p>
        </p:txBody>
      </p:sp>
      <p:sp>
        <p:nvSpPr>
          <p:cNvPr id="6" name="矩形 5">
            <a:extLst>
              <a:ext uri="{FF2B5EF4-FFF2-40B4-BE49-F238E27FC236}">
                <a16:creationId xmlns:a16="http://schemas.microsoft.com/office/drawing/2014/main" id="{D7BBBEFA-8A5E-45E9-90A0-0955C6BBD48A}"/>
              </a:ext>
            </a:extLst>
          </p:cNvPr>
          <p:cNvSpPr>
            <a:spLocks noGrp="1"/>
          </p:cNvSpPr>
          <p:nvPr/>
        </p:nvSpPr>
        <p:spPr>
          <a:xfrm>
            <a:off x="628650" y="6381750"/>
            <a:ext cx="10953750" cy="276225"/>
          </a:xfrm>
          <a:prstGeom prst="rect">
            <a:avLst/>
          </a:prstGeom>
          <a:noFill/>
          <a:ln w="0">
            <a:noFill/>
          </a:ln>
        </p:spPr>
        <p:txBody>
          <a:bodyPr>
            <a:noAutofit/>
          </a:bodyPr>
          <a:lstStyle/>
          <a:p>
            <a:pPr>
              <a:defRPr sz="1500" b="0">
                <a:solidFill>
                  <a:srgbClr val="687582"/>
                </a:solidFill>
                <a:latin typeface="Arial"/>
                <a:ea typeface="Arial"/>
                <a:cs typeface="Arial"/>
              </a:defRPr>
            </a:pPr>
            <a:r>
              <a:rPr sz="1500" b="0">
                <a:solidFill>
                  <a:srgbClr val="687582"/>
                </a:solidFill>
                <a:latin typeface="Arial"/>
                <a:ea typeface="Arial"/>
                <a:cs typeface="Arial"/>
              </a:rPr>
              <a:t>Descriptive rankings. A paired test of representation differences is still needed.</a:t>
            </a:r>
          </a:p>
        </p:txBody>
      </p:sp>
    </p:spTree>
    <p:extLst>
      <p:ext uri="{BB962C8B-B14F-4D97-AF65-F5344CB8AC3E}">
        <p14:creationId xmlns:p14="http://schemas.microsoft.com/office/powerpoint/2010/main" val="231181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77578A20-6261-4564-BE4A-97133FF74534}"/>
              </a:ext>
            </a:extLst>
          </p:cNvPr>
          <p:cNvSpPr>
            <a:spLocks noGrp="1"/>
          </p:cNvSpPr>
          <p:nvPr/>
        </p:nvSpPr>
        <p:spPr>
          <a:xfrm>
            <a:off x="533400" y="285750"/>
            <a:ext cx="11125200" cy="609600"/>
          </a:xfrm>
          <a:prstGeom prst="rect">
            <a:avLst/>
          </a:prstGeom>
          <a:noFill/>
          <a:ln w="0">
            <a:noFill/>
          </a:ln>
        </p:spPr>
        <p:txBody>
          <a:bodyPr>
            <a:noAutofit/>
          </a:bodyPr>
          <a:lstStyle/>
          <a:p>
            <a:pPr>
              <a:defRPr sz="3300" b="1">
                <a:solidFill>
                  <a:srgbClr val="172E45"/>
                </a:solidFill>
                <a:latin typeface="Arial"/>
                <a:ea typeface="Arial"/>
                <a:cs typeface="Arial"/>
              </a:defRPr>
            </a:pPr>
            <a:r>
              <a:rPr sz="3300" b="1">
                <a:solidFill>
                  <a:srgbClr val="172E45"/>
                </a:solidFill>
                <a:latin typeface="Arial"/>
                <a:ea typeface="Arial"/>
                <a:cs typeface="Arial"/>
              </a:rPr>
              <a:t>A clue in AN19: differences between words</a:t>
            </a:r>
          </a:p>
        </p:txBody>
      </p:sp>
      <p:sp>
        <p:nvSpPr>
          <p:cNvPr id="2" name="矩形 1">
            <a:extLst>
              <a:ext uri="{FF2B5EF4-FFF2-40B4-BE49-F238E27FC236}">
                <a16:creationId xmlns:a16="http://schemas.microsoft.com/office/drawing/2014/main" id="{A7CA244D-F2DA-41C1-A07F-4A40310B9C41}"/>
              </a:ext>
            </a:extLst>
          </p:cNvPr>
          <p:cNvSpPr>
            <a:spLocks noGrp="1"/>
          </p:cNvSpPr>
          <p:nvPr/>
        </p:nvSpPr>
        <p:spPr>
          <a:xfrm>
            <a:off x="533400" y="990600"/>
            <a:ext cx="11125200" cy="342900"/>
          </a:xfrm>
          <a:prstGeom prst="rect">
            <a:avLst/>
          </a:prstGeom>
          <a:noFill/>
          <a:ln w="0">
            <a:noFill/>
          </a:ln>
        </p:spPr>
        <p:txBody>
          <a:bodyPr>
            <a:noAutofit/>
          </a:bodyPr>
          <a:lstStyle/>
          <a:p>
            <a:pPr>
              <a:defRPr sz="1875" b="0">
                <a:solidFill>
                  <a:srgbClr val="53616E"/>
                </a:solidFill>
                <a:latin typeface="Arial"/>
                <a:ea typeface="Arial"/>
                <a:cs typeface="Arial"/>
              </a:defRPr>
            </a:pPr>
            <a:r>
              <a:rPr sz="1875" b="0">
                <a:solidFill>
                  <a:srgbClr val="53616E"/>
                </a:solidFill>
                <a:latin typeface="Arial"/>
                <a:ea typeface="Arial"/>
                <a:cs typeface="Arial"/>
              </a:rPr>
              <a:t>Current fixed-distance predictors: correlation with mean listener accuracy</a:t>
            </a:r>
          </a:p>
        </p:txBody>
      </p:sp>
      <p:graphicFrame>
        <p:nvGraphicFramePr>
          <p:cNvPr id="9" name="Chart"/>
          <p:cNvGraphicFramePr/>
          <p:nvPr/>
        </p:nvGraphicFramePr>
        <p:xfrm>
          <a:off x="685800" y="1466850"/>
          <a:ext cx="10820400" cy="3790950"/>
        </p:xfrm>
        <a:graphic>
          <a:graphicData uri="http://schemas.openxmlformats.org/drawingml/2006/chart">
            <c:chart xmlns:c="http://schemas.openxmlformats.org/drawingml/2006/chart" xmlns:r="http://schemas.openxmlformats.org/officeDocument/2006/relationships" r:id="rId3"/>
          </a:graphicData>
        </a:graphic>
      </p:graphicFrame>
      <p:sp>
        <p:nvSpPr>
          <p:cNvPr id="4" name="矩形 3">
            <a:extLst>
              <a:ext uri="{FF2B5EF4-FFF2-40B4-BE49-F238E27FC236}">
                <a16:creationId xmlns:a16="http://schemas.microsoft.com/office/drawing/2014/main" id="{FDB44DCA-7A89-4F72-8929-43CB3D6D0E11}"/>
              </a:ext>
            </a:extLst>
          </p:cNvPr>
          <p:cNvSpPr>
            <a:spLocks noGrp="1"/>
          </p:cNvSpPr>
          <p:nvPr/>
        </p:nvSpPr>
        <p:spPr>
          <a:xfrm>
            <a:off x="628650" y="5429250"/>
            <a:ext cx="10953750" cy="361950"/>
          </a:xfrm>
          <a:prstGeom prst="rect">
            <a:avLst/>
          </a:prstGeom>
          <a:noFill/>
          <a:ln w="0">
            <a:noFill/>
          </a:ln>
        </p:spPr>
        <p:txBody>
          <a:bodyPr>
            <a:noAutofit/>
          </a:bodyPr>
          <a:lstStyle/>
          <a:p>
            <a:pPr>
              <a:defRPr sz="2100" b="1">
                <a:solidFill>
                  <a:srgbClr val="172E45"/>
                </a:solidFill>
                <a:latin typeface="Arial"/>
                <a:ea typeface="Arial"/>
                <a:cs typeface="Arial"/>
              </a:defRPr>
            </a:pPr>
            <a:r>
              <a:rPr sz="2100" b="1">
                <a:solidFill>
                  <a:srgbClr val="172E45"/>
                </a:solidFill>
                <a:latin typeface="Arial"/>
                <a:ea typeface="Arial"/>
                <a:cs typeface="Arial"/>
              </a:rPr>
              <a:t>After word centering, HuBERT has the stronger association.</a:t>
            </a:r>
          </a:p>
        </p:txBody>
      </p:sp>
      <p:sp>
        <p:nvSpPr>
          <p:cNvPr id="5" name="矩形 4">
            <a:extLst>
              <a:ext uri="{FF2B5EF4-FFF2-40B4-BE49-F238E27FC236}">
                <a16:creationId xmlns:a16="http://schemas.microsoft.com/office/drawing/2014/main" id="{E0C5C91C-0555-49DE-A799-A3869C1CC658}"/>
              </a:ext>
            </a:extLst>
          </p:cNvPr>
          <p:cNvSpPr>
            <a:spLocks noGrp="1"/>
          </p:cNvSpPr>
          <p:nvPr/>
        </p:nvSpPr>
        <p:spPr>
          <a:xfrm>
            <a:off x="628650" y="5857875"/>
            <a:ext cx="10953750" cy="361950"/>
          </a:xfrm>
          <a:prstGeom prst="rect">
            <a:avLst/>
          </a:prstGeom>
          <a:noFill/>
          <a:ln w="0">
            <a:noFill/>
          </a:ln>
        </p:spPr>
        <p:txBody>
          <a:bodyPr>
            <a:noAutofit/>
          </a:bodyPr>
          <a:lstStyle/>
          <a:p>
            <a:pPr>
              <a:defRPr sz="1800" b="0">
                <a:solidFill>
                  <a:srgbClr val="263340"/>
                </a:solidFill>
                <a:latin typeface="Arial"/>
                <a:ea typeface="Arial"/>
                <a:cs typeface="Arial"/>
              </a:defRPr>
            </a:pPr>
            <a:r>
              <a:rPr sz="1800" b="0">
                <a:solidFill>
                  <a:srgbClr val="263340"/>
                </a:solidFill>
                <a:latin typeface="Arial"/>
                <a:ea typeface="Arial"/>
                <a:cs typeface="Arial"/>
              </a:rPr>
              <a:t>Word-dependent variation is a plausible contributor. Its acoustic source remains unresolved.</a:t>
            </a:r>
          </a:p>
        </p:txBody>
      </p:sp>
      <p:sp>
        <p:nvSpPr>
          <p:cNvPr id="6" name="矩形 5">
            <a:extLst>
              <a:ext uri="{FF2B5EF4-FFF2-40B4-BE49-F238E27FC236}">
                <a16:creationId xmlns:a16="http://schemas.microsoft.com/office/drawing/2014/main" id="{2AF883FF-2819-46F7-B17C-C6B2DB401E68}"/>
              </a:ext>
            </a:extLst>
          </p:cNvPr>
          <p:cNvSpPr>
            <a:spLocks noGrp="1"/>
          </p:cNvSpPr>
          <p:nvPr/>
        </p:nvSpPr>
        <p:spPr>
          <a:xfrm>
            <a:off x="628650" y="6372225"/>
            <a:ext cx="10953750" cy="295275"/>
          </a:xfrm>
          <a:prstGeom prst="rect">
            <a:avLst/>
          </a:prstGeom>
          <a:noFill/>
          <a:ln w="0">
            <a:noFill/>
          </a:ln>
        </p:spPr>
        <p:txBody>
          <a:bodyPr>
            <a:noAutofit/>
          </a:bodyPr>
          <a:lstStyle/>
          <a:p>
            <a:pPr>
              <a:defRPr sz="1500" b="0">
                <a:solidFill>
                  <a:srgbClr val="687582"/>
                </a:solidFill>
                <a:latin typeface="Arial"/>
                <a:ea typeface="Arial"/>
                <a:cs typeface="Arial"/>
              </a:defRPr>
            </a:pPr>
            <a:r>
              <a:rPr sz="1500" b="0">
                <a:solidFill>
                  <a:srgbClr val="687582"/>
                </a:solidFill>
                <a:latin typeface="Arial"/>
                <a:ea typeface="Arial"/>
                <a:cs typeface="Arial"/>
              </a:rPr>
              <a:t>574 condition × recording cells, 48 words. Equal cell weights. Descriptive r, without inference.</a:t>
            </a:r>
          </a:p>
        </p:txBody>
      </p:sp>
    </p:spTree>
    <p:extLst>
      <p:ext uri="{BB962C8B-B14F-4D97-AF65-F5344CB8AC3E}">
        <p14:creationId xmlns:p14="http://schemas.microsoft.com/office/powerpoint/2010/main" val="2052184373"/>
      </p:ext>
    </p:extLst>
  </p:cSld>
  <p:clrMapOvr>
    <a:masterClrMapping/>
  </p:clrMapOvr>
</p:sld>
</file>

<file path=ppt/theme/sbi_added_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ns0:Properties xmlns:ns0="http://schemas.openxmlformats.org/officeDocument/2006/extended-properties" xmlns:ns1="http://schemas.openxmlformats.org/officeDocument/2006/docPropsVTypes">
  <ns0:TotalTime>47</ns0:TotalTime>
  <ns0:Words>1935</ns0:Words>
  <ns0:Application>Microsoft Office PowerPoint</ns0:Application>
  <ns0:DocSecurity>0</ns0:DocSecurity>
  <ns0:PresentationFormat>宽屏</ns0:PresentationFormat>
  <ns0:Paragraphs>56</ns0:Paragraphs>
  <ns0:Slides>10</ns0:Slides>
  <ns0:Notes>4</ns0:Notes>
  <ns0:HiddenSlides>0</ns0:HiddenSlides>
  <ns0:MMClips>0</ns0:MMClips>
  <ns0:ScaleCrop>false</ns0:ScaleCrop>
  <ns0:HeadingPairs>
    <ns1:vector size="6" baseType="variant">
      <ns1:variant>
        <ns1:lpstr>已用的字体</ns1:lpstr>
      </ns1:variant>
      <ns1:variant>
        <ns1:i4>2</ns1:i4>
      </ns1:variant>
      <ns1:variant>
        <ns1:lpstr>主题</ns1:lpstr>
      </ns1:variant>
      <ns1:variant>
        <ns1:i4>1</ns1:i4>
      </ns1:variant>
      <ns1:variant>
        <ns1:lpstr>幻灯片标题</ns1:lpstr>
      </ns1:variant>
      <ns1:variant>
        <ns1:i4>4</ns1:i4>
      </ns1:variant>
    </ns1:vector>
  </ns0:HeadingPairs>
  <ns0:TitlesOfParts>
    <ns1:vector size="7" baseType="lpstr">
      <ns1:lpstr>Arial</ns1:lpstr>
      <ns1:lpstr>Calibri</ns1:lpstr>
      <ns1:lpstr>ChatGPT</ns1:lpstr>
      <ns1:lpstr>PowerPoint 演示文稿</ns1:lpstr>
      <ns1:lpstr>PowerPoint 演示文稿</ns1:lpstr>
      <ns1:lpstr>PowerPoint 演示文稿</ns1:lpstr>
      <ns1:lpstr>PowerPoint 演示文稿</ns1:lpstr>
    </ns1:vector>
  </ns0:TitlesOfParts>
  <ns0:LinksUpToDate>false</ns0:LinksUpToDate>
  <ns0:SharedDoc>false</ns0:SharedDoc>
  <ns0:HyperlinksChanged>false</ns0:HyperlinksChanged>
  <ns0:AppVersion>16.0000</ns0:AppVersion>
</ns0: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Alex Jin</cp:lastModifiedBy>
  <cp:revision>2</cp:revision>
  <dcterms:created xsi:type="dcterms:W3CDTF">2026-09-18T05:45:59Z</dcterms:created>
  <dcterms:modified xsi:type="dcterms:W3CDTF">2026-09-18T07:06:04Z</dcterms:modified>
</cp:coreProperties>
</file>

<file path=docProps/sbi_added_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sbi_added_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2026-09-18T07:11:46.5080000Z</dcterms:created>
  <dcterms:modified xsi:type="dcterms:W3CDTF">2026-09-18T07:11:46.5080000Z</dcterms:modified>
</coreProperties>
</file>