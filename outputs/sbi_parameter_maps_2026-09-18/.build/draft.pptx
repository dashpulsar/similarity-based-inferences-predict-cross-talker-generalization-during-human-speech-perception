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6fb5a713c849cc" /><Relationship Type="http://schemas.openxmlformats.org/officeDocument/2006/relationships/extended-properties" Target="/docProps/app.xml" Id="R46d2b85dcb72476a" /><Relationship Type="http://schemas.openxmlformats.org/officeDocument/2006/relationships/officeDocument" Target="/ppt/presentation.xml" Id="Re727b91f98a9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d5f83c1574039"/>
  </p:sldMasterIdLst>
  <p:notesMasterIdLst>
    <p:notesMasterId xmlns:r="http://schemas.openxmlformats.org/officeDocument/2006/relationships" r:id="R2845398619db4739"/>
  </p:notesMasterIdLst>
  <p:sldIdLst>
    <p:sldId xmlns:r="http://schemas.openxmlformats.org/officeDocument/2006/relationships" id="256" r:id="R3b23408e5ff74aa1"/>
    <p:sldId xmlns:r="http://schemas.openxmlformats.org/officeDocument/2006/relationships" id="257" r:id="R23df23b81ef042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5207ff89a4ace" /><Relationship Type="http://schemas.openxmlformats.org/officeDocument/2006/relationships/slideMaster" Target="/ppt/slideMasters/slideMaster1.xml" Id="Rd1fd5f83c1574039" /><Relationship Type="http://schemas.openxmlformats.org/officeDocument/2006/relationships/notesMaster" Target="/ppt/notesMasters/notesMaster1.xml" Id="R2845398619db4739" /><Relationship Type="http://schemas.openxmlformats.org/officeDocument/2006/relationships/presProps" Target="/ppt/presProps.xml" Id="Ree9e86a9b4fe4039" /><Relationship Type="http://schemas.openxmlformats.org/officeDocument/2006/relationships/tableStyles" Target="/ppt/tableStyles.xml" Id="R040790c21efe4db7" /><Relationship Type="http://schemas.openxmlformats.org/officeDocument/2006/relationships/slide" Target="/ppt/slides/slide1.xml" Id="R3b23408e5ff74aa1" /><Relationship Type="http://schemas.openxmlformats.org/officeDocument/2006/relationships/slide" Target="/ppt/slides/slide2.xml" Id="R23df23b81ef0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cc16821f340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cca3ad86b4f2b" /><Relationship Type="http://schemas.openxmlformats.org/officeDocument/2006/relationships/notesMaster" Target="/ppt/notesMasters/notesMaster1.xml" Id="Rf377317a6321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07487f9de4c8f" /><Relationship Type="http://schemas.openxmlformats.org/officeDocument/2006/relationships/notesMaster" Target="/ppt/notesMasters/notesMaster1.xml" Id="R9002011e713e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cross_talker_generalization\analysis_update_2026-09-18\x21_parameter_landscape\README.md</a:t>
            </a:r>
          </a:p>
          <a:p xmlns:a="http://schemas.openxmlformats.org/drawingml/2006/main">
            <a:r>
              <a:t>Scores: cross_talker_generalization\analysis_update_2026-09-18\x21_parameter_landscape\landscape.csv</a:t>
            </a:r>
          </a:p>
          <a:p xmlns:a="http://schemas.openxmlformats.org/drawingml/2006/main">
            <a:r>
              <a:t>The grid evaluates 29 tau values and 43 positive k values. Each fit re-estimates the predictor-only GLMM after training-sample standardization.</a:t>
            </a:r>
          </a:p>
          <a:p xmlns:a="http://schemas.openxmlformats.org/drawingml/2006/main">
            <a:r>
              <a:t>Left: signed training Wald z. Right: training fitted GLMM log likelihood. Surface connections interpolate visually between fitted grid points.</a:t>
            </a:r>
          </a:p>
          <a:p xmlns:a="http://schemas.openxmlformats.org/drawingml/2006/main">
            <a:r>
              <a:t>Tau below one is a non-metric sensitivity. The red point is the expanded-domain grid maximum. Fold 0 is excluded from both fitting and selection.</a:t>
            </a:r>
          </a:p>
          <a:p xmlns:a="http://schemas.openxmlformats.org/drawingml/2006/main">
            <a:r>
              <a:t>This is one layer and one training split. Scores across different response samples do not establish comparative predictive performance.</a:t>
            </a:r>
          </a:p>
          <a:p xmlns:a="http://schemas.openxmlformats.org/drawingml/2006/main">
            <a:r>
              <a:t>Open x21_all_conditions.html in a browser to rotate and zoom. Keep both HTML files beside the PPTX. The deck uses external relative hyperlinks and contains static previews.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cross_talker_generalization\analysis_update_2026-09-18\x21_parameter_landscape_no_talker_specific\README.md</a:t>
            </a:r>
          </a:p>
          <a:p xmlns:a="http://schemas.openxmlformats.org/drawingml/2006/main">
            <a:r>
              <a:t>Scores: cross_talker_generalization\analysis_update_2026-09-18\x21_parameter_landscape_no_talker_specific\landscape.csv</a:t>
            </a:r>
          </a:p>
          <a:p xmlns:a="http://schemas.openxmlformats.org/drawingml/2006/main">
            <a:r>
              <a:t>The grid evaluates 29 tau values and 43 positive k values. Each fit re-estimates the predictor-only GLMM after training-sample standardization.</a:t>
            </a:r>
          </a:p>
          <a:p xmlns:a="http://schemas.openxmlformats.org/drawingml/2006/main">
            <a:r>
              <a:t>Left: signed training Wald z. Right: training fitted GLMM log likelihood. Surface connections interpolate visually between fitted grid points.</a:t>
            </a:r>
          </a:p>
          <a:p xmlns:a="http://schemas.openxmlformats.org/drawingml/2006/main">
            <a:r>
              <a:t>Tau below one is a non-metric sensitivity. The red point is the expanded-domain grid maximum. Fold 0 is excluded from both fitting and selection.</a:t>
            </a:r>
          </a:p>
          <a:p xmlns:a="http://schemas.openxmlformats.org/drawingml/2006/main">
            <a:r>
              <a:t>This is one layer and one training split. Scores across different response samples do not establish comparative predictive performance.</a:t>
            </a:r>
          </a:p>
          <a:p xmlns:a="http://schemas.openxmlformats.org/drawingml/2006/main">
            <a:r>
              <a:t>Open x21_without_talker_specific.html in a browser to rotate and zoom. Keep both HTML files beside the PPTX. The deck uses external relative hyperlinks and contains static previews.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9f9b8152747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1e500bfe04d44" /><Relationship Type="http://schemas.openxmlformats.org/officeDocument/2006/relationships/slideLayout" Target="/ppt/slideLayouts/slideLayout1.xml" Id="R3a7a2ade83a3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a2ade83a3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bdaaa0ec5431e" /><Relationship Type="http://schemas.openxmlformats.org/officeDocument/2006/relationships/image" Target="/ppt/media/image.png" Id="R0c52b9c71b8d4525" /><Relationship Type="http://schemas.openxmlformats.org/officeDocument/2006/relationships/notesSlide" Target="/ppt/notesSlides/notesSlide1.xml" Id="Raf477d94c62044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ab448521344ef" /><Relationship Type="http://schemas.openxmlformats.org/officeDocument/2006/relationships/image" Target="/ppt/media/image2.png" Id="R77bd8f0fdbd04809" /><Relationship Type="http://schemas.openxmlformats.org/officeDocument/2006/relationships/notesSlide" Target="/ppt/notesSlides/notesSlide2.xml" Id="R210e02701c40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8E8C9-85D3-4E13-A56C-02D834A0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X21: all four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165DC-D56A-4829-8EE2-43D827F6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10,969 word responses from 213 participants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2b9c71b8d4525"/>
          <a:stretch xmlns:a="http://schemas.openxmlformats.org/drawingml/2006/main"/>
        </p:blipFill>
        <p:spPr>
          <a:xfrm xmlns:a="http://schemas.openxmlformats.org/drawingml/2006/main">
            <a:off x="840322" y="1143000"/>
            <a:ext cx="10511356" cy="5048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6E69E-F9C1-4CBB-935C-4FA10DD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8A4"/>
                </a:solidFill>
                <a:latin typeface="Arial"/>
                <a:ea typeface="Arial"/>
                <a:cs typeface="Arial"/>
              </a:rPr>
              <a:t>Open interactive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A452-554A-4F5C-99EB-1A11781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62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Training folds 1+2 only</a:t>
            </a:r>
          </a:p>
        </p:txBody>
      </p:sp>
    </p:spTree>
    <p:extLst>
      <p:ext uri="{BB962C8B-B14F-4D97-AF65-F5344CB8AC3E}">
        <p14:creationId xmlns:p14="http://schemas.microsoft.com/office/powerpoint/2010/main" val="514008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F8B89-6BA1-4215-9C0B-6A4D54BF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X21: Talker-specific excluded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6E6F2-78C2-4E76-A1DA-0A3E09AC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8,290 word responses from 161 participants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d8f0fdbd04809"/>
          <a:stretch xmlns:a="http://schemas.openxmlformats.org/drawingml/2006/main"/>
        </p:blipFill>
        <p:spPr>
          <a:xfrm xmlns:a="http://schemas.openxmlformats.org/drawingml/2006/main">
            <a:off x="840322" y="1143000"/>
            <a:ext cx="10511356" cy="5048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EB577-E744-4B96-B697-203DE34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8A4"/>
                </a:solidFill>
                <a:latin typeface="Arial"/>
                <a:ea typeface="Arial"/>
                <a:cs typeface="Arial"/>
              </a:rPr>
              <a:t>Open interactive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8984C-6119-4FE7-88DC-2627A26D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62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Training folds 1+2 only</a:t>
            </a:r>
          </a:p>
        </p:txBody>
      </p:sp>
    </p:spTree>
    <p:extLst>
      <p:ext uri="{BB962C8B-B14F-4D97-AF65-F5344CB8AC3E}">
        <p14:creationId xmlns:p14="http://schemas.microsoft.com/office/powerpoint/2010/main" val="1608510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2026-09-18T05:45:59.3340000Z</dcterms:created>
  <dcterms:modified xsi:type="dcterms:W3CDTF">2026-09-18T05:45:59.3340000Z</dcterms:modified>
</coreProperties>
</file>