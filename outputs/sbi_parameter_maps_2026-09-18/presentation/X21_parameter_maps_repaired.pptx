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charts/chart1.xml" ContentType="application/vnd.openxmlformats-officedocument.drawingml.chart+xml"/>
  <Override PartName="/ppt/notesSlides/notesSlide4.xml" ContentType="application/vnd.openxmlformats-officedocument.presentationml.notesSlide+xml"/>
  <Override PartName="/ppt/charts/chart2.xml" ContentType="application/vnd.openxmlformats-officedocument.drawingml.chart+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50" r:id="rId2"/>
  </p:sldMasterIdLst>
  <p:notesMasterIdLst>
    <p:notesMasterId r:id="rId14"/>
  </p:notesMasterIdLst>
  <p:sldIdLst>
    <p:sldId id="256" r:id="rId3"/>
    <p:sldId id="257" r:id="rId4"/>
    <p:sldId id="266" r:id="rId5"/>
    <p:sldId id="258" r:id="rId6"/>
    <p:sldId id="259" r:id="rId7"/>
    <p:sldId id="260" r:id="rId8"/>
    <p:sldId id="261" r:id="rId9"/>
    <p:sldId id="262" r:id="rId10"/>
    <p:sldId id="263" r:id="rId11"/>
    <p:sldId id="264" r:id="rId12"/>
    <p:sldId id="265" r:id="rId13"/>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8999" autoAdjust="0"/>
    <p:restoredTop sz="65426" autoAdjust="0"/>
  </p:normalViewPr>
  <p:slideViewPr>
    <p:cSldViewPr snapToGrid="0">
      <p:cViewPr varScale="1">
        <p:scale>
          <a:sx n="84" d="100"/>
          <a:sy n="84" d="100"/>
        </p:scale>
        <p:origin x="964" y="8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tableStyles" Target="tableStyles.xml"/><Relationship Id="rId3" Type="http://schemas.openxmlformats.org/officeDocument/2006/relationships/slide" Target="slides/slide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theme" Target="theme/theme1.xml"/><Relationship Id="rId2" Type="http://schemas.openxmlformats.org/officeDocument/2006/relationships/slideMaster" Target="slideMasters/slideMaster2.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5" Type="http://schemas.openxmlformats.org/officeDocument/2006/relationships/slide" Target="slides/slide3.xml"/><Relationship Id="rId15" Type="http://schemas.openxmlformats.org/officeDocument/2006/relationships/presProps" Target="presProps.xml"/><Relationship Id="rId10" Type="http://schemas.openxmlformats.org/officeDocument/2006/relationships/slide" Target="slides/slide8.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notesMaster" Target="notesMasters/notesMaster1.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zh-CN"/>
  <c:roundedCorners val="1"/>
  <c:style val="2"/>
  <c:chart>
    <c:autoTitleDeleted val="1"/>
    <c:plotArea>
      <c:layout/>
      <c:barChart>
        <c:barDir val="col"/>
        <c:grouping val="clustered"/>
        <c:varyColors val="0"/>
        <c:ser>
          <c:idx val="0"/>
          <c:order val="0"/>
          <c:tx>
            <c:v>MFCC39</c:v>
          </c:tx>
          <c:spPr>
            <a:solidFill>
              <a:srgbClr val="727A83"/>
            </a:solidFill>
          </c:spPr>
          <c:invertIfNegative val="1"/>
          <c:dLbls>
            <c:spPr>
              <a:noFill/>
              <a:ln>
                <a:noFill/>
              </a:ln>
              <a:effectLst/>
            </c:spPr>
            <c:txPr>
              <a:bodyPr anchorCtr="1"/>
              <a:lstStyle/>
              <a:p>
                <a:pPr>
                  <a:defRPr sz="1575">
                    <a:latin typeface="Arial"/>
                    <a:ea typeface="Arial"/>
                    <a:cs typeface="Arial"/>
                  </a:defRPr>
                </a:pPr>
                <a:endParaRPr lang="zh-CN"/>
              </a:p>
            </c:txPr>
            <c:dLblPos val="outEnd"/>
            <c:showLegendKey val="0"/>
            <c:showVal val="1"/>
            <c:showCatName val="0"/>
            <c:showSerName val="0"/>
            <c:showPercent val="0"/>
            <c:showBubbleSize val="0"/>
            <c:showLeaderLines val="0"/>
            <c:extLst xmlns:ns4="http://schemas.microsoft.com/office/drawing/2014/chart" xmlns:ns3="http://schemas.microsoft.com/office/drawing/2007/8/2/chart" xmlns:ns2="http://schemas.microsoft.com/office/drawing/2012/chart" xmlns:ns1="http://schemas.openxmlformats.org/drawingml/2006/main" xmlns:ns0="http://schemas.openxmlformats.org/drawingml/2006/chart">
              <c:ext xmlns:c15="http://schemas.microsoft.com/office/drawing/2012/chart" uri="{CE6537A1-D6FC-4f65-9D91-7224C49458BB}">
                <c15:showLeaderLines val="0"/>
              </c:ext>
            </c:extLst>
          </c:dLbls>
          <c:cat>
            <c:strRef>
              <c:f>'Chart Data'!$A$2:$A$3</c:f>
              <c:strCache>
                <c:ptCount val="2"/>
                <c:pt idx="0">
                  <c:v>AN19</c:v>
                </c:pt>
                <c:pt idx="1">
                  <c:v>X21</c:v>
                </c:pt>
              </c:strCache>
            </c:strRef>
          </c:cat>
          <c:val>
            <c:numRef>
              <c:f>'Chart Data'!$B$2:$B$3</c:f>
              <c:numCache>
                <c:formatCode>0.0</c:formatCode>
                <c:ptCount val="2"/>
                <c:pt idx="0">
                  <c:v>11.720367</c:v>
                </c:pt>
                <c:pt idx="1">
                  <c:v>5.73644</c:v>
                </c:pt>
              </c:numCache>
            </c:numRef>
          </c:val>
          <c:extLst xmlns:ns4="http://schemas.microsoft.com/office/drawing/2014/chart" xmlns:ns3="http://schemas.microsoft.com/office/drawing/2007/8/2/chart" xmlns:ns2="http://schemas.microsoft.com/office/drawing/2012/chart" xmlns:ns1="http://schemas.openxmlformats.org/drawingml/2006/main" xmlns:ns0="http://schemas.openxmlformats.org/drawingml/2006/char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0-21F2-4F30-BE13-D54AE851B2CF}"/>
            </c:ext>
          </c:extLst>
        </c:ser>
        <c:ser>
          <c:idx val="1"/>
          <c:order val="1"/>
          <c:tx>
            <c:v>STRF24</c:v>
          </c:tx>
          <c:spPr>
            <a:solidFill>
              <a:srgbClr val="CC7837"/>
            </a:solidFill>
          </c:spPr>
          <c:invertIfNegative val="1"/>
          <c:dLbls>
            <c:spPr>
              <a:noFill/>
              <a:ln>
                <a:noFill/>
              </a:ln>
              <a:effectLst/>
            </c:spPr>
            <c:txPr>
              <a:bodyPr anchorCtr="1"/>
              <a:lstStyle/>
              <a:p>
                <a:pPr>
                  <a:defRPr sz="1575">
                    <a:latin typeface="Arial"/>
                    <a:ea typeface="Arial"/>
                    <a:cs typeface="Arial"/>
                  </a:defRPr>
                </a:pPr>
                <a:endParaRPr lang="zh-CN"/>
              </a:p>
            </c:txPr>
            <c:dLblPos val="outEnd"/>
            <c:showLegendKey val="0"/>
            <c:showVal val="1"/>
            <c:showCatName val="0"/>
            <c:showSerName val="0"/>
            <c:showPercent val="0"/>
            <c:showBubbleSize val="0"/>
            <c:showLeaderLines val="0"/>
            <c:extLst xmlns:ns4="http://schemas.microsoft.com/office/drawing/2014/chart" xmlns:ns3="http://schemas.microsoft.com/office/drawing/2007/8/2/chart" xmlns:ns2="http://schemas.microsoft.com/office/drawing/2012/chart" xmlns:ns1="http://schemas.openxmlformats.org/drawingml/2006/main" xmlns:ns0="http://schemas.openxmlformats.org/drawingml/2006/chart">
              <c:ext xmlns:c15="http://schemas.microsoft.com/office/drawing/2012/chart" uri="{CE6537A1-D6FC-4f65-9D91-7224C49458BB}">
                <c15:showLeaderLines val="0"/>
              </c:ext>
            </c:extLst>
          </c:dLbls>
          <c:cat>
            <c:strRef>
              <c:f>'Chart Data'!$C$2:$C$3</c:f>
              <c:strCache>
                <c:ptCount val="2"/>
                <c:pt idx="0">
                  <c:v>AN19</c:v>
                </c:pt>
                <c:pt idx="1">
                  <c:v>X21</c:v>
                </c:pt>
              </c:strCache>
            </c:strRef>
          </c:cat>
          <c:val>
            <c:numRef>
              <c:f>'Chart Data'!$D$2:$D$3</c:f>
              <c:numCache>
                <c:formatCode>0.0</c:formatCode>
                <c:ptCount val="2"/>
                <c:pt idx="0">
                  <c:v>13.942254999999999</c:v>
                </c:pt>
                <c:pt idx="1">
                  <c:v>5.7234910000000001</c:v>
                </c:pt>
              </c:numCache>
            </c:numRef>
          </c:val>
          <c:extLst xmlns:ns4="http://schemas.microsoft.com/office/drawing/2014/chart" xmlns:ns3="http://schemas.microsoft.com/office/drawing/2007/8/2/chart" xmlns:ns2="http://schemas.microsoft.com/office/drawing/2012/chart" xmlns:ns1="http://schemas.openxmlformats.org/drawingml/2006/main" xmlns:ns0="http://schemas.openxmlformats.org/drawingml/2006/char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1-21F2-4F30-BE13-D54AE851B2CF}"/>
            </c:ext>
          </c:extLst>
        </c:ser>
        <c:ser>
          <c:idx val="2"/>
          <c:order val="2"/>
          <c:tx>
            <c:v>HuBERT base Tr-24</c:v>
          </c:tx>
          <c:spPr>
            <a:solidFill>
              <a:srgbClr val="286499"/>
            </a:solidFill>
          </c:spPr>
          <c:invertIfNegative val="1"/>
          <c:dLbls>
            <c:spPr>
              <a:noFill/>
              <a:ln>
                <a:noFill/>
              </a:ln>
              <a:effectLst/>
            </c:spPr>
            <c:txPr>
              <a:bodyPr anchorCtr="1"/>
              <a:lstStyle/>
              <a:p>
                <a:pPr>
                  <a:defRPr sz="1575">
                    <a:latin typeface="Arial"/>
                    <a:ea typeface="Arial"/>
                    <a:cs typeface="Arial"/>
                  </a:defRPr>
                </a:pPr>
                <a:endParaRPr lang="zh-CN"/>
              </a:p>
            </c:txPr>
            <c:dLblPos val="outEnd"/>
            <c:showLegendKey val="0"/>
            <c:showVal val="1"/>
            <c:showCatName val="0"/>
            <c:showSerName val="0"/>
            <c:showPercent val="0"/>
            <c:showBubbleSize val="0"/>
            <c:showLeaderLines val="0"/>
            <c:extLst xmlns:ns4="http://schemas.microsoft.com/office/drawing/2014/chart" xmlns:ns3="http://schemas.microsoft.com/office/drawing/2007/8/2/chart" xmlns:ns2="http://schemas.microsoft.com/office/drawing/2012/chart" xmlns:ns1="http://schemas.openxmlformats.org/drawingml/2006/main" xmlns:ns0="http://schemas.openxmlformats.org/drawingml/2006/chart">
              <c:ext xmlns:c15="http://schemas.microsoft.com/office/drawing/2012/chart" uri="{CE6537A1-D6FC-4f65-9D91-7224C49458BB}">
                <c15:showLeaderLines val="0"/>
              </c:ext>
            </c:extLst>
          </c:dLbls>
          <c:cat>
            <c:strRef>
              <c:f>'Chart Data'!$E$2:$E$3</c:f>
              <c:strCache>
                <c:ptCount val="2"/>
                <c:pt idx="0">
                  <c:v>AN19</c:v>
                </c:pt>
                <c:pt idx="1">
                  <c:v>X21</c:v>
                </c:pt>
              </c:strCache>
            </c:strRef>
          </c:cat>
          <c:val>
            <c:numRef>
              <c:f>'Chart Data'!$F$2:$F$3</c:f>
              <c:numCache>
                <c:formatCode>0.0</c:formatCode>
                <c:ptCount val="2"/>
                <c:pt idx="0">
                  <c:v>10.825500999999999</c:v>
                </c:pt>
                <c:pt idx="1">
                  <c:v>7.7617700000000003</c:v>
                </c:pt>
              </c:numCache>
            </c:numRef>
          </c:val>
          <c:extLst xmlns:ns4="http://schemas.microsoft.com/office/drawing/2014/chart" xmlns:ns3="http://schemas.microsoft.com/office/drawing/2007/8/2/chart" xmlns:ns2="http://schemas.microsoft.com/office/drawing/2012/chart" xmlns:ns1="http://schemas.openxmlformats.org/drawingml/2006/main" xmlns:ns0="http://schemas.openxmlformats.org/drawingml/2006/char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2-21F2-4F30-BE13-D54AE851B2CF}"/>
            </c:ext>
          </c:extLst>
        </c:ser>
        <c:ser>
          <c:idx val="3"/>
          <c:order val="3"/>
          <c:tx>
            <c:v>HuBERT FT Tr-24</c:v>
          </c:tx>
          <c:spPr>
            <a:solidFill>
              <a:srgbClr val="198575"/>
            </a:solidFill>
          </c:spPr>
          <c:invertIfNegative val="1"/>
          <c:dLbls>
            <c:spPr>
              <a:noFill/>
              <a:ln>
                <a:noFill/>
              </a:ln>
              <a:effectLst/>
            </c:spPr>
            <c:txPr>
              <a:bodyPr anchorCtr="1"/>
              <a:lstStyle/>
              <a:p>
                <a:pPr>
                  <a:defRPr sz="1575">
                    <a:latin typeface="Arial"/>
                    <a:ea typeface="Arial"/>
                    <a:cs typeface="Arial"/>
                  </a:defRPr>
                </a:pPr>
                <a:endParaRPr lang="zh-CN"/>
              </a:p>
            </c:txPr>
            <c:dLblPos val="outEnd"/>
            <c:showLegendKey val="0"/>
            <c:showVal val="1"/>
            <c:showCatName val="0"/>
            <c:showSerName val="0"/>
            <c:showPercent val="0"/>
            <c:showBubbleSize val="0"/>
            <c:showLeaderLines val="0"/>
            <c:extLst xmlns:ns4="http://schemas.microsoft.com/office/drawing/2014/chart" xmlns:ns3="http://schemas.microsoft.com/office/drawing/2007/8/2/chart" xmlns:ns2="http://schemas.microsoft.com/office/drawing/2012/chart" xmlns:ns1="http://schemas.openxmlformats.org/drawingml/2006/main" xmlns:ns0="http://schemas.openxmlformats.org/drawingml/2006/chart">
              <c:ext xmlns:c15="http://schemas.microsoft.com/office/drawing/2012/chart" uri="{CE6537A1-D6FC-4f65-9D91-7224C49458BB}">
                <c15:showLeaderLines val="0"/>
              </c:ext>
            </c:extLst>
          </c:dLbls>
          <c:cat>
            <c:strRef>
              <c:f>'Chart Data'!$G$2:$G$3</c:f>
              <c:strCache>
                <c:ptCount val="2"/>
                <c:pt idx="0">
                  <c:v>AN19</c:v>
                </c:pt>
                <c:pt idx="1">
                  <c:v>X21</c:v>
                </c:pt>
              </c:strCache>
            </c:strRef>
          </c:cat>
          <c:val>
            <c:numRef>
              <c:f>'Chart Data'!$H$2:$H$3</c:f>
              <c:numCache>
                <c:formatCode>0.0</c:formatCode>
                <c:ptCount val="2"/>
                <c:pt idx="0">
                  <c:v>9.0280880000000003</c:v>
                </c:pt>
                <c:pt idx="1">
                  <c:v>7.6794159999999998</c:v>
                </c:pt>
              </c:numCache>
            </c:numRef>
          </c:val>
          <c:extLst xmlns:ns4="http://schemas.microsoft.com/office/drawing/2014/chart" xmlns:ns3="http://schemas.microsoft.com/office/drawing/2007/8/2/chart" xmlns:ns2="http://schemas.microsoft.com/office/drawing/2012/chart" xmlns:ns1="http://schemas.openxmlformats.org/drawingml/2006/main" xmlns:ns0="http://schemas.openxmlformats.org/drawingml/2006/char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3-21F2-4F30-BE13-D54AE851B2CF}"/>
            </c:ext>
          </c:extLst>
        </c:ser>
        <c:dLbls>
          <c:dLblPos val="outEnd"/>
          <c:showLegendKey val="0"/>
          <c:showVal val="1"/>
          <c:showCatName val="0"/>
          <c:showSerName val="0"/>
          <c:showPercent val="0"/>
          <c:showBubbleSize val="0"/>
        </c:dLbls>
        <c:gapWidth val="110"/>
        <c:axId val="48650112"/>
        <c:axId val="48672768"/>
      </c:barChart>
      <c:catAx>
        <c:axId val="48650112"/>
        <c:scaling>
          <c:orientation val="minMax"/>
        </c:scaling>
        <c:delete val="0"/>
        <c:axPos val="b"/>
        <c:numFmt formatCode="General" sourceLinked="1"/>
        <c:majorTickMark val="none"/>
        <c:minorTickMark val="none"/>
        <c:tickLblPos val="nextTo"/>
        <c:spPr>
          <a:ln w="9525">
            <a:solidFill>
              <a:srgbClr val="D4D4D4"/>
            </a:solidFill>
            <a:prstDash val="solid"/>
          </a:ln>
        </c:spPr>
        <c:txPr>
          <a:bodyPr anchorCtr="1"/>
          <a:lstStyle/>
          <a:p>
            <a:pPr>
              <a:defRPr sz="1725">
                <a:solidFill>
                  <a:srgbClr val="666666"/>
                </a:solidFill>
                <a:latin typeface="Arial"/>
                <a:ea typeface="Arial"/>
                <a:cs typeface="Arial"/>
              </a:defRPr>
            </a:pPr>
            <a:endParaRPr lang="zh-CN"/>
          </a:p>
        </c:txPr>
        <c:crossAx val="48672768"/>
        <c:crosses val="autoZero"/>
        <c:auto val="1"/>
        <c:lblAlgn val="ctr"/>
        <c:lblOffset val="100"/>
        <c:noMultiLvlLbl val="1"/>
      </c:catAx>
      <c:valAx>
        <c:axId val="48672768"/>
        <c:scaling>
          <c:orientation val="minMax"/>
          <c:max val="16"/>
          <c:min val="0"/>
        </c:scaling>
        <c:delete val="0"/>
        <c:axPos val="l"/>
        <c:majorGridlines>
          <c:spPr>
            <a:ln w="9525">
              <a:solidFill>
                <a:srgbClr val="E3E6E9"/>
              </a:solidFill>
            </a:ln>
          </c:spPr>
        </c:majorGridlines>
        <c:title>
          <c:tx>
            <c:rich>
              <a:bodyPr/>
              <a:lstStyle/>
              <a:p>
                <a:r>
                  <a:rPr lang="en-US" sz="1575">
                    <a:latin typeface="Arial"/>
                    <a:ea typeface="Arial"/>
                    <a:cs typeface="Arial"/>
                  </a:rPr>
                  <a:t>Mean Wald z</a:t>
                </a:r>
              </a:p>
            </c:rich>
          </c:tx>
          <c:overlay val="0"/>
        </c:title>
        <c:numFmt formatCode="0.0" sourceLinked="1"/>
        <c:majorTickMark val="none"/>
        <c:minorTickMark val="none"/>
        <c:tickLblPos val="nextTo"/>
        <c:spPr>
          <a:ln w="9525">
            <a:solidFill>
              <a:srgbClr val="D4D4D4"/>
            </a:solidFill>
            <a:prstDash val="solid"/>
          </a:ln>
        </c:spPr>
        <c:txPr>
          <a:bodyPr anchorCtr="1"/>
          <a:lstStyle/>
          <a:p>
            <a:pPr>
              <a:defRPr sz="1425">
                <a:solidFill>
                  <a:srgbClr val="666666"/>
                </a:solidFill>
                <a:latin typeface="Arial"/>
                <a:ea typeface="Arial"/>
                <a:cs typeface="Arial"/>
              </a:defRPr>
            </a:pPr>
            <a:endParaRPr lang="zh-CN"/>
          </a:p>
        </c:txPr>
        <c:crossAx val="48650112"/>
        <c:crosses val="autoZero"/>
        <c:crossBetween val="between"/>
        <c:majorUnit val="4"/>
      </c:valAx>
      <c:spPr>
        <a:solidFill>
          <a:srgbClr val="FFFFFF"/>
        </a:solidFill>
      </c:spPr>
    </c:plotArea>
    <c:legend>
      <c:legendPos val="b"/>
      <c:overlay val="0"/>
      <c:txPr>
        <a:bodyPr anchorCtr="1"/>
        <a:lstStyle/>
        <a:p>
          <a:pPr>
            <a:defRPr sz="1500">
              <a:latin typeface="Arial"/>
              <a:ea typeface="Arial"/>
              <a:cs typeface="Arial"/>
            </a:defRPr>
          </a:pPr>
          <a:endParaRPr lang="zh-CN"/>
        </a:p>
      </c:txPr>
    </c:legend>
    <c:plotVisOnly val="1"/>
    <c:dispBlanksAs val="zero"/>
    <c:showDLblsOverMax val="1"/>
  </c:chart>
  <c:spPr>
    <a:solidFill>
      <a:srgbClr val="FFFFFF"/>
    </a:solidFill>
    <a:ln w="0">
      <a:noFill/>
    </a:ln>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zh-CN"/>
  <c:roundedCorners val="1"/>
  <c:style val="2"/>
  <c:chart>
    <c:autoTitleDeleted val="1"/>
    <c:plotArea>
      <c:layout/>
      <c:barChart>
        <c:barDir val="col"/>
        <c:grouping val="clustered"/>
        <c:varyColors val="0"/>
        <c:ser>
          <c:idx val="0"/>
          <c:order val="0"/>
          <c:tx>
            <c:v>MFCC39</c:v>
          </c:tx>
          <c:spPr>
            <a:solidFill>
              <a:srgbClr val="727A83"/>
            </a:solidFill>
          </c:spPr>
          <c:invertIfNegative val="1"/>
          <c:dLbls>
            <c:spPr>
              <a:noFill/>
              <a:ln>
                <a:noFill/>
              </a:ln>
              <a:effectLst/>
            </c:spPr>
            <c:txPr>
              <a:bodyPr anchorCtr="1"/>
              <a:lstStyle/>
              <a:p>
                <a:pPr>
                  <a:defRPr sz="1575">
                    <a:latin typeface="Arial"/>
                    <a:ea typeface="Arial"/>
                    <a:cs typeface="Arial"/>
                  </a:defRPr>
                </a:pPr>
                <a:endParaRPr lang="zh-CN"/>
              </a:p>
            </c:txPr>
            <c:dLblPos val="outEnd"/>
            <c:showLegendKey val="0"/>
            <c:showVal val="1"/>
            <c:showCatName val="0"/>
            <c:showSerName val="0"/>
            <c:showPercent val="0"/>
            <c:showBubbleSize val="0"/>
            <c:showLeaderLines val="0"/>
            <c:extLst xmlns:ns4="http://schemas.microsoft.com/office/drawing/2014/chart" xmlns:ns3="http://schemas.microsoft.com/office/drawing/2007/8/2/chart" xmlns:ns2="http://schemas.microsoft.com/office/drawing/2012/chart" xmlns:ns1="http://schemas.openxmlformats.org/drawingml/2006/main" xmlns:ns0="http://schemas.openxmlformats.org/drawingml/2006/chart">
              <c:ext xmlns:c15="http://schemas.microsoft.com/office/drawing/2012/chart" uri="{CE6537A1-D6FC-4f65-9D91-7224C49458BB}">
                <c15:showLeaderLines val="0"/>
              </c:ext>
            </c:extLst>
          </c:dLbls>
          <c:cat>
            <c:strRef>
              <c:f>'Chart Data'!$A$2:$A$3</c:f>
              <c:strCache>
                <c:ptCount val="2"/>
                <c:pt idx="0">
                  <c:v>Across all cells</c:v>
                </c:pt>
                <c:pt idx="1">
                  <c:v>After removing word means</c:v>
                </c:pt>
              </c:strCache>
            </c:strRef>
          </c:cat>
          <c:val>
            <c:numRef>
              <c:f>'Chart Data'!$B$2:$B$3</c:f>
              <c:numCache>
                <c:formatCode>0.00</c:formatCode>
                <c:ptCount val="2"/>
                <c:pt idx="0">
                  <c:v>0.37566100000000002</c:v>
                </c:pt>
                <c:pt idx="1">
                  <c:v>0.24914900000000001</c:v>
                </c:pt>
              </c:numCache>
            </c:numRef>
          </c:val>
          <c:extLst xmlns:ns4="http://schemas.microsoft.com/office/drawing/2014/chart" xmlns:ns3="http://schemas.microsoft.com/office/drawing/2007/8/2/chart" xmlns:ns2="http://schemas.microsoft.com/office/drawing/2012/chart" xmlns:ns1="http://schemas.openxmlformats.org/drawingml/2006/main" xmlns:ns0="http://schemas.openxmlformats.org/drawingml/2006/char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0-0390-4F72-B2E2-CFB0772A61D8}"/>
            </c:ext>
          </c:extLst>
        </c:ser>
        <c:ser>
          <c:idx val="1"/>
          <c:order val="1"/>
          <c:tx>
            <c:v>STRF24</c:v>
          </c:tx>
          <c:spPr>
            <a:solidFill>
              <a:srgbClr val="CC7837"/>
            </a:solidFill>
          </c:spPr>
          <c:invertIfNegative val="1"/>
          <c:dLbls>
            <c:spPr>
              <a:noFill/>
              <a:ln>
                <a:noFill/>
              </a:ln>
              <a:effectLst/>
            </c:spPr>
            <c:txPr>
              <a:bodyPr anchorCtr="1"/>
              <a:lstStyle/>
              <a:p>
                <a:pPr>
                  <a:defRPr sz="1575">
                    <a:latin typeface="Arial"/>
                    <a:ea typeface="Arial"/>
                    <a:cs typeface="Arial"/>
                  </a:defRPr>
                </a:pPr>
                <a:endParaRPr lang="zh-CN"/>
              </a:p>
            </c:txPr>
            <c:dLblPos val="outEnd"/>
            <c:showLegendKey val="0"/>
            <c:showVal val="1"/>
            <c:showCatName val="0"/>
            <c:showSerName val="0"/>
            <c:showPercent val="0"/>
            <c:showBubbleSize val="0"/>
            <c:showLeaderLines val="0"/>
            <c:extLst xmlns:ns4="http://schemas.microsoft.com/office/drawing/2014/chart" xmlns:ns3="http://schemas.microsoft.com/office/drawing/2007/8/2/chart" xmlns:ns2="http://schemas.microsoft.com/office/drawing/2012/chart" xmlns:ns1="http://schemas.openxmlformats.org/drawingml/2006/main" xmlns:ns0="http://schemas.openxmlformats.org/drawingml/2006/chart">
              <c:ext xmlns:c15="http://schemas.microsoft.com/office/drawing/2012/chart" uri="{CE6537A1-D6FC-4f65-9D91-7224C49458BB}">
                <c15:showLeaderLines val="0"/>
              </c:ext>
            </c:extLst>
          </c:dLbls>
          <c:cat>
            <c:strRef>
              <c:f>'Chart Data'!$C$2:$C$3</c:f>
              <c:strCache>
                <c:ptCount val="2"/>
                <c:pt idx="0">
                  <c:v>Across all cells</c:v>
                </c:pt>
                <c:pt idx="1">
                  <c:v>After removing word means</c:v>
                </c:pt>
              </c:strCache>
            </c:strRef>
          </c:cat>
          <c:val>
            <c:numRef>
              <c:f>'Chart Data'!$D$2:$D$3</c:f>
              <c:numCache>
                <c:formatCode>0.00</c:formatCode>
                <c:ptCount val="2"/>
                <c:pt idx="0">
                  <c:v>0.45614399999999999</c:v>
                </c:pt>
                <c:pt idx="1">
                  <c:v>0.198126</c:v>
                </c:pt>
              </c:numCache>
            </c:numRef>
          </c:val>
          <c:extLst xmlns:ns4="http://schemas.microsoft.com/office/drawing/2014/chart" xmlns:ns3="http://schemas.microsoft.com/office/drawing/2007/8/2/chart" xmlns:ns2="http://schemas.microsoft.com/office/drawing/2012/chart" xmlns:ns1="http://schemas.openxmlformats.org/drawingml/2006/main" xmlns:ns0="http://schemas.openxmlformats.org/drawingml/2006/char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1-0390-4F72-B2E2-CFB0772A61D8}"/>
            </c:ext>
          </c:extLst>
        </c:ser>
        <c:ser>
          <c:idx val="2"/>
          <c:order val="2"/>
          <c:tx>
            <c:v>HuBERT base Tr-24</c:v>
          </c:tx>
          <c:spPr>
            <a:solidFill>
              <a:srgbClr val="286499"/>
            </a:solidFill>
          </c:spPr>
          <c:invertIfNegative val="1"/>
          <c:dLbls>
            <c:spPr>
              <a:noFill/>
              <a:ln>
                <a:noFill/>
              </a:ln>
              <a:effectLst/>
            </c:spPr>
            <c:txPr>
              <a:bodyPr anchorCtr="1"/>
              <a:lstStyle/>
              <a:p>
                <a:pPr>
                  <a:defRPr sz="1575">
                    <a:latin typeface="Arial"/>
                    <a:ea typeface="Arial"/>
                    <a:cs typeface="Arial"/>
                  </a:defRPr>
                </a:pPr>
                <a:endParaRPr lang="zh-CN"/>
              </a:p>
            </c:txPr>
            <c:dLblPos val="outEnd"/>
            <c:showLegendKey val="0"/>
            <c:showVal val="1"/>
            <c:showCatName val="0"/>
            <c:showSerName val="0"/>
            <c:showPercent val="0"/>
            <c:showBubbleSize val="0"/>
            <c:showLeaderLines val="0"/>
            <c:extLst xmlns:ns4="http://schemas.microsoft.com/office/drawing/2014/chart" xmlns:ns3="http://schemas.microsoft.com/office/drawing/2007/8/2/chart" xmlns:ns2="http://schemas.microsoft.com/office/drawing/2012/chart" xmlns:ns1="http://schemas.openxmlformats.org/drawingml/2006/main" xmlns:ns0="http://schemas.openxmlformats.org/drawingml/2006/chart">
              <c:ext xmlns:c15="http://schemas.microsoft.com/office/drawing/2012/chart" uri="{CE6537A1-D6FC-4f65-9D91-7224C49458BB}">
                <c15:showLeaderLines val="0"/>
              </c:ext>
            </c:extLst>
          </c:dLbls>
          <c:cat>
            <c:strRef>
              <c:f>'Chart Data'!$E$2:$E$3</c:f>
              <c:strCache>
                <c:ptCount val="2"/>
                <c:pt idx="0">
                  <c:v>Across all cells</c:v>
                </c:pt>
                <c:pt idx="1">
                  <c:v>After removing word means</c:v>
                </c:pt>
              </c:strCache>
            </c:strRef>
          </c:cat>
          <c:val>
            <c:numRef>
              <c:f>'Chart Data'!$F$2:$F$3</c:f>
              <c:numCache>
                <c:formatCode>0.00</c:formatCode>
                <c:ptCount val="2"/>
                <c:pt idx="0">
                  <c:v>0.440191</c:v>
                </c:pt>
                <c:pt idx="1">
                  <c:v>0.33907100000000001</c:v>
                </c:pt>
              </c:numCache>
            </c:numRef>
          </c:val>
          <c:extLst xmlns:ns4="http://schemas.microsoft.com/office/drawing/2014/chart" xmlns:ns3="http://schemas.microsoft.com/office/drawing/2007/8/2/chart" xmlns:ns2="http://schemas.microsoft.com/office/drawing/2012/chart" xmlns:ns1="http://schemas.openxmlformats.org/drawingml/2006/main" xmlns:ns0="http://schemas.openxmlformats.org/drawingml/2006/char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2-0390-4F72-B2E2-CFB0772A61D8}"/>
            </c:ext>
          </c:extLst>
        </c:ser>
        <c:ser>
          <c:idx val="3"/>
          <c:order val="3"/>
          <c:tx>
            <c:v>HuBERT FT Tr-24</c:v>
          </c:tx>
          <c:spPr>
            <a:solidFill>
              <a:srgbClr val="198575"/>
            </a:solidFill>
          </c:spPr>
          <c:invertIfNegative val="1"/>
          <c:dLbls>
            <c:spPr>
              <a:noFill/>
              <a:ln>
                <a:noFill/>
              </a:ln>
              <a:effectLst/>
            </c:spPr>
            <c:txPr>
              <a:bodyPr anchorCtr="1"/>
              <a:lstStyle/>
              <a:p>
                <a:pPr>
                  <a:defRPr sz="1575">
                    <a:latin typeface="Arial"/>
                    <a:ea typeface="Arial"/>
                    <a:cs typeface="Arial"/>
                  </a:defRPr>
                </a:pPr>
                <a:endParaRPr lang="zh-CN"/>
              </a:p>
            </c:txPr>
            <c:dLblPos val="outEnd"/>
            <c:showLegendKey val="0"/>
            <c:showVal val="1"/>
            <c:showCatName val="0"/>
            <c:showSerName val="0"/>
            <c:showPercent val="0"/>
            <c:showBubbleSize val="0"/>
            <c:showLeaderLines val="0"/>
            <c:extLst xmlns:ns4="http://schemas.microsoft.com/office/drawing/2014/chart" xmlns:ns3="http://schemas.microsoft.com/office/drawing/2007/8/2/chart" xmlns:ns2="http://schemas.microsoft.com/office/drawing/2012/chart" xmlns:ns1="http://schemas.openxmlformats.org/drawingml/2006/main" xmlns:ns0="http://schemas.openxmlformats.org/drawingml/2006/chart">
              <c:ext xmlns:c15="http://schemas.microsoft.com/office/drawing/2012/chart" uri="{CE6537A1-D6FC-4f65-9D91-7224C49458BB}">
                <c15:showLeaderLines val="0"/>
              </c:ext>
            </c:extLst>
          </c:dLbls>
          <c:cat>
            <c:strRef>
              <c:f>'Chart Data'!$G$2:$G$3</c:f>
              <c:strCache>
                <c:ptCount val="2"/>
                <c:pt idx="0">
                  <c:v>Across all cells</c:v>
                </c:pt>
                <c:pt idx="1">
                  <c:v>After removing word means</c:v>
                </c:pt>
              </c:strCache>
            </c:strRef>
          </c:cat>
          <c:val>
            <c:numRef>
              <c:f>'Chart Data'!$H$2:$H$3</c:f>
              <c:numCache>
                <c:formatCode>0.00</c:formatCode>
                <c:ptCount val="2"/>
                <c:pt idx="0">
                  <c:v>0.36437700000000001</c:v>
                </c:pt>
                <c:pt idx="1">
                  <c:v>0.36166999999999999</c:v>
                </c:pt>
              </c:numCache>
            </c:numRef>
          </c:val>
          <c:extLst xmlns:ns4="http://schemas.microsoft.com/office/drawing/2014/chart" xmlns:ns3="http://schemas.microsoft.com/office/drawing/2007/8/2/chart" xmlns:ns2="http://schemas.microsoft.com/office/drawing/2012/chart" xmlns:ns1="http://schemas.openxmlformats.org/drawingml/2006/main" xmlns:ns0="http://schemas.openxmlformats.org/drawingml/2006/char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3-0390-4F72-B2E2-CFB0772A61D8}"/>
            </c:ext>
          </c:extLst>
        </c:ser>
        <c:dLbls>
          <c:dLblPos val="outEnd"/>
          <c:showLegendKey val="0"/>
          <c:showVal val="1"/>
          <c:showCatName val="0"/>
          <c:showSerName val="0"/>
          <c:showPercent val="0"/>
          <c:showBubbleSize val="0"/>
        </c:dLbls>
        <c:gapWidth val="110"/>
        <c:axId val="48650112"/>
        <c:axId val="48672768"/>
      </c:barChart>
      <c:catAx>
        <c:axId val="48650112"/>
        <c:scaling>
          <c:orientation val="minMax"/>
        </c:scaling>
        <c:delete val="0"/>
        <c:axPos val="b"/>
        <c:numFmt formatCode="General" sourceLinked="1"/>
        <c:majorTickMark val="none"/>
        <c:minorTickMark val="none"/>
        <c:tickLblPos val="nextTo"/>
        <c:spPr>
          <a:ln w="9525">
            <a:solidFill>
              <a:srgbClr val="D4D4D4"/>
            </a:solidFill>
            <a:prstDash val="solid"/>
          </a:ln>
        </c:spPr>
        <c:txPr>
          <a:bodyPr anchorCtr="1"/>
          <a:lstStyle/>
          <a:p>
            <a:pPr>
              <a:defRPr sz="1725">
                <a:solidFill>
                  <a:srgbClr val="666666"/>
                </a:solidFill>
                <a:latin typeface="Arial"/>
                <a:ea typeface="Arial"/>
                <a:cs typeface="Arial"/>
              </a:defRPr>
            </a:pPr>
            <a:endParaRPr lang="zh-CN"/>
          </a:p>
        </c:txPr>
        <c:crossAx val="48672768"/>
        <c:crosses val="autoZero"/>
        <c:auto val="1"/>
        <c:lblAlgn val="ctr"/>
        <c:lblOffset val="100"/>
        <c:noMultiLvlLbl val="1"/>
      </c:catAx>
      <c:valAx>
        <c:axId val="48672768"/>
        <c:scaling>
          <c:orientation val="minMax"/>
          <c:max val="0.6"/>
          <c:min val="0"/>
        </c:scaling>
        <c:delete val="0"/>
        <c:axPos val="l"/>
        <c:majorGridlines>
          <c:spPr>
            <a:ln w="9525">
              <a:solidFill>
                <a:srgbClr val="E3E6E9"/>
              </a:solidFill>
            </a:ln>
          </c:spPr>
        </c:majorGridlines>
        <c:title>
          <c:tx>
            <c:rich>
              <a:bodyPr/>
              <a:lstStyle/>
              <a:p>
                <a:r>
                  <a:rPr lang="en-US" sz="1575">
                    <a:latin typeface="Arial"/>
                    <a:ea typeface="Arial"/>
                    <a:cs typeface="Arial"/>
                  </a:rPr>
                  <a:t>Pearson r with listener accuracy</a:t>
                </a:r>
              </a:p>
            </c:rich>
          </c:tx>
          <c:overlay val="0"/>
        </c:title>
        <c:numFmt formatCode="0.00" sourceLinked="1"/>
        <c:majorTickMark val="none"/>
        <c:minorTickMark val="none"/>
        <c:tickLblPos val="nextTo"/>
        <c:spPr>
          <a:ln w="9525">
            <a:solidFill>
              <a:srgbClr val="D4D4D4"/>
            </a:solidFill>
            <a:prstDash val="solid"/>
          </a:ln>
        </c:spPr>
        <c:txPr>
          <a:bodyPr anchorCtr="1"/>
          <a:lstStyle/>
          <a:p>
            <a:pPr>
              <a:defRPr sz="1425">
                <a:solidFill>
                  <a:srgbClr val="666666"/>
                </a:solidFill>
                <a:latin typeface="Arial"/>
                <a:ea typeface="Arial"/>
                <a:cs typeface="Arial"/>
              </a:defRPr>
            </a:pPr>
            <a:endParaRPr lang="zh-CN"/>
          </a:p>
        </c:txPr>
        <c:crossAx val="48650112"/>
        <c:crosses val="autoZero"/>
        <c:crossBetween val="between"/>
        <c:majorUnit val="0.2"/>
      </c:valAx>
      <c:spPr>
        <a:solidFill>
          <a:srgbClr val="FFFFFF"/>
        </a:solidFill>
      </c:spPr>
    </c:plotArea>
    <c:legend>
      <c:legendPos val="b"/>
      <c:overlay val="0"/>
      <c:txPr>
        <a:bodyPr anchorCtr="1"/>
        <a:lstStyle/>
        <a:p>
          <a:pPr>
            <a:defRPr sz="1500">
              <a:latin typeface="Arial"/>
              <a:ea typeface="Arial"/>
              <a:cs typeface="Arial"/>
            </a:defRPr>
          </a:pPr>
          <a:endParaRPr lang="zh-CN"/>
        </a:p>
      </c:txPr>
    </c:legend>
    <c:plotVisOnly val="1"/>
    <c:dispBlanksAs val="zero"/>
    <c:showDLblsOverMax val="1"/>
  </c:chart>
  <c:spPr>
    <a:solidFill>
      <a:srgbClr val="FFFFFF"/>
    </a:solidFill>
    <a:ln w="0">
      <a:noFill/>
    </a:ln>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Sources: cross_talker_generalization\analysis_update_2026-09-18\x21_parameter_landscape\README.md</a:t>
            </a:r>
          </a:p>
          <a:p>
            <a:r>
              <a:t>Scores: cross_talker_generalization\analysis_update_2026-09-18\x21_parameter_landscape\landscape.csv</a:t>
            </a:r>
          </a:p>
          <a:p>
            <a:r>
              <a:t>The grid evaluates 29 tau values and 43 positive k values. Each fit re-estimates the predictor-only GLMM after training-sample standardization.</a:t>
            </a:r>
          </a:p>
          <a:p>
            <a:r>
              <a:t>Left: signed training Wald z. Right: training fitted GLMM log likelihood. Surface connections interpolate visually between fitted grid points.</a:t>
            </a:r>
          </a:p>
          <a:p>
            <a:r>
              <a:t>Tau below one is a non-metric sensitivity. The red point is the expanded-domain grid maximum. Fold 0 is excluded from both fitting and selection.</a:t>
            </a:r>
          </a:p>
          <a:p>
            <a:r>
              <a:t>This is one layer and one training split. Scores across different response samples do not establish comparative predictive performance.</a:t>
            </a:r>
          </a:p>
          <a:p>
            <a:r>
              <a:t>Open x21_all_conditions.html in a browser to rotate and zoom. Keep both HTML files beside the PPTX. The deck uses external relative hyperlinks and contains static previews.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Sources: cross_talker_generalization\analysis_update_2026-09-18\x21_parameter_landscape_no_talker_specific\README.md</a:t>
            </a:r>
          </a:p>
          <a:p>
            <a:r>
              <a:t>Scores: cross_talker_generalization\analysis_update_2026-09-18\x21_parameter_landscape_no_talker_specific\landscape.csv</a:t>
            </a:r>
          </a:p>
          <a:p>
            <a:r>
              <a:t>The grid evaluates 29 tau values and 43 positive k values. Each fit re-estimates the predictor-only GLMM after training-sample standardization.</a:t>
            </a:r>
          </a:p>
          <a:p>
            <a:r>
              <a:t>Left: signed training Wald z. Right: training fitted GLMM log likelihood. Surface connections interpolate visually between fitted grid points.</a:t>
            </a:r>
          </a:p>
          <a:p>
            <a:r>
              <a:t>Tau below one is a non-metric sensitivity. The red point is the expanded-domain grid maximum. Fold 0 is excluded from both fitting and selection.</a:t>
            </a:r>
          </a:p>
          <a:p>
            <a:r>
              <a:t>This is one layer and one training split. Scores across different response samples do not establish comparative predictive performance.</a:t>
            </a:r>
          </a:p>
          <a:p>
            <a:r>
              <a:t>Open x21_without_talker_specific.html in a browser to rotate and zoom. Keep both HTML files beside the PPTX. The deck uses external relative hyperlinks and contains static previews.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I am focusing on the relative ranking. In AN19, STRF is slightly above even the best historical base-layer mean, while X21 favors HuBERT. These are averages of historical target-refit z values, not fixed-model held-out prediction scores. The plotted neural models both use Tr-24, so there is no best-layer selection in the bars. The annotation separately identifies the highest base-layer mean.</a:t>
            </a:r>
          </a:p>
          <a:p>
            <a:endParaRPr/>
          </a:p>
          <a:p>
            <a:r>
              <a:t>The same positive ceiling rescales all representations within a dataset, so ceiling normalization cannot cause the within-dataset ranking. No paired significance test supports a claim that STRF is superior. The current analysis changes several conventions: it uses negative training-standardized distance at tau=2, fits on two participant folds and scores the remaining fold. Its AN19 predictor-only training z is 4.014 for base Tr-24 and 3.817 for STRF. Thus the exact ranking is analysis-dependent.</a:t>
            </a:r>
          </a:p>
          <a:p>
            <a:endParaRPr/>
          </a:p>
          <a:p>
            <a:r>
              <a:t>Source: cross_talker_generalization/analysis_update_2026-09-06/z_value_review/tables/historical_sbi_fold_z.csv. Historical mean z: AN19 MFCC 11.720367, STRF 13.942255, base Tr-24 10.825501, FT Tr-24 9.028088. X21: 5.736440, 5.723491, 7.761770, 7.679416. Source for current scores: artifacts/models/AN19-AN19_acoustic-confirmatory-full-20260906/coefficients.csv and AN19-AN19_hubert_base_tsne-confirmatory-tr24-20260906/coefficients.csv.</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ns0:notes xmlns:ns0="http://schemas.openxmlformats.org/presentationml/2006/main" xmlns:ns1="http://schemas.openxmlformats.org/drawingml/2006/main">
  <ns0:cSld>
    <ns0:spTree>
      <ns0:nvGrpSpPr>
        <ns0:cNvPr id="1" name=""/>
        <ns0:cNvGrpSpPr/>
        <ns0:nvPr/>
      </ns0:nvGrpSpPr>
      <ns0:grpSpPr>
        <ns1:xfrm>
          <ns1:off x="0" y="0"/>
          <ns1:ext cx="0" cy="0"/>
          <ns1:chOff x="0" y="0"/>
          <ns1:chExt cx="0" cy="0"/>
        </ns1:xfrm>
      </ns0:grpSpPr>
      <ns0:sp>
        <ns0:nvSpPr>
          <ns0:cNvPr id="2" name="Slide Image Placeholder 1"/>
          <ns0:cNvSpPr>
            <ns1:spLocks noGrp="1" noRot="1" noChangeAspect="1"/>
          </ns0:cNvSpPr>
          <ns0:nvPr>
            <ns0:ph type="sldImg"/>
          </ns0:nvPr>
        </ns0:nvSpPr>
        <ns0:spPr/>
      </ns0:sp>
      <ns0:sp>
        <ns0:nvSpPr>
          <ns0:cNvPr id="3" name="Notes Placeholder 2"/>
          <ns0:cNvSpPr>
            <ns1:spLocks noGrp="1"/>
          </ns0:cNvSpPr>
          <ns0:nvPr>
            <ns0:ph type="body" idx="1"/>
          </ns0:nvPr>
        </ns0:nvSpPr>
        <ns0:spPr/>
        <ns0:txBody>
          <ns1:bodyPr/>
          <ns1:lstStyle/>
          <ns1:p>
            <ns1:r>
              <ns1:rPr dirty="0"/>
              <ns1:t>To investigate why AN19 favors the acoustic baseline, I used the same 5,685 available responses for MFCC, STRF and both </ns1:t>
            </ns1:r>
            <ns1:r>
              <ns1:rPr dirty="0" err="1"/>
              <ns1:t>HuBERT</ns1:t>
            </ns1:r>
            <ns1:r>
              <ns1:rPr dirty="0"/>
              <ns1:t> Tr-24 representations. I calculated mean accuracy and mean negative distance for each condition by test-recording cell. This gives 574 cells covering 48 lexical words. A recording identifies a word produced by a particular test talker. I then correlated the two cell-level quantities, giving every cell equal weight.</ns1:t>
            </ns1:r>
          </ns1:p>
          <ns1:p>
            <ns1:endParaRPr dirty="0"/>
          </ns1:p>
          <ns1:p>
            <ns1:r>
              <ns1:rPr dirty="0"/>
              <ns1:t>For the second group of bars, I subtracted each lexical word's mean from both negative distance and accuracy before calculating Pearson correlation. STRF falls from 0.456 to 0.198, while base Tr-24 falls from 0.440 to 0.339. FT changes from 0.364 to 0.362. MFCC falls from 0.376 to 0.249. This makes word-dependent variation a more specific candidate explanation for the baseline advantage than simply saying that acoustic features are predictive.</ns1:t>
            </ns1:r>
          </ns1:p>
          <ns1:p>
            <ns1:endParaRPr dirty="0"/>
          </ns1:p>
          <ns1:p>
            <ns1:r>
              <ns1:rPr dirty="0"/>
              <ns1:t>The pattern remains when I remove word and condition effects together using an ordinary least-squares projection: correlations are 0.245 for MFCC, 0.154 for STRF, 0.323 for base Tr-24 and 0.319 for FT. This projection is a descriptive sensitivity calculation and does not refit the GLMM. In X21, excluding Talker-specific still gives raw correlations of 0.094 and 0.058 for the baselines, versus 0.283 and 0.284 for </ns1:t>
            </ns1:r>
            <ns1:r>
              <ns1:rPr dirty="0" err="1"/>
              <ns1:t>HuBERT</ns1:t>
            </ns1:r>
            <ns1:r>
              <ns1:rPr dirty="0"/>
              <ns1:t>. Excluding Control as well preserves that ordering.</ns1:t>
            </ns1:r>
          </ns1:p>
          <ns1:p>
            <ns1:endParaRPr dirty="0"/>
          </ns1:p>
          <ns1:p>
            <ns1:r>
              <ns1:rPr dirty="0"/>
              <ns1:t>This finding does not establish a cause or a fraction of explained variance. Centering changes the comparison, cells share words and talkers, and there is no significance test here. Word duration, phonetic composition and recording characteristics are possible explanations that remain untested. The diagnostic also uses a different predictor and statistical summary from the historical z analysis on slide 1. It motivates a matched within/between-word model comparison rather than explaining that historical z gap by itself.</ns1:t>
            </ns1:r>
          </ns1:p>
          <ns1:p>
            <ns1:endParaRPr dirty="0"/>
          </ns1:p>
          <ns1:p>
            <ns1:r>
              <ns1:rPr dirty="0"/>
              <ns1:t>Sources: </ns1:t>
            </ns1:r>
            <ns1:r>
              <ns1:rPr dirty="0" err="1"/>
              <ns1:t>cross_talker_generalization</ns1:t>
            </ns1:r>
            <ns1:r>
              <ns1:rPr dirty="0"/>
              <ns1:t>/artifacts/derived/AN19-AN19_acoustic-confirmatory-full-20260906-model-input.csv; AN19-AN19_hubert_base_tsne-confirmatory-tr24-20260906-model-input.csv; AN19-AN19_hubert_ft_tsne-confirmatory-tr24-20260906-model-input.csv. Descriptive calculations and input hashes: outputs/an19_baseline_explanation_2026-09-18/.build/analyze.py and </ns1:t>
            </ns1:r>
            <ns1:r>
              <ns1:rPr dirty="0" err="1"/>
              <ns1:t>evidence.json</ns1:t>
            </ns1:r>
            <ns1:r>
              <ns1:rPr dirty="0"/>
              <ns1:t>. Additional context: </ns1:t>
            </ns1:r>
            <ns1:r>
              <ns1:rPr dirty="0" err="1"/>
              <ns1:t>cross_talker_generalization</ns1:t>
            </ns1:r>
            <ns1:r>
              <ns1:rPr dirty="0"/>
              <ns1:t>/analysis_update_2026-09-18/AN19_BASELINE_EXPLANATION.md.</ns1:t>
            </ns1:r>
            <ns1:endParaRPr lang="en-US" dirty="0"/>
          </ns1:p>
          <ns1:p>
            <ns1:endParaRPr lang="en-US" dirty="0"/>
          </ns1:p>
          <ns1:p>
            <ns1:endParaRPr lang="en-US" dirty="0"/>
          </ns1:p>
          <ns1:p>
            <ns1:endParaRPr dirty="0"/>
          </ns1:p>
        </ns0:txBody>
      </ns0:sp>
      <ns0:sp>
        <ns0:nvSpPr>
          <ns0:cNvPr id="4" name="Slide Number Placeholder 3"/>
          <ns0:cNvSpPr>
            <ns1:spLocks noGrp="1"/>
          </ns0:cNvSpPr>
          <ns0:nvPr>
            <ns0:ph type="sldNum" idx="5"/>
          </ns0:nvPr>
        </ns0:nvSpPr>
        <ns0:spPr/>
        <ns0:txBody>
          <ns1:bodyPr/>
          <ns1:lstStyle/>
          <ns1:p>
            <ns1:endParaRPr/>
          </ns1:p>
        </ns0:txBody>
      </ns0:sp>
    </ns0:spTree>
  </ns0:cSld>
  <ns0:clrMapOvr>
    <ns1:masterClrMapping/>
  </ns0:clrMapOvr>
</ns0:notes>
</file>

<file path=ppt/notesSlides/notesSlide5.xml><?xml version="1.0" encoding="utf-8"?>
<ns0:notes xmlns:ns0="http://schemas.openxmlformats.org/presentationml/2006/main" xmlns:ns1="http://schemas.openxmlformats.org/drawingml/2006/main">
  <ns0:cSld>
    <ns0:spTree>
      <ns0:nvGrpSpPr>
        <ns0:cNvPr id="1" name=""/>
        <ns0:cNvGrpSpPr/>
        <ns0:nvPr/>
      </ns0:nvGrpSpPr>
      <ns0:grpSpPr>
        <ns1:xfrm>
          <ns1:off x="0" y="0"/>
          <ns1:ext cx="0" cy="0"/>
          <ns1:chOff x="0" y="0"/>
          <ns1:chExt cx="0" cy="0"/>
        </ns1:xfrm>
      </ns0:grpSpPr>
      <ns0:sp>
        <ns0:nvSpPr>
          <ns0:cNvPr id="2" name="Slide Image Placeholder 1"/>
          <ns0:cNvSpPr>
            <ns1:spLocks noGrp="1" noRot="1" noChangeAspect="1"/>
          </ns0:cNvSpPr>
          <ns0:nvPr>
            <ns0:ph type="sldImg"/>
          </ns0:nvPr>
        </ns0:nvSpPr>
        <ns0:spPr/>
      </ns0:sp>
      <ns0:sp>
        <ns0:nvSpPr>
          <ns0:cNvPr id="3" name="Notes Placeholder 2"/>
          <ns0:cNvSpPr>
            <ns1:spLocks noGrp="1"/>
          </ns0:cNvSpPr>
          <ns0:nvPr>
            <ns0:ph type="body" idx="1"/>
          </ns0:nvPr>
        </ns0:nvSpPr>
        <ns0:spPr/>
        <ns0:txBody>
          <ns1:bodyPr/>
          <ns1:lstStyle/>
          <ns1:p>
            <ns1:r>
              <ns1:rPr dirty="0"/>
              <ns1:t>Source: </ns1:t>
            </ns1:r>
            <ns1:r>
              <ns1:rPr dirty="0" err="1"/>
              <ns1:t>cross_talker_generalization</ns1:t>
            </ns1:r>
            <ns1:r>
              <ns1:rPr dirty="0"/>
              <ns1:t>/analysis_update_2026-09-17/</ns1:t>
            </ns1:r>
            <ns1:r>
              <ns1:rPr dirty="0" err="1"/>
              <ns1:t>si_diagnostics</ns1:t>
            </ns1:r>
            <ns1:r>
              <ns1:rPr dirty="0"/>
              <ns1:t>/figures/AN19_SBI_base_similarity_all_participants_test_train_ratio.png</ns1:t>
            </ns1:r>
          </ns1:p>
          <ns1:p>
            <ns1:r>
              <ns1:rPr dirty="0"/>
              <ns1:t>Each point shows a participant-held-out fold. Black markers show three-fold means with descriptive 95% fold-bootstrap intervals. The horizontal line marks equal training and test mean log loss. Scores use the same training-fitted model and frozen scaling with random effects set to zero. These plots use the existing fixed-distance predictor. A near-one mean does not establish absence of overfitting.</ns1:t>
            </ns1:r>
          </ns1:p>
          <ns1:p>
            <ns1:r>
              <ns1:rPr dirty="0"/>
              <ns1:t>Interpretation: cross_talker_generalization/analysis_update_2026-09-18/sbi_diagnostic_review/README.md</ns1:t>
            </ns1:r>
            <ns1:endParaRPr lang="en-US" dirty="0"/>
          </ns1:p>
          <ns1:p>
            <ns1:endParaRPr lang="en-US" dirty="0"/>
          </ns1:p>
          <ns1:p>
            <ns1:endParaRPr lang="en-US" dirty="0"/>
          </ns1:p>
        </ns0:txBody>
      </ns0:sp>
      <ns0:sp>
        <ns0:nvSpPr>
          <ns0:cNvPr id="4" name="Slide Number Placeholder 3"/>
          <ns0:cNvSpPr>
            <ns1:spLocks noGrp="1"/>
          </ns0:cNvSpPr>
          <ns0:nvPr>
            <ns0:ph type="sldNum" idx="5"/>
          </ns0:nvPr>
        </ns0:nvSpPr>
        <ns0:spPr/>
        <ns0:txBody>
          <ns1:bodyPr/>
          <ns1:lstStyle/>
          <ns1:p>
            <ns1:endParaRPr/>
          </ns1:p>
        </ns0:txBody>
      </ns0:sp>
    </ns0:spTree>
  </ns0:cSld>
  <ns0:clrMapOvr>
    <ns1:masterClrMapping/>
  </ns0:clrMapOvr>
</ns0: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 cross_talker_generalization/analysis_update_2026-09-17/si_diagnostics/figures/AN19_SBI_ft_similarity_all_participants_test_train_ratio.png</a:t>
            </a:r>
          </a:p>
          <a:p>
            <a:r>
              <a:t>Each point shows a participant-held-out fold. Black markers show three-fold means with descriptive 95% fold-bootstrap intervals. The horizontal line marks equal training and test mean log loss. Scores use the same training-fitted model and frozen scaling with random effects set to zero. These plots use the existing fixed-distance predictor. A near-one mean does not establish absence of overfitting.</a:t>
            </a:r>
          </a:p>
          <a:p>
            <a:r>
              <a:t>Interpretation: cross_talker_generalization/analysis_update_2026-09-18/sbi_diagnostic_review/README.md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 cross_talker_generalization/analysis_update_2026-09-17/si_diagnostics/figures/X21_SBI_base_similarity_all_participants_test_train_ratio.png</a:t>
            </a:r>
          </a:p>
          <a:p>
            <a:r>
              <a:t>Each point shows a participant-held-out fold. Black markers show three-fold means with descriptive 95% fold-bootstrap intervals. The horizontal line marks equal training and test mean log loss. Scores use the same training-fitted model and frozen scaling with random effects set to zero. These plots use the existing fixed-distance predictor. A near-one mean does not establish absence of overfitting.</a:t>
            </a:r>
          </a:p>
          <a:p>
            <a:r>
              <a:t>Interpretation: cross_talker_generalization/analysis_update_2026-09-18/sbi_diagnostic_review/README.md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 cross_talker_generalization/analysis_update_2026-09-17/si_diagnostics/figures/X21_SBI_ft_similarity_all_participants_test_train_ratio.png</a:t>
            </a:r>
          </a:p>
          <a:p>
            <a:r>
              <a:t>Each point shows a participant-held-out fold. Black markers show three-fold means with descriptive 95% fold-bootstrap intervals. The horizontal line marks equal training and test mean log loss. Scores use the same training-fitted model and frozen scaling with random effects set to zero. These plots use the existing fixed-distance predictor. A near-one mean does not establish absence of overfitting.</a:t>
            </a:r>
          </a:p>
          <a:p>
            <a:r>
              <a:t>Interpretation: cross_talker_generalization/analysis_update_2026-09-18/sbi_diagnostic_review/README.md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 cross_talker_generalization/analysis_update_2026-09-17/si_diagnostics/figures/B23_SBI_base_similarity_all_participants_test_train_ratio.png</a:t>
            </a:r>
          </a:p>
          <a:p>
            <a:r>
              <a:t>Each point shows a participant-held-out fold. Black markers show three-fold means with descriptive 95% fold-bootstrap intervals. The horizontal line marks equal training and test mean log loss. Scores use the same training-fitted model and frozen scaling with random effects set to zero. These plots use the existing fixed-distance predictor. A near-one mean does not establish absence of overfitting.</a:t>
            </a:r>
          </a:p>
          <a:p>
            <a:r>
              <a:t>Interpretation: cross_talker_generalization/analysis_update_2026-09-18/sbi_diagnostic_review/README.md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 cross_talker_generalization/analysis_update_2026-09-17/si_diagnostics/figures/B23_SBI_ft_similarity_all_participants_test_train_ratio.png</a:t>
            </a:r>
          </a:p>
          <a:p>
            <a:r>
              <a:t>Each point shows a participant-held-out fold. Black markers show three-fold means with descriptive 95% fold-bootstrap intervals. The horizontal line marks equal training and test mean log loss. Scores use the same training-fitted model and frozen scaling with random effects set to zero. These plots use the existing fixed-distance predictor. A near-one mean does not establish absence of overfitting.</a:t>
            </a:r>
          </a:p>
          <a:p>
            <a:r>
              <a:t>Interpretation: cross_talker_generalization/analysis_update_2026-09-18/sbi_diagnostic_review/README.md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ster">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name="Master">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51" r:id="rId1"/>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x21_all_conditions.html" TargetMode="External"/><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1.png"/></Relationships>
</file>

<file path=ppt/slides/_rels/slide2.xml.rels><?xml version="1.0" encoding="UTF-8" standalone="yes"?>
<Relationships xmlns="http://schemas.openxmlformats.org/package/2006/relationships"><Relationship Id="rId3" Type="http://schemas.openxmlformats.org/officeDocument/2006/relationships/hyperlink" Target="x21_without_talker_specific.html" TargetMode="External"/><Relationship Id="rId2" Type="http://schemas.openxmlformats.org/officeDocument/2006/relationships/notesSlide" Target="../notesSlides/notesSlide2.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4.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 name="矩形 5">
            <a:extLst>
              <a:ext uri="{FF2B5EF4-FFF2-40B4-BE49-F238E27FC236}">
                <a16:creationId xmlns:a16="http://schemas.microsoft.com/office/drawing/2014/main" id="{4298E8C9-85D3-4E13-A56C-02D834A01985}"/>
              </a:ext>
            </a:extLst>
          </p:cNvPr>
          <p:cNvSpPr>
            <a:spLocks noGrp="1"/>
          </p:cNvSpPr>
          <p:nvPr/>
        </p:nvSpPr>
        <p:spPr>
          <a:xfrm>
            <a:off x="533400" y="247650"/>
            <a:ext cx="11125200" cy="552450"/>
          </a:xfrm>
          <a:prstGeom prst="rect">
            <a:avLst/>
          </a:prstGeom>
          <a:noFill/>
          <a:ln w="0">
            <a:noFill/>
          </a:ln>
        </p:spPr>
        <p:txBody>
          <a:bodyPr>
            <a:noAutofit/>
          </a:bodyPr>
          <a:lstStyle/>
          <a:p>
            <a:pPr>
              <a:defRPr sz="3300" b="1">
                <a:solidFill>
                  <a:srgbClr val="18232D"/>
                </a:solidFill>
                <a:latin typeface="Arial"/>
                <a:ea typeface="Arial"/>
                <a:cs typeface="Arial"/>
              </a:defRPr>
            </a:pPr>
            <a:r>
              <a:rPr sz="3300" b="1">
                <a:solidFill>
                  <a:srgbClr val="18232D"/>
                </a:solidFill>
                <a:latin typeface="Arial"/>
                <a:ea typeface="Arial"/>
                <a:cs typeface="Arial"/>
              </a:rPr>
              <a:t>X21: all four conditions</a:t>
            </a:r>
          </a:p>
        </p:txBody>
      </p:sp>
      <p:sp>
        <p:nvSpPr>
          <p:cNvPr id="2" name="矩形 1">
            <a:extLst>
              <a:ext uri="{FF2B5EF4-FFF2-40B4-BE49-F238E27FC236}">
                <a16:creationId xmlns:a16="http://schemas.microsoft.com/office/drawing/2014/main" id="{5AF165DC-D56A-4829-8EE2-43D827F63274}"/>
              </a:ext>
            </a:extLst>
          </p:cNvPr>
          <p:cNvSpPr>
            <a:spLocks noGrp="1"/>
          </p:cNvSpPr>
          <p:nvPr/>
        </p:nvSpPr>
        <p:spPr>
          <a:xfrm>
            <a:off x="533400" y="800100"/>
            <a:ext cx="11125200" cy="333375"/>
          </a:xfrm>
          <a:prstGeom prst="rect">
            <a:avLst/>
          </a:prstGeom>
          <a:noFill/>
          <a:ln w="0">
            <a:noFill/>
          </a:ln>
        </p:spPr>
        <p:txBody>
          <a:bodyPr>
            <a:noAutofit/>
          </a:bodyPr>
          <a:lstStyle/>
          <a:p>
            <a:pPr>
              <a:defRPr sz="1800" b="0">
                <a:solidFill>
                  <a:srgbClr val="555F68"/>
                </a:solidFill>
                <a:latin typeface="Arial"/>
                <a:ea typeface="Arial"/>
                <a:cs typeface="Arial"/>
              </a:defRPr>
            </a:pPr>
            <a:r>
              <a:rPr sz="1800" b="0">
                <a:solidFill>
                  <a:srgbClr val="555F68"/>
                </a:solidFill>
                <a:latin typeface="Arial"/>
                <a:ea typeface="Arial"/>
                <a:cs typeface="Arial"/>
              </a:rPr>
              <a:t>10,969 word responses from 213 participants</a:t>
            </a:r>
          </a:p>
        </p:txBody>
      </p:sp>
      <p:pic>
        <p:nvPicPr>
          <p:cNvPr id="8" name="图片 7">
            <a:hlinkClick r:id="rId3" tooltip="Open rotatable map in a browser"/>
          </p:cNvPr>
          <p:cNvPicPr>
            <a:picLocks noChangeAspect="1"/>
          </p:cNvPicPr>
          <p:nvPr/>
        </p:nvPicPr>
        <p:blipFill>
          <a:blip r:embed="rId4"/>
          <a:stretch/>
        </p:blipFill>
        <p:spPr>
          <a:xfrm>
            <a:off x="840322" y="1143000"/>
            <a:ext cx="10511356" cy="5048250"/>
          </a:xfrm>
          <a:prstGeom prst="rect">
            <a:avLst/>
          </a:prstGeom>
        </p:spPr>
      </p:pic>
      <p:sp>
        <p:nvSpPr>
          <p:cNvPr id="4" name="矩形 3">
            <a:extLst>
              <a:ext uri="{FF2B5EF4-FFF2-40B4-BE49-F238E27FC236}">
                <a16:creationId xmlns:a16="http://schemas.microsoft.com/office/drawing/2014/main" id="{E676E69E-F9C1-4CBB-935C-4FA10DD564DB}"/>
              </a:ext>
            </a:extLst>
          </p:cNvPr>
          <p:cNvSpPr>
            <a:spLocks noGrp="1"/>
          </p:cNvSpPr>
          <p:nvPr/>
        </p:nvSpPr>
        <p:spPr>
          <a:xfrm>
            <a:off x="533400" y="6362700"/>
            <a:ext cx="4762500" cy="323850"/>
          </a:xfrm>
          <a:prstGeom prst="rect">
            <a:avLst/>
          </a:prstGeom>
          <a:noFill/>
          <a:ln w="0">
            <a:noFill/>
          </a:ln>
        </p:spPr>
        <p:txBody>
          <a:bodyPr>
            <a:noAutofit/>
          </a:bodyPr>
          <a:lstStyle/>
          <a:p>
            <a:pPr>
              <a:defRPr sz="1800" b="0">
                <a:solidFill>
                  <a:srgbClr val="1768A4"/>
                </a:solidFill>
                <a:latin typeface="Arial"/>
                <a:ea typeface="Arial"/>
                <a:cs typeface="Arial"/>
              </a:defRPr>
            </a:pPr>
            <a:r>
              <a:rPr sz="1800" b="0" u="sng">
                <a:solidFill>
                  <a:srgbClr val="1768A4"/>
                </a:solidFill>
                <a:latin typeface="Arial"/>
                <a:ea typeface="Arial"/>
                <a:cs typeface="Arial"/>
                <a:hlinkClick r:id="rId3" tooltip="Open rotatable map in a browser"/>
              </a:rPr>
              <a:t>Open interactive map</a:t>
            </a:r>
          </a:p>
        </p:txBody>
      </p:sp>
      <p:sp>
        <p:nvSpPr>
          <p:cNvPr id="5" name="矩形 4">
            <a:extLst>
              <a:ext uri="{FF2B5EF4-FFF2-40B4-BE49-F238E27FC236}">
                <a16:creationId xmlns:a16="http://schemas.microsoft.com/office/drawing/2014/main" id="{D408A452-554A-4F5C-99EB-1A11781C8D9D}"/>
              </a:ext>
            </a:extLst>
          </p:cNvPr>
          <p:cNvSpPr>
            <a:spLocks noGrp="1"/>
          </p:cNvSpPr>
          <p:nvPr/>
        </p:nvSpPr>
        <p:spPr>
          <a:xfrm>
            <a:off x="8420100" y="6362700"/>
            <a:ext cx="3238500" cy="323850"/>
          </a:xfrm>
          <a:prstGeom prst="rect">
            <a:avLst/>
          </a:prstGeom>
          <a:noFill/>
          <a:ln w="0">
            <a:noFill/>
          </a:ln>
        </p:spPr>
        <p:txBody>
          <a:bodyPr>
            <a:noAutofit/>
          </a:bodyPr>
          <a:lstStyle/>
          <a:p>
            <a:pPr>
              <a:defRPr sz="1800" b="0">
                <a:solidFill>
                  <a:srgbClr val="555F68"/>
                </a:solidFill>
                <a:latin typeface="Arial"/>
                <a:ea typeface="Arial"/>
                <a:cs typeface="Arial"/>
              </a:defRPr>
            </a:pPr>
            <a:r>
              <a:rPr sz="1800" b="0" dirty="0">
                <a:solidFill>
                  <a:srgbClr val="555F68"/>
                </a:solidFill>
                <a:latin typeface="Arial"/>
                <a:ea typeface="Arial"/>
                <a:cs typeface="Arial"/>
              </a:rPr>
              <a:t>Training folds 1+2 only</a:t>
            </a:r>
          </a:p>
        </p:txBody>
      </p:sp>
    </p:spTree>
    <p:extLst>
      <p:ext uri="{BB962C8B-B14F-4D97-AF65-F5344CB8AC3E}">
        <p14:creationId xmlns:p14="http://schemas.microsoft.com/office/powerpoint/2010/main" val="51400896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 name="矩形 5">
            <a:extLst>
              <a:ext uri="{FF2B5EF4-FFF2-40B4-BE49-F238E27FC236}">
                <a16:creationId xmlns:a16="http://schemas.microsoft.com/office/drawing/2014/main" id="{F8BF8B89-6BA1-4215-9C0B-6A4D54BFE833}"/>
              </a:ext>
            </a:extLst>
          </p:cNvPr>
          <p:cNvSpPr>
            <a:spLocks noGrp="1"/>
          </p:cNvSpPr>
          <p:nvPr/>
        </p:nvSpPr>
        <p:spPr>
          <a:xfrm>
            <a:off x="533400" y="247650"/>
            <a:ext cx="11125200" cy="552450"/>
          </a:xfrm>
          <a:prstGeom prst="rect">
            <a:avLst/>
          </a:prstGeom>
          <a:noFill/>
          <a:ln w="0">
            <a:noFill/>
          </a:ln>
        </p:spPr>
        <p:txBody>
          <a:bodyPr>
            <a:noAutofit/>
          </a:bodyPr>
          <a:lstStyle/>
          <a:p>
            <a:pPr>
              <a:defRPr sz="3300" b="1">
                <a:solidFill>
                  <a:srgbClr val="18232D"/>
                </a:solidFill>
                <a:latin typeface="Arial"/>
                <a:ea typeface="Arial"/>
                <a:cs typeface="Arial"/>
              </a:defRPr>
            </a:pPr>
            <a:r>
              <a:rPr sz="3300" b="1">
                <a:solidFill>
                  <a:srgbClr val="18232D"/>
                </a:solidFill>
                <a:latin typeface="Arial"/>
                <a:ea typeface="Arial"/>
                <a:cs typeface="Arial"/>
              </a:rPr>
              <a:t>X21: Talker-specific excluded</a:t>
            </a:r>
          </a:p>
        </p:txBody>
      </p:sp>
      <p:sp>
        <p:nvSpPr>
          <p:cNvPr id="2" name="矩形 1">
            <a:extLst>
              <a:ext uri="{FF2B5EF4-FFF2-40B4-BE49-F238E27FC236}">
                <a16:creationId xmlns:a16="http://schemas.microsoft.com/office/drawing/2014/main" id="{F3E6E6F2-78C2-4E76-A1DA-0A3E09ACA17A}"/>
              </a:ext>
            </a:extLst>
          </p:cNvPr>
          <p:cNvSpPr>
            <a:spLocks noGrp="1"/>
          </p:cNvSpPr>
          <p:nvPr/>
        </p:nvSpPr>
        <p:spPr>
          <a:xfrm>
            <a:off x="533400" y="800100"/>
            <a:ext cx="11125200" cy="333375"/>
          </a:xfrm>
          <a:prstGeom prst="rect">
            <a:avLst/>
          </a:prstGeom>
          <a:noFill/>
          <a:ln w="0">
            <a:noFill/>
          </a:ln>
        </p:spPr>
        <p:txBody>
          <a:bodyPr>
            <a:noAutofit/>
          </a:bodyPr>
          <a:lstStyle/>
          <a:p>
            <a:pPr>
              <a:defRPr sz="1800" b="0">
                <a:solidFill>
                  <a:srgbClr val="555F68"/>
                </a:solidFill>
                <a:latin typeface="Arial"/>
                <a:ea typeface="Arial"/>
                <a:cs typeface="Arial"/>
              </a:defRPr>
            </a:pPr>
            <a:r>
              <a:rPr sz="1800" b="0">
                <a:solidFill>
                  <a:srgbClr val="555F68"/>
                </a:solidFill>
                <a:latin typeface="Arial"/>
                <a:ea typeface="Arial"/>
                <a:cs typeface="Arial"/>
              </a:rPr>
              <a:t>8,290 word responses from 161 participants</a:t>
            </a:r>
          </a:p>
        </p:txBody>
      </p:sp>
      <p:pic>
        <p:nvPicPr>
          <p:cNvPr id="8" name="图片 7">
            <a:hlinkClick r:id="rId3" tooltip="Open rotatable map in a browser"/>
          </p:cNvPr>
          <p:cNvPicPr>
            <a:picLocks noChangeAspect="1"/>
          </p:cNvPicPr>
          <p:nvPr/>
        </p:nvPicPr>
        <p:blipFill>
          <a:blip r:embed="rId4"/>
          <a:stretch/>
        </p:blipFill>
        <p:spPr>
          <a:xfrm>
            <a:off x="840322" y="1143000"/>
            <a:ext cx="10511356" cy="5048250"/>
          </a:xfrm>
          <a:prstGeom prst="rect">
            <a:avLst/>
          </a:prstGeom>
        </p:spPr>
      </p:pic>
      <p:sp>
        <p:nvSpPr>
          <p:cNvPr id="4" name="矩形 3">
            <a:extLst>
              <a:ext uri="{FF2B5EF4-FFF2-40B4-BE49-F238E27FC236}">
                <a16:creationId xmlns:a16="http://schemas.microsoft.com/office/drawing/2014/main" id="{07DEB577-E744-4B96-B697-203DE343C445}"/>
              </a:ext>
            </a:extLst>
          </p:cNvPr>
          <p:cNvSpPr>
            <a:spLocks noGrp="1"/>
          </p:cNvSpPr>
          <p:nvPr/>
        </p:nvSpPr>
        <p:spPr>
          <a:xfrm>
            <a:off x="533400" y="6362700"/>
            <a:ext cx="4762500" cy="323850"/>
          </a:xfrm>
          <a:prstGeom prst="rect">
            <a:avLst/>
          </a:prstGeom>
          <a:noFill/>
          <a:ln w="0">
            <a:noFill/>
          </a:ln>
        </p:spPr>
        <p:txBody>
          <a:bodyPr>
            <a:noAutofit/>
          </a:bodyPr>
          <a:lstStyle/>
          <a:p>
            <a:pPr>
              <a:defRPr sz="1800" b="0">
                <a:solidFill>
                  <a:srgbClr val="1768A4"/>
                </a:solidFill>
                <a:latin typeface="Arial"/>
                <a:ea typeface="Arial"/>
                <a:cs typeface="Arial"/>
              </a:defRPr>
            </a:pPr>
            <a:r>
              <a:rPr sz="1800" b="0" u="sng">
                <a:solidFill>
                  <a:srgbClr val="1768A4"/>
                </a:solidFill>
                <a:latin typeface="Arial"/>
                <a:ea typeface="Arial"/>
                <a:cs typeface="Arial"/>
                <a:hlinkClick r:id="rId3" tooltip="Open rotatable map in a browser"/>
              </a:rPr>
              <a:t>Open interactive map</a:t>
            </a:r>
          </a:p>
        </p:txBody>
      </p:sp>
      <p:sp>
        <p:nvSpPr>
          <p:cNvPr id="5" name="矩形 4">
            <a:extLst>
              <a:ext uri="{FF2B5EF4-FFF2-40B4-BE49-F238E27FC236}">
                <a16:creationId xmlns:a16="http://schemas.microsoft.com/office/drawing/2014/main" id="{5B28984C-6119-4FE7-88DC-2627A26DE354}"/>
              </a:ext>
            </a:extLst>
          </p:cNvPr>
          <p:cNvSpPr>
            <a:spLocks noGrp="1"/>
          </p:cNvSpPr>
          <p:nvPr/>
        </p:nvSpPr>
        <p:spPr>
          <a:xfrm>
            <a:off x="8420100" y="6362700"/>
            <a:ext cx="3238500" cy="323850"/>
          </a:xfrm>
          <a:prstGeom prst="rect">
            <a:avLst/>
          </a:prstGeom>
          <a:noFill/>
          <a:ln w="0">
            <a:noFill/>
          </a:ln>
        </p:spPr>
        <p:txBody>
          <a:bodyPr>
            <a:noAutofit/>
          </a:bodyPr>
          <a:lstStyle/>
          <a:p>
            <a:pPr>
              <a:defRPr sz="1800" b="0">
                <a:solidFill>
                  <a:srgbClr val="555F68"/>
                </a:solidFill>
                <a:latin typeface="Arial"/>
                <a:ea typeface="Arial"/>
                <a:cs typeface="Arial"/>
              </a:defRPr>
            </a:pPr>
            <a:r>
              <a:rPr sz="1800" b="0">
                <a:solidFill>
                  <a:srgbClr val="555F68"/>
                </a:solidFill>
                <a:latin typeface="Arial"/>
                <a:ea typeface="Arial"/>
                <a:cs typeface="Arial"/>
              </a:rPr>
              <a:t>Training folds 1+2 only</a:t>
            </a:r>
          </a:p>
        </p:txBody>
      </p:sp>
    </p:spTree>
    <p:extLst>
      <p:ext uri="{BB962C8B-B14F-4D97-AF65-F5344CB8AC3E}">
        <p14:creationId xmlns:p14="http://schemas.microsoft.com/office/powerpoint/2010/main" val="160851014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a:extLst>
              <a:ext uri="{FF2B5EF4-FFF2-40B4-BE49-F238E27FC236}">
                <a16:creationId xmlns:a16="http://schemas.microsoft.com/office/drawing/2014/main" id="{E5F60C05-4ADA-25B3-EE6E-E389BBC29637}"/>
              </a:ext>
            </a:extLst>
          </p:cNvPr>
          <p:cNvSpPr txBox="1"/>
          <p:nvPr/>
        </p:nvSpPr>
        <p:spPr>
          <a:xfrm>
            <a:off x="386079" y="4575468"/>
            <a:ext cx="8060267" cy="1477328"/>
          </a:xfrm>
          <a:prstGeom prst="rect">
            <a:avLst/>
          </a:prstGeom>
          <a:noFill/>
        </p:spPr>
        <p:txBody>
          <a:bodyPr wrap="square">
            <a:spAutoFit/>
          </a:bodyPr>
          <a:lstStyle/>
          <a:p>
            <a:r>
              <a:rPr lang="zh-CN" altLang="en-US" dirty="0"/>
              <a:t>a &lt;- -k * (d$raw_distance - min(d$raw_distance))</a:t>
            </a:r>
          </a:p>
          <a:p>
            <a:r>
              <a:rPr lang="zh-CN" altLang="en-US" dirty="0"/>
              <a:t>s &lt;- if(k == 0) -d$raw_distance else if(max(abs(a)) &lt; 0.1) expm1(a) else exp(a)</a:t>
            </a:r>
          </a:p>
          <a:p>
            <a:endParaRPr lang="zh-CN" altLang="en-US" dirty="0"/>
          </a:p>
          <a:p>
            <a:r>
              <a:rPr lang="zh-CN" altLang="en-US" dirty="0"/>
              <a:t>if (is.finite(sd(s)) &amp;&amp; sd(s) &gt; 0) {</a:t>
            </a:r>
          </a:p>
          <a:p>
            <a:r>
              <a:rPr lang="zh-CN" altLang="en-US" dirty="0"/>
              <a:t>    d$similarity_z &lt;- (s - mean(s)) / sd(s)</a:t>
            </a:r>
          </a:p>
        </p:txBody>
      </p:sp>
      <mc:AlternateContent xmlns:mc="http://schemas.openxmlformats.org/markup-compatibility/2006" xmlns:a14="http://schemas.microsoft.com/office/drawing/2010/main">
        <mc:Choice Requires="a14">
          <p:sp>
            <p:nvSpPr>
              <p:cNvPr id="7" name="文本框 6">
                <a:extLst>
                  <a:ext uri="{FF2B5EF4-FFF2-40B4-BE49-F238E27FC236}">
                    <a16:creationId xmlns:a16="http://schemas.microsoft.com/office/drawing/2014/main" id="{0562E3EF-4717-2C15-6CB3-229B012FA486}"/>
                  </a:ext>
                </a:extLst>
              </p:cNvPr>
              <p:cNvSpPr txBox="1"/>
              <p:nvPr/>
            </p:nvSpPr>
            <p:spPr>
              <a:xfrm>
                <a:off x="-1097280" y="1963344"/>
                <a:ext cx="6096000" cy="387927"/>
              </a:xfrm>
              <a:prstGeom prst="rect">
                <a:avLst/>
              </a:prstGeom>
              <a:noFill/>
            </p:spPr>
            <p:txBody>
              <a:bodyPr wrap="square">
                <a:spAutoFit/>
              </a:bodyPr>
              <a:lstStyle/>
              <a:p>
                <a:pPr/>
                <a14:m>
                  <m:oMathPara xmlns:m="http://schemas.openxmlformats.org/officeDocument/2006/math">
                    <m:oMath>
                      <m:r>
                        <a:rPr lang="zh-CN" altLang="en-US" i="1" smtClean="0">
                          <a:latin typeface="Cambria Math" panose="02040503050406030204" pitchFamily="18" charset="0"/>
                        </a:rPr>
                        <m:t>𝑠</m:t>
                      </m:r>
                      <m:sSub>
                        <m:sSubPr>
                          <m:ctrlPr>
                            <a:rPr lang="zh-CN" altLang="en-US" i="0">
                              <a:latin typeface="Cambria Math" panose="02040503050406030204" pitchFamily="18" charset="0"/>
                            </a:rPr>
                          </m:ctrlPr>
                        </m:sSubPr>
                        <m:e>
                          <m:r>
                            <a:rPr lang="zh-CN" altLang="en-US" i="0">
                              <a:latin typeface="Cambria Math" panose="02040503050406030204" pitchFamily="18" charset="0"/>
                            </a:rPr>
                            <m:t>′</m:t>
                          </m:r>
                        </m:e>
                        <m:sub>
                          <m:r>
                            <a:rPr lang="zh-CN" altLang="en-US" i="1">
                              <a:latin typeface="Cambria Math" panose="02040503050406030204" pitchFamily="18" charset="0"/>
                            </a:rPr>
                            <m:t>𝑖</m:t>
                          </m:r>
                        </m:sub>
                      </m:sSub>
                      <m:r>
                        <a:rPr lang="zh-CN" altLang="en-US" i="0">
                          <a:latin typeface="Cambria Math" panose="02040503050406030204" pitchFamily="18" charset="0"/>
                        </a:rPr>
                        <m:t>=</m:t>
                      </m:r>
                      <m:sSup>
                        <m:sSupPr>
                          <m:ctrlPr>
                            <a:rPr lang="zh-CN" altLang="en-US" i="1">
                              <a:latin typeface="Cambria Math" panose="02040503050406030204" pitchFamily="18" charset="0"/>
                            </a:rPr>
                          </m:ctrlPr>
                        </m:sSupPr>
                        <m:e>
                          <m:r>
                            <a:rPr lang="zh-CN" altLang="en-US" i="1">
                              <a:latin typeface="Cambria Math" panose="02040503050406030204" pitchFamily="18" charset="0"/>
                            </a:rPr>
                            <m:t>𝑒</m:t>
                          </m:r>
                        </m:e>
                        <m:sup>
                          <m:r>
                            <a:rPr lang="zh-CN" altLang="en-US" i="0">
                              <a:latin typeface="Cambria Math" panose="02040503050406030204" pitchFamily="18" charset="0"/>
                            </a:rPr>
                            <m:t>−</m:t>
                          </m:r>
                          <m:r>
                            <a:rPr lang="zh-CN" altLang="en-US" i="1">
                              <a:latin typeface="Cambria Math" panose="02040503050406030204" pitchFamily="18" charset="0"/>
                            </a:rPr>
                            <m:t>𝑘</m:t>
                          </m:r>
                          <m:d>
                            <m:dPr>
                              <m:ctrlPr>
                                <a:rPr lang="zh-CN" altLang="en-US" i="1">
                                  <a:latin typeface="Cambria Math" panose="02040503050406030204" pitchFamily="18" charset="0"/>
                                </a:rPr>
                              </m:ctrlPr>
                            </m:dPr>
                            <m:e>
                              <m:sSub>
                                <m:sSubPr>
                                  <m:ctrlPr>
                                    <a:rPr lang="zh-CN" altLang="en-US" i="1">
                                      <a:latin typeface="Cambria Math" panose="02040503050406030204" pitchFamily="18" charset="0"/>
                                    </a:rPr>
                                  </m:ctrlPr>
                                </m:sSubPr>
                                <m:e>
                                  <m:r>
                                    <a:rPr lang="zh-CN" altLang="en-US" i="1">
                                      <a:latin typeface="Cambria Math" panose="02040503050406030204" pitchFamily="18" charset="0"/>
                                    </a:rPr>
                                    <m:t>𝑑</m:t>
                                  </m:r>
                                </m:e>
                                <m:sub>
                                  <m:r>
                                    <a:rPr lang="zh-CN" altLang="en-US" i="1">
                                      <a:latin typeface="Cambria Math" panose="02040503050406030204" pitchFamily="18" charset="0"/>
                                    </a:rPr>
                                    <m:t>𝑖</m:t>
                                  </m:r>
                                </m:sub>
                              </m:sSub>
                              <m:r>
                                <a:rPr lang="zh-CN" altLang="en-US" i="0">
                                  <a:latin typeface="Cambria Math" panose="02040503050406030204" pitchFamily="18" charset="0"/>
                                </a:rPr>
                                <m:t>−</m:t>
                              </m:r>
                              <m:sSub>
                                <m:sSubPr>
                                  <m:ctrlPr>
                                    <a:rPr lang="zh-CN" altLang="en-US" i="1">
                                      <a:latin typeface="Cambria Math" panose="02040503050406030204" pitchFamily="18" charset="0"/>
                                    </a:rPr>
                                  </m:ctrlPr>
                                </m:sSubPr>
                                <m:e>
                                  <m:r>
                                    <a:rPr lang="zh-CN" altLang="en-US" i="1">
                                      <a:latin typeface="Cambria Math" panose="02040503050406030204" pitchFamily="18" charset="0"/>
                                    </a:rPr>
                                    <m:t>𝑑</m:t>
                                  </m:r>
                                </m:e>
                                <m:sub>
                                  <m:r>
                                    <m:rPr>
                                      <m:sty m:val="p"/>
                                    </m:rPr>
                                    <a:rPr lang="zh-CN" altLang="en-US" i="0">
                                      <a:latin typeface="Cambria Math" panose="02040503050406030204" pitchFamily="18" charset="0"/>
                                    </a:rPr>
                                    <m:t>min</m:t>
                                  </m:r>
                                </m:sub>
                              </m:sSub>
                            </m:e>
                          </m:d>
                        </m:sup>
                      </m:sSup>
                      <m:r>
                        <a:rPr lang="zh-CN" altLang="en-US" i="0">
                          <a:latin typeface="Cambria Math" panose="02040503050406030204" pitchFamily="18" charset="0"/>
                        </a:rPr>
                        <m:t>=</m:t>
                      </m:r>
                      <m:sSup>
                        <m:sSupPr>
                          <m:ctrlPr>
                            <a:rPr lang="zh-CN" altLang="en-US" i="1">
                              <a:latin typeface="Cambria Math" panose="02040503050406030204" pitchFamily="18" charset="0"/>
                            </a:rPr>
                          </m:ctrlPr>
                        </m:sSupPr>
                        <m:e>
                          <m:r>
                            <a:rPr lang="zh-CN" altLang="en-US" i="1">
                              <a:latin typeface="Cambria Math" panose="02040503050406030204" pitchFamily="18" charset="0"/>
                            </a:rPr>
                            <m:t>𝑒</m:t>
                          </m:r>
                        </m:e>
                        <m:sup>
                          <m:r>
                            <a:rPr lang="zh-CN" altLang="en-US" i="1">
                              <a:latin typeface="Cambria Math" panose="02040503050406030204" pitchFamily="18" charset="0"/>
                            </a:rPr>
                            <m:t>𝑘</m:t>
                          </m:r>
                          <m:sSub>
                            <m:sSubPr>
                              <m:ctrlPr>
                                <a:rPr lang="zh-CN" altLang="en-US" i="1">
                                  <a:latin typeface="Cambria Math" panose="02040503050406030204" pitchFamily="18" charset="0"/>
                                </a:rPr>
                              </m:ctrlPr>
                            </m:sSubPr>
                            <m:e>
                              <m:r>
                                <a:rPr lang="zh-CN" altLang="en-US" i="1">
                                  <a:latin typeface="Cambria Math" panose="02040503050406030204" pitchFamily="18" charset="0"/>
                                </a:rPr>
                                <m:t>𝑑</m:t>
                              </m:r>
                            </m:e>
                            <m:sub>
                              <m:r>
                                <m:rPr>
                                  <m:sty m:val="p"/>
                                </m:rPr>
                                <a:rPr lang="zh-CN" altLang="en-US" i="0">
                                  <a:latin typeface="Cambria Math" panose="02040503050406030204" pitchFamily="18" charset="0"/>
                                </a:rPr>
                                <m:t>min</m:t>
                              </m:r>
                            </m:sub>
                          </m:sSub>
                        </m:sup>
                      </m:sSup>
                      <m:sSub>
                        <m:sSubPr>
                          <m:ctrlPr>
                            <a:rPr lang="zh-CN" altLang="en-US" i="1">
                              <a:latin typeface="Cambria Math" panose="02040503050406030204" pitchFamily="18" charset="0"/>
                            </a:rPr>
                          </m:ctrlPr>
                        </m:sSubPr>
                        <m:e>
                          <m:r>
                            <a:rPr lang="zh-CN" altLang="en-US" i="1">
                              <a:latin typeface="Cambria Math" panose="02040503050406030204" pitchFamily="18" charset="0"/>
                            </a:rPr>
                            <m:t>𝑠</m:t>
                          </m:r>
                        </m:e>
                        <m:sub>
                          <m:r>
                            <a:rPr lang="zh-CN" altLang="en-US" i="1">
                              <a:latin typeface="Cambria Math" panose="02040503050406030204" pitchFamily="18" charset="0"/>
                            </a:rPr>
                            <m:t>𝑖</m:t>
                          </m:r>
                        </m:sub>
                      </m:sSub>
                    </m:oMath>
                  </m:oMathPara>
                </a14:m>
                <a:endParaRPr lang="zh-CN" altLang="en-US" dirty="0"/>
              </a:p>
            </p:txBody>
          </p:sp>
        </mc:Choice>
        <mc:Fallback xmlns="">
          <p:sp>
            <p:nvSpPr>
              <p:cNvPr id="7" name="文本框 6">
                <a:extLst>
                  <a:ext uri="{FF2B5EF4-FFF2-40B4-BE49-F238E27FC236}">
                    <a16:creationId xmlns:a16="http://schemas.microsoft.com/office/drawing/2014/main" id="{0562E3EF-4717-2C15-6CB3-229B012FA486}"/>
                  </a:ext>
                </a:extLst>
              </p:cNvPr>
              <p:cNvSpPr txBox="1">
                <a:spLocks noRot="1" noChangeAspect="1" noMove="1" noResize="1" noEditPoints="1" noAdjustHandles="1" noChangeArrowheads="1" noChangeShapeType="1" noTextEdit="1"/>
              </p:cNvSpPr>
              <p:nvPr/>
            </p:nvSpPr>
            <p:spPr>
              <a:xfrm>
                <a:off x="-1097280" y="1963344"/>
                <a:ext cx="6096000" cy="387927"/>
              </a:xfrm>
              <a:prstGeom prst="rect">
                <a:avLst/>
              </a:prstGeom>
              <a:blipFill>
                <a:blip r:embed="rId2"/>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9" name="文本框 8">
                <a:extLst>
                  <a:ext uri="{FF2B5EF4-FFF2-40B4-BE49-F238E27FC236}">
                    <a16:creationId xmlns:a16="http://schemas.microsoft.com/office/drawing/2014/main" id="{7C2BB2BE-EE8D-D831-C361-FF42FC9BBC19}"/>
                  </a:ext>
                </a:extLst>
              </p:cNvPr>
              <p:cNvSpPr txBox="1"/>
              <p:nvPr/>
            </p:nvSpPr>
            <p:spPr>
              <a:xfrm>
                <a:off x="-1314026" y="2351271"/>
                <a:ext cx="6529492" cy="673005"/>
              </a:xfrm>
              <a:prstGeom prst="rect">
                <a:avLst/>
              </a:prstGeom>
              <a:noFill/>
            </p:spPr>
            <p:txBody>
              <a:bodyPr wrap="square">
                <a:spAutoFit/>
              </a:bodyPr>
              <a:lstStyle/>
              <a:p>
                <a:pPr/>
                <a14:m>
                  <m:oMathPara xmlns:m="http://schemas.openxmlformats.org/officeDocument/2006/math">
                    <m:oMath>
                      <m:f>
                        <m:fPr>
                          <m:ctrlPr>
                            <a:rPr lang="zh-CN" altLang="en-US" i="1">
                              <a:latin typeface="Cambria Math" panose="02040503050406030204" pitchFamily="18" charset="0"/>
                            </a:rPr>
                          </m:ctrlPr>
                        </m:fPr>
                        <m:num>
                          <m:r>
                            <a:rPr lang="zh-CN" altLang="en-US" i="1">
                              <a:latin typeface="Cambria Math" panose="02040503050406030204" pitchFamily="18" charset="0"/>
                            </a:rPr>
                            <m:t>𝑠</m:t>
                          </m:r>
                          <m:sSub>
                            <m:sSubPr>
                              <m:ctrlPr>
                                <a:rPr lang="zh-CN" altLang="en-US" i="0">
                                  <a:latin typeface="Cambria Math" panose="02040503050406030204" pitchFamily="18" charset="0"/>
                                </a:rPr>
                              </m:ctrlPr>
                            </m:sSubPr>
                            <m:e>
                              <m:r>
                                <a:rPr lang="zh-CN" altLang="en-US" i="0">
                                  <a:latin typeface="Cambria Math" panose="02040503050406030204" pitchFamily="18" charset="0"/>
                                </a:rPr>
                                <m:t>′</m:t>
                              </m:r>
                            </m:e>
                            <m:sub>
                              <m:r>
                                <a:rPr lang="zh-CN" altLang="en-US" i="1">
                                  <a:latin typeface="Cambria Math" panose="02040503050406030204" pitchFamily="18" charset="0"/>
                                </a:rPr>
                                <m:t>𝑖</m:t>
                              </m:r>
                            </m:sub>
                          </m:sSub>
                          <m:r>
                            <a:rPr lang="zh-CN" altLang="en-US" i="0">
                              <a:latin typeface="Cambria Math" panose="02040503050406030204" pitchFamily="18" charset="0"/>
                            </a:rPr>
                            <m:t>−</m:t>
                          </m:r>
                          <m:acc>
                            <m:accPr>
                              <m:chr m:val="̅"/>
                              <m:ctrlPr>
                                <a:rPr lang="zh-CN" altLang="en-US" i="1">
                                  <a:latin typeface="Cambria Math" panose="02040503050406030204" pitchFamily="18" charset="0"/>
                                </a:rPr>
                              </m:ctrlPr>
                            </m:accPr>
                            <m:e>
                              <m:r>
                                <a:rPr lang="zh-CN" altLang="en-US" i="1">
                                  <a:latin typeface="Cambria Math" panose="02040503050406030204" pitchFamily="18" charset="0"/>
                                </a:rPr>
                                <m:t>𝑠</m:t>
                              </m:r>
                            </m:e>
                          </m:acc>
                          <m:r>
                            <a:rPr lang="zh-CN" altLang="en-US" i="0">
                              <a:latin typeface="Cambria Math" panose="02040503050406030204" pitchFamily="18" charset="0"/>
                            </a:rPr>
                            <m:t>′</m:t>
                          </m:r>
                        </m:num>
                        <m:den>
                          <m:r>
                            <m:rPr>
                              <m:sty m:val="p"/>
                            </m:rPr>
                            <a:rPr lang="zh-CN" altLang="en-US" i="0">
                              <a:latin typeface="Cambria Math" panose="02040503050406030204" pitchFamily="18" charset="0"/>
                            </a:rPr>
                            <m:t>SD</m:t>
                          </m:r>
                          <m:d>
                            <m:dPr>
                              <m:ctrlPr>
                                <a:rPr lang="zh-CN" altLang="en-US" i="1">
                                  <a:latin typeface="Cambria Math" panose="02040503050406030204" pitchFamily="18" charset="0"/>
                                </a:rPr>
                              </m:ctrlPr>
                            </m:dPr>
                            <m:e>
                              <m:r>
                                <a:rPr lang="zh-CN" altLang="en-US" i="1">
                                  <a:latin typeface="Cambria Math" panose="02040503050406030204" pitchFamily="18" charset="0"/>
                                </a:rPr>
                                <m:t>𝑠</m:t>
                              </m:r>
                              <m:r>
                                <a:rPr lang="zh-CN" altLang="en-US" i="0">
                                  <a:latin typeface="Cambria Math" panose="02040503050406030204" pitchFamily="18" charset="0"/>
                                </a:rPr>
                                <m:t>′</m:t>
                              </m:r>
                            </m:e>
                          </m:d>
                        </m:den>
                      </m:f>
                      <m:r>
                        <a:rPr lang="zh-CN" altLang="en-US" i="0">
                          <a:latin typeface="Cambria Math" panose="02040503050406030204" pitchFamily="18" charset="0"/>
                        </a:rPr>
                        <m:t>=</m:t>
                      </m:r>
                      <m:f>
                        <m:fPr>
                          <m:ctrlPr>
                            <a:rPr lang="zh-CN" altLang="en-US" i="1">
                              <a:latin typeface="Cambria Math" panose="02040503050406030204" pitchFamily="18" charset="0"/>
                            </a:rPr>
                          </m:ctrlPr>
                        </m:fPr>
                        <m:num>
                          <m:sSub>
                            <m:sSubPr>
                              <m:ctrlPr>
                                <a:rPr lang="zh-CN" altLang="en-US" i="1">
                                  <a:latin typeface="Cambria Math" panose="02040503050406030204" pitchFamily="18" charset="0"/>
                                </a:rPr>
                              </m:ctrlPr>
                            </m:sSubPr>
                            <m:e>
                              <m:r>
                                <a:rPr lang="zh-CN" altLang="en-US" i="1">
                                  <a:latin typeface="Cambria Math" panose="02040503050406030204" pitchFamily="18" charset="0"/>
                                </a:rPr>
                                <m:t>𝑠</m:t>
                              </m:r>
                            </m:e>
                            <m:sub>
                              <m:r>
                                <a:rPr lang="zh-CN" altLang="en-US" i="1">
                                  <a:latin typeface="Cambria Math" panose="02040503050406030204" pitchFamily="18" charset="0"/>
                                </a:rPr>
                                <m:t>𝑖</m:t>
                              </m:r>
                            </m:sub>
                          </m:sSub>
                          <m:r>
                            <a:rPr lang="zh-CN" altLang="en-US" i="0">
                              <a:latin typeface="Cambria Math" panose="02040503050406030204" pitchFamily="18" charset="0"/>
                            </a:rPr>
                            <m:t>−</m:t>
                          </m:r>
                          <m:acc>
                            <m:accPr>
                              <m:chr m:val="̅"/>
                              <m:ctrlPr>
                                <a:rPr lang="zh-CN" altLang="en-US" i="1">
                                  <a:latin typeface="Cambria Math" panose="02040503050406030204" pitchFamily="18" charset="0"/>
                                </a:rPr>
                              </m:ctrlPr>
                            </m:accPr>
                            <m:e>
                              <m:r>
                                <a:rPr lang="zh-CN" altLang="en-US" i="1">
                                  <a:latin typeface="Cambria Math" panose="02040503050406030204" pitchFamily="18" charset="0"/>
                                </a:rPr>
                                <m:t>𝑠</m:t>
                              </m:r>
                            </m:e>
                          </m:acc>
                        </m:num>
                        <m:den>
                          <m:r>
                            <m:rPr>
                              <m:sty m:val="p"/>
                            </m:rPr>
                            <a:rPr lang="zh-CN" altLang="en-US" i="0">
                              <a:latin typeface="Cambria Math" panose="02040503050406030204" pitchFamily="18" charset="0"/>
                            </a:rPr>
                            <m:t>SD</m:t>
                          </m:r>
                          <m:d>
                            <m:dPr>
                              <m:ctrlPr>
                                <a:rPr lang="zh-CN" altLang="en-US" i="1">
                                  <a:latin typeface="Cambria Math" panose="02040503050406030204" pitchFamily="18" charset="0"/>
                                </a:rPr>
                              </m:ctrlPr>
                            </m:dPr>
                            <m:e>
                              <m:r>
                                <a:rPr lang="zh-CN" altLang="en-US" i="1">
                                  <a:latin typeface="Cambria Math" panose="02040503050406030204" pitchFamily="18" charset="0"/>
                                </a:rPr>
                                <m:t>𝑠</m:t>
                              </m:r>
                            </m:e>
                          </m:d>
                        </m:den>
                      </m:f>
                    </m:oMath>
                  </m:oMathPara>
                </a14:m>
                <a:endParaRPr lang="zh-CN" altLang="en-US" dirty="0"/>
              </a:p>
            </p:txBody>
          </p:sp>
        </mc:Choice>
        <mc:Fallback xmlns="">
          <p:sp>
            <p:nvSpPr>
              <p:cNvPr id="9" name="文本框 8">
                <a:extLst>
                  <a:ext uri="{FF2B5EF4-FFF2-40B4-BE49-F238E27FC236}">
                    <a16:creationId xmlns:a16="http://schemas.microsoft.com/office/drawing/2014/main" id="{7C2BB2BE-EE8D-D831-C361-FF42FC9BBC19}"/>
                  </a:ext>
                </a:extLst>
              </p:cNvPr>
              <p:cNvSpPr txBox="1">
                <a:spLocks noRot="1" noChangeAspect="1" noMove="1" noResize="1" noEditPoints="1" noAdjustHandles="1" noChangeArrowheads="1" noChangeShapeType="1" noTextEdit="1"/>
              </p:cNvSpPr>
              <p:nvPr/>
            </p:nvSpPr>
            <p:spPr>
              <a:xfrm>
                <a:off x="-1314026" y="2351271"/>
                <a:ext cx="6529492" cy="673005"/>
              </a:xfrm>
              <a:prstGeom prst="rect">
                <a:avLst/>
              </a:prstGeom>
              <a:blipFill>
                <a:blip r:embed="rId3"/>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1" name="文本框 10">
                <a:extLst>
                  <a:ext uri="{FF2B5EF4-FFF2-40B4-BE49-F238E27FC236}">
                    <a16:creationId xmlns:a16="http://schemas.microsoft.com/office/drawing/2014/main" id="{1F955E85-2B9D-FE24-0031-635759EA75DB}"/>
                  </a:ext>
                </a:extLst>
              </p:cNvPr>
              <p:cNvSpPr txBox="1"/>
              <p:nvPr/>
            </p:nvSpPr>
            <p:spPr>
              <a:xfrm>
                <a:off x="-2155454" y="916069"/>
                <a:ext cx="6753012" cy="374270"/>
              </a:xfrm>
              <a:prstGeom prst="rect">
                <a:avLst/>
              </a:prstGeom>
              <a:noFill/>
            </p:spPr>
            <p:txBody>
              <a:bodyPr wrap="square">
                <a:spAutoFit/>
              </a:bodyPr>
              <a:lstStyle/>
              <a:p>
                <a:pPr/>
                <a14:m>
                  <m:oMathPara xmlns:m="http://schemas.openxmlformats.org/officeDocument/2006/math">
                    <m:oMath>
                      <m:sSub>
                        <m:sSubPr>
                          <m:ctrlPr>
                            <a:rPr lang="zh-CN" altLang="en-US" i="1">
                              <a:latin typeface="Cambria Math" panose="02040503050406030204" pitchFamily="18" charset="0"/>
                            </a:rPr>
                          </m:ctrlPr>
                        </m:sSubPr>
                        <m:e>
                          <m:r>
                            <a:rPr lang="zh-CN" altLang="en-US" i="1">
                              <a:latin typeface="Cambria Math" panose="02040503050406030204" pitchFamily="18" charset="0"/>
                            </a:rPr>
                            <m:t>𝑠</m:t>
                          </m:r>
                        </m:e>
                        <m:sub>
                          <m:r>
                            <a:rPr lang="zh-CN" altLang="en-US" i="1">
                              <a:latin typeface="Cambria Math" panose="02040503050406030204" pitchFamily="18" charset="0"/>
                            </a:rPr>
                            <m:t>𝑖</m:t>
                          </m:r>
                        </m:sub>
                      </m:sSub>
                      <m:r>
                        <a:rPr lang="zh-CN" altLang="en-US" i="0">
                          <a:latin typeface="Cambria Math" panose="02040503050406030204" pitchFamily="18" charset="0"/>
                        </a:rPr>
                        <m:t>=</m:t>
                      </m:r>
                      <m:sSup>
                        <m:sSupPr>
                          <m:ctrlPr>
                            <a:rPr lang="zh-CN" altLang="en-US" i="1">
                              <a:latin typeface="Cambria Math" panose="02040503050406030204" pitchFamily="18" charset="0"/>
                            </a:rPr>
                          </m:ctrlPr>
                        </m:sSupPr>
                        <m:e>
                          <m:r>
                            <a:rPr lang="zh-CN" altLang="en-US" i="1">
                              <a:latin typeface="Cambria Math" panose="02040503050406030204" pitchFamily="18" charset="0"/>
                            </a:rPr>
                            <m:t>𝑒</m:t>
                          </m:r>
                        </m:e>
                        <m:sup>
                          <m:r>
                            <a:rPr lang="zh-CN" altLang="en-US" i="0">
                              <a:latin typeface="Cambria Math" panose="02040503050406030204" pitchFamily="18" charset="0"/>
                            </a:rPr>
                            <m:t>−</m:t>
                          </m:r>
                          <m:r>
                            <a:rPr lang="zh-CN" altLang="en-US" i="1">
                              <a:latin typeface="Cambria Math" panose="02040503050406030204" pitchFamily="18" charset="0"/>
                            </a:rPr>
                            <m:t>𝑘</m:t>
                          </m:r>
                          <m:sSub>
                            <m:sSubPr>
                              <m:ctrlPr>
                                <a:rPr lang="zh-CN" altLang="en-US" i="1">
                                  <a:latin typeface="Cambria Math" panose="02040503050406030204" pitchFamily="18" charset="0"/>
                                </a:rPr>
                              </m:ctrlPr>
                            </m:sSubPr>
                            <m:e>
                              <m:r>
                                <a:rPr lang="zh-CN" altLang="en-US" i="1">
                                  <a:latin typeface="Cambria Math" panose="02040503050406030204" pitchFamily="18" charset="0"/>
                                </a:rPr>
                                <m:t>𝑑</m:t>
                              </m:r>
                            </m:e>
                            <m:sub>
                              <m:r>
                                <a:rPr lang="zh-CN" altLang="en-US" i="1">
                                  <a:latin typeface="Cambria Math" panose="02040503050406030204" pitchFamily="18" charset="0"/>
                                </a:rPr>
                                <m:t>𝑖</m:t>
                              </m:r>
                            </m:sub>
                          </m:sSub>
                        </m:sup>
                      </m:sSup>
                    </m:oMath>
                  </m:oMathPara>
                </a14:m>
                <a:endParaRPr lang="zh-CN" altLang="en-US" dirty="0"/>
              </a:p>
            </p:txBody>
          </p:sp>
        </mc:Choice>
        <mc:Fallback xmlns="">
          <p:sp>
            <p:nvSpPr>
              <p:cNvPr id="11" name="文本框 10">
                <a:extLst>
                  <a:ext uri="{FF2B5EF4-FFF2-40B4-BE49-F238E27FC236}">
                    <a16:creationId xmlns:a16="http://schemas.microsoft.com/office/drawing/2014/main" id="{1F955E85-2B9D-FE24-0031-635759EA75DB}"/>
                  </a:ext>
                </a:extLst>
              </p:cNvPr>
              <p:cNvSpPr txBox="1">
                <a:spLocks noRot="1" noChangeAspect="1" noMove="1" noResize="1" noEditPoints="1" noAdjustHandles="1" noChangeArrowheads="1" noChangeShapeType="1" noTextEdit="1"/>
              </p:cNvSpPr>
              <p:nvPr/>
            </p:nvSpPr>
            <p:spPr>
              <a:xfrm>
                <a:off x="-2155454" y="916069"/>
                <a:ext cx="6753012" cy="374270"/>
              </a:xfrm>
              <a:prstGeom prst="rect">
                <a:avLst/>
              </a:prstGeom>
              <a:blipFill>
                <a:blip r:embed="rId4"/>
                <a:stretch>
                  <a:fillRect/>
                </a:stretch>
              </a:blipFill>
            </p:spPr>
            <p:txBody>
              <a:bodyPr/>
              <a:lstStyle/>
              <a:p>
                <a:r>
                  <a:rPr lang="zh-CN" altLang="en-US">
                    <a:noFill/>
                  </a:rPr>
                  <a:t> </a:t>
                </a:r>
              </a:p>
            </p:txBody>
          </p:sp>
        </mc:Fallback>
      </mc:AlternateContent>
      <p:sp>
        <p:nvSpPr>
          <p:cNvPr id="13" name="文本框 12">
            <a:extLst>
              <a:ext uri="{FF2B5EF4-FFF2-40B4-BE49-F238E27FC236}">
                <a16:creationId xmlns:a16="http://schemas.microsoft.com/office/drawing/2014/main" id="{FAB58378-F4AA-22A9-46AB-6D7A17863F9A}"/>
              </a:ext>
            </a:extLst>
          </p:cNvPr>
          <p:cNvSpPr txBox="1"/>
          <p:nvPr/>
        </p:nvSpPr>
        <p:spPr>
          <a:xfrm>
            <a:off x="257355" y="389130"/>
            <a:ext cx="7174302" cy="380873"/>
          </a:xfrm>
          <a:prstGeom prst="rect">
            <a:avLst/>
          </a:prstGeom>
          <a:noFill/>
        </p:spPr>
        <p:txBody>
          <a:bodyPr wrap="square">
            <a:spAutoFit/>
          </a:bodyPr>
          <a:lstStyle/>
          <a:p>
            <a:r>
              <a:rPr lang="en-US" altLang="zh-CN" sz="1875" b="0" dirty="0">
                <a:solidFill>
                  <a:srgbClr val="263340"/>
                </a:solidFill>
                <a:latin typeface="Arial"/>
                <a:ea typeface="Arial"/>
                <a:cs typeface="Arial"/>
              </a:rPr>
              <a:t>Origin</a:t>
            </a:r>
            <a:endParaRPr lang="zh-CN" altLang="en-US" dirty="0"/>
          </a:p>
        </p:txBody>
      </p:sp>
    </p:spTree>
    <p:extLst>
      <p:ext uri="{BB962C8B-B14F-4D97-AF65-F5344CB8AC3E}">
        <p14:creationId xmlns:p14="http://schemas.microsoft.com/office/powerpoint/2010/main" val="192088172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矩形 6">
            <a:extLst>
              <a:ext uri="{FF2B5EF4-FFF2-40B4-BE49-F238E27FC236}">
                <a16:creationId xmlns:a16="http://schemas.microsoft.com/office/drawing/2014/main" id="{4B0EDE78-9B15-4362-B1A7-8DB1A24F05FD}"/>
              </a:ext>
            </a:extLst>
          </p:cNvPr>
          <p:cNvSpPr>
            <a:spLocks noGrp="1"/>
          </p:cNvSpPr>
          <p:nvPr/>
        </p:nvSpPr>
        <p:spPr>
          <a:xfrm>
            <a:off x="533400" y="285750"/>
            <a:ext cx="11125200" cy="609600"/>
          </a:xfrm>
          <a:prstGeom prst="rect">
            <a:avLst/>
          </a:prstGeom>
          <a:noFill/>
          <a:ln w="0">
            <a:noFill/>
          </a:ln>
        </p:spPr>
        <p:txBody>
          <a:bodyPr>
            <a:noAutofit/>
          </a:bodyPr>
          <a:lstStyle/>
          <a:p>
            <a:pPr>
              <a:defRPr sz="3300" b="1">
                <a:solidFill>
                  <a:srgbClr val="172E45"/>
                </a:solidFill>
                <a:latin typeface="Arial"/>
                <a:ea typeface="Arial"/>
                <a:cs typeface="Arial"/>
              </a:defRPr>
            </a:pPr>
            <a:r>
              <a:rPr sz="3300" b="1" dirty="0">
                <a:solidFill>
                  <a:srgbClr val="172E45"/>
                </a:solidFill>
                <a:latin typeface="Arial"/>
                <a:ea typeface="Arial"/>
                <a:cs typeface="Arial"/>
              </a:rPr>
              <a:t>Acoustic baselines rival </a:t>
            </a:r>
            <a:r>
              <a:rPr sz="3300" b="1" dirty="0" err="1">
                <a:solidFill>
                  <a:srgbClr val="172E45"/>
                </a:solidFill>
                <a:latin typeface="Arial"/>
                <a:ea typeface="Arial"/>
                <a:cs typeface="Arial"/>
              </a:rPr>
              <a:t>HuBERT</a:t>
            </a:r>
            <a:r>
              <a:rPr sz="3300" b="1" dirty="0">
                <a:solidFill>
                  <a:srgbClr val="172E45"/>
                </a:solidFill>
                <a:latin typeface="Arial"/>
                <a:ea typeface="Arial"/>
                <a:cs typeface="Arial"/>
              </a:rPr>
              <a:t> in AN19</a:t>
            </a:r>
          </a:p>
        </p:txBody>
      </p:sp>
      <p:sp>
        <p:nvSpPr>
          <p:cNvPr id="2" name="矩形 1">
            <a:extLst>
              <a:ext uri="{FF2B5EF4-FFF2-40B4-BE49-F238E27FC236}">
                <a16:creationId xmlns:a16="http://schemas.microsoft.com/office/drawing/2014/main" id="{08DD3CD2-3E95-4AC2-AECE-FDC87296902E}"/>
              </a:ext>
            </a:extLst>
          </p:cNvPr>
          <p:cNvSpPr>
            <a:spLocks noGrp="1"/>
          </p:cNvSpPr>
          <p:nvPr/>
        </p:nvSpPr>
        <p:spPr>
          <a:xfrm>
            <a:off x="533400" y="990600"/>
            <a:ext cx="11125200" cy="342900"/>
          </a:xfrm>
          <a:prstGeom prst="rect">
            <a:avLst/>
          </a:prstGeom>
          <a:noFill/>
          <a:ln w="0">
            <a:noFill/>
          </a:ln>
        </p:spPr>
        <p:txBody>
          <a:bodyPr>
            <a:noAutofit/>
          </a:bodyPr>
          <a:lstStyle/>
          <a:p>
            <a:pPr>
              <a:defRPr sz="1875" b="0">
                <a:solidFill>
                  <a:srgbClr val="53616E"/>
                </a:solidFill>
                <a:latin typeface="Arial"/>
                <a:ea typeface="Arial"/>
                <a:cs typeface="Arial"/>
              </a:defRPr>
            </a:pPr>
            <a:r>
              <a:rPr sz="1875" b="0">
                <a:solidFill>
                  <a:srgbClr val="53616E"/>
                </a:solidFill>
                <a:latin typeface="Arial"/>
                <a:ea typeface="Arial"/>
                <a:cs typeface="Arial"/>
              </a:rPr>
              <a:t>Historical test-fold refits: three-fold mean z, with HuBERT shown at Tr-24</a:t>
            </a:r>
          </a:p>
        </p:txBody>
      </p:sp>
      <p:graphicFrame>
        <p:nvGraphicFramePr>
          <p:cNvPr id="9" name="Chart"/>
          <p:cNvGraphicFramePr/>
          <p:nvPr/>
        </p:nvGraphicFramePr>
        <p:xfrm>
          <a:off x="685800" y="1466850"/>
          <a:ext cx="10820400" cy="3790950"/>
        </p:xfrm>
        <a:graphic>
          <a:graphicData uri="http://schemas.openxmlformats.org/drawingml/2006/chart">
            <c:chart xmlns:c="http://schemas.openxmlformats.org/drawingml/2006/chart" xmlns:r="http://schemas.openxmlformats.org/officeDocument/2006/relationships" r:id="rId3"/>
          </a:graphicData>
        </a:graphic>
      </p:graphicFrame>
      <p:sp>
        <p:nvSpPr>
          <p:cNvPr id="4" name="矩形 3">
            <a:extLst>
              <a:ext uri="{FF2B5EF4-FFF2-40B4-BE49-F238E27FC236}">
                <a16:creationId xmlns:a16="http://schemas.microsoft.com/office/drawing/2014/main" id="{E4E93BFF-B0FA-4409-84A9-BE168ADA2185}"/>
              </a:ext>
            </a:extLst>
          </p:cNvPr>
          <p:cNvSpPr>
            <a:spLocks noGrp="1"/>
          </p:cNvSpPr>
          <p:nvPr/>
        </p:nvSpPr>
        <p:spPr>
          <a:xfrm>
            <a:off x="628650" y="5429250"/>
            <a:ext cx="10953750" cy="342900"/>
          </a:xfrm>
          <a:prstGeom prst="rect">
            <a:avLst/>
          </a:prstGeom>
          <a:noFill/>
          <a:ln w="0">
            <a:noFill/>
          </a:ln>
        </p:spPr>
        <p:txBody>
          <a:bodyPr>
            <a:noAutofit/>
          </a:bodyPr>
          <a:lstStyle/>
          <a:p>
            <a:pPr>
              <a:defRPr sz="2025" b="1">
                <a:solidFill>
                  <a:srgbClr val="172E45"/>
                </a:solidFill>
                <a:latin typeface="Arial"/>
                <a:ea typeface="Arial"/>
                <a:cs typeface="Arial"/>
              </a:defRPr>
            </a:pPr>
            <a:r>
              <a:rPr sz="2025" b="1" dirty="0">
                <a:solidFill>
                  <a:srgbClr val="172E45"/>
                </a:solidFill>
                <a:latin typeface="Arial"/>
                <a:ea typeface="Arial"/>
                <a:cs typeface="Arial"/>
              </a:rPr>
              <a:t>AN19 STRF also matches the best base layer: 13.94 vs 13.69 (Tr-12).</a:t>
            </a:r>
          </a:p>
        </p:txBody>
      </p:sp>
      <p:sp>
        <p:nvSpPr>
          <p:cNvPr id="5" name="矩形 4">
            <a:extLst>
              <a:ext uri="{FF2B5EF4-FFF2-40B4-BE49-F238E27FC236}">
                <a16:creationId xmlns:a16="http://schemas.microsoft.com/office/drawing/2014/main" id="{7290BC40-3881-42FA-ACDC-E86F0DCEC94B}"/>
              </a:ext>
            </a:extLst>
          </p:cNvPr>
          <p:cNvSpPr>
            <a:spLocks noGrp="1"/>
          </p:cNvSpPr>
          <p:nvPr/>
        </p:nvSpPr>
        <p:spPr>
          <a:xfrm>
            <a:off x="628650" y="5848350"/>
            <a:ext cx="10953750" cy="361950"/>
          </a:xfrm>
          <a:prstGeom prst="rect">
            <a:avLst/>
          </a:prstGeom>
          <a:noFill/>
          <a:ln w="0">
            <a:noFill/>
          </a:ln>
        </p:spPr>
        <p:txBody>
          <a:bodyPr>
            <a:noAutofit/>
          </a:bodyPr>
          <a:lstStyle/>
          <a:p>
            <a:pPr>
              <a:defRPr sz="1875" b="0">
                <a:solidFill>
                  <a:srgbClr val="263340"/>
                </a:solidFill>
                <a:latin typeface="Arial"/>
                <a:ea typeface="Arial"/>
                <a:cs typeface="Arial"/>
              </a:defRPr>
            </a:pPr>
            <a:r>
              <a:rPr sz="1875" b="0" dirty="0">
                <a:solidFill>
                  <a:srgbClr val="263340"/>
                </a:solidFill>
                <a:latin typeface="Arial"/>
                <a:ea typeface="Arial"/>
                <a:cs typeface="Arial"/>
              </a:rPr>
              <a:t>X21 shows a clearer </a:t>
            </a:r>
            <a:r>
              <a:rPr sz="1875" b="0" dirty="0" err="1">
                <a:solidFill>
                  <a:srgbClr val="263340"/>
                </a:solidFill>
                <a:latin typeface="Arial"/>
                <a:ea typeface="Arial"/>
                <a:cs typeface="Arial"/>
              </a:rPr>
              <a:t>HuBERT</a:t>
            </a:r>
            <a:r>
              <a:rPr sz="1875" b="0" dirty="0">
                <a:solidFill>
                  <a:srgbClr val="263340"/>
                </a:solidFill>
                <a:latin typeface="Arial"/>
                <a:ea typeface="Arial"/>
                <a:cs typeface="Arial"/>
              </a:rPr>
              <a:t> advantage. The cause of this difference remains open.</a:t>
            </a:r>
          </a:p>
        </p:txBody>
      </p:sp>
      <p:sp>
        <p:nvSpPr>
          <p:cNvPr id="6" name="矩形 5">
            <a:extLst>
              <a:ext uri="{FF2B5EF4-FFF2-40B4-BE49-F238E27FC236}">
                <a16:creationId xmlns:a16="http://schemas.microsoft.com/office/drawing/2014/main" id="{D7BBBEFA-8A5E-45E9-90A0-0955C6BBD48A}"/>
              </a:ext>
            </a:extLst>
          </p:cNvPr>
          <p:cNvSpPr>
            <a:spLocks noGrp="1"/>
          </p:cNvSpPr>
          <p:nvPr/>
        </p:nvSpPr>
        <p:spPr>
          <a:xfrm>
            <a:off x="628650" y="6381750"/>
            <a:ext cx="10953750" cy="276225"/>
          </a:xfrm>
          <a:prstGeom prst="rect">
            <a:avLst/>
          </a:prstGeom>
          <a:noFill/>
          <a:ln w="0">
            <a:noFill/>
          </a:ln>
        </p:spPr>
        <p:txBody>
          <a:bodyPr>
            <a:noAutofit/>
          </a:bodyPr>
          <a:lstStyle/>
          <a:p>
            <a:pPr>
              <a:defRPr sz="1500" b="0">
                <a:solidFill>
                  <a:srgbClr val="687582"/>
                </a:solidFill>
                <a:latin typeface="Arial"/>
                <a:ea typeface="Arial"/>
                <a:cs typeface="Arial"/>
              </a:defRPr>
            </a:pPr>
            <a:r>
              <a:rPr sz="1500" b="0">
                <a:solidFill>
                  <a:srgbClr val="687582"/>
                </a:solidFill>
                <a:latin typeface="Arial"/>
                <a:ea typeface="Arial"/>
                <a:cs typeface="Arial"/>
              </a:rPr>
              <a:t>Descriptive rankings. A paired test of representation differences is still needed.</a:t>
            </a:r>
          </a:p>
        </p:txBody>
      </p:sp>
    </p:spTree>
    <p:extLst>
      <p:ext uri="{BB962C8B-B14F-4D97-AF65-F5344CB8AC3E}">
        <p14:creationId xmlns:p14="http://schemas.microsoft.com/office/powerpoint/2010/main" val="23118138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矩形 6">
            <a:extLst>
              <a:ext uri="{FF2B5EF4-FFF2-40B4-BE49-F238E27FC236}">
                <a16:creationId xmlns:a16="http://schemas.microsoft.com/office/drawing/2014/main" id="{77578A20-6261-4564-BE4A-97133FF74534}"/>
              </a:ext>
            </a:extLst>
          </p:cNvPr>
          <p:cNvSpPr>
            <a:spLocks noGrp="1"/>
          </p:cNvSpPr>
          <p:nvPr/>
        </p:nvSpPr>
        <p:spPr>
          <a:xfrm>
            <a:off x="533400" y="285750"/>
            <a:ext cx="11125200" cy="609600"/>
          </a:xfrm>
          <a:prstGeom prst="rect">
            <a:avLst/>
          </a:prstGeom>
          <a:noFill/>
          <a:ln w="0">
            <a:noFill/>
          </a:ln>
        </p:spPr>
        <p:txBody>
          <a:bodyPr>
            <a:noAutofit/>
          </a:bodyPr>
          <a:lstStyle/>
          <a:p>
            <a:pPr>
              <a:defRPr sz="3300" b="1">
                <a:solidFill>
                  <a:srgbClr val="172E45"/>
                </a:solidFill>
                <a:latin typeface="Arial"/>
                <a:ea typeface="Arial"/>
                <a:cs typeface="Arial"/>
              </a:defRPr>
            </a:pPr>
            <a:r>
              <a:rPr sz="3300" b="1">
                <a:solidFill>
                  <a:srgbClr val="172E45"/>
                </a:solidFill>
                <a:latin typeface="Arial"/>
                <a:ea typeface="Arial"/>
                <a:cs typeface="Arial"/>
              </a:rPr>
              <a:t>A clue in AN19: differences between words</a:t>
            </a:r>
          </a:p>
        </p:txBody>
      </p:sp>
      <p:sp>
        <p:nvSpPr>
          <p:cNvPr id="2" name="矩形 1">
            <a:extLst>
              <a:ext uri="{FF2B5EF4-FFF2-40B4-BE49-F238E27FC236}">
                <a16:creationId xmlns:a16="http://schemas.microsoft.com/office/drawing/2014/main" id="{A7CA244D-F2DA-41C1-A07F-4A40310B9C41}"/>
              </a:ext>
            </a:extLst>
          </p:cNvPr>
          <p:cNvSpPr>
            <a:spLocks noGrp="1"/>
          </p:cNvSpPr>
          <p:nvPr/>
        </p:nvSpPr>
        <p:spPr>
          <a:xfrm>
            <a:off x="533400" y="990600"/>
            <a:ext cx="11125200" cy="342900"/>
          </a:xfrm>
          <a:prstGeom prst="rect">
            <a:avLst/>
          </a:prstGeom>
          <a:noFill/>
          <a:ln w="0">
            <a:noFill/>
          </a:ln>
        </p:spPr>
        <p:txBody>
          <a:bodyPr>
            <a:noAutofit/>
          </a:bodyPr>
          <a:lstStyle/>
          <a:p>
            <a:pPr>
              <a:defRPr sz="1875" b="0">
                <a:solidFill>
                  <a:srgbClr val="53616E"/>
                </a:solidFill>
                <a:latin typeface="Arial"/>
                <a:ea typeface="Arial"/>
                <a:cs typeface="Arial"/>
              </a:defRPr>
            </a:pPr>
            <a:r>
              <a:rPr sz="1875" b="0">
                <a:solidFill>
                  <a:srgbClr val="53616E"/>
                </a:solidFill>
                <a:latin typeface="Arial"/>
                <a:ea typeface="Arial"/>
                <a:cs typeface="Arial"/>
              </a:rPr>
              <a:t>Current fixed-distance predictors: correlation with mean listener accuracy</a:t>
            </a:r>
          </a:p>
        </p:txBody>
      </p:sp>
      <p:graphicFrame>
        <p:nvGraphicFramePr>
          <p:cNvPr id="9" name="Chart"/>
          <p:cNvGraphicFramePr/>
          <p:nvPr/>
        </p:nvGraphicFramePr>
        <p:xfrm>
          <a:off x="685800" y="1466850"/>
          <a:ext cx="10820400" cy="3790950"/>
        </p:xfrm>
        <a:graphic>
          <a:graphicData uri="http://schemas.openxmlformats.org/drawingml/2006/chart">
            <c:chart xmlns:c="http://schemas.openxmlformats.org/drawingml/2006/chart" xmlns:r="http://schemas.openxmlformats.org/officeDocument/2006/relationships" r:id="rId3"/>
          </a:graphicData>
        </a:graphic>
      </p:graphicFrame>
      <p:sp>
        <p:nvSpPr>
          <p:cNvPr id="4" name="矩形 3">
            <a:extLst>
              <a:ext uri="{FF2B5EF4-FFF2-40B4-BE49-F238E27FC236}">
                <a16:creationId xmlns:a16="http://schemas.microsoft.com/office/drawing/2014/main" id="{FDB44DCA-7A89-4F72-8929-43CB3D6D0E11}"/>
              </a:ext>
            </a:extLst>
          </p:cNvPr>
          <p:cNvSpPr>
            <a:spLocks noGrp="1"/>
          </p:cNvSpPr>
          <p:nvPr/>
        </p:nvSpPr>
        <p:spPr>
          <a:xfrm>
            <a:off x="628650" y="5429250"/>
            <a:ext cx="10953750" cy="361950"/>
          </a:xfrm>
          <a:prstGeom prst="rect">
            <a:avLst/>
          </a:prstGeom>
          <a:noFill/>
          <a:ln w="0">
            <a:noFill/>
          </a:ln>
        </p:spPr>
        <p:txBody>
          <a:bodyPr>
            <a:noAutofit/>
          </a:bodyPr>
          <a:lstStyle/>
          <a:p>
            <a:pPr>
              <a:defRPr sz="2100" b="1">
                <a:solidFill>
                  <a:srgbClr val="172E45"/>
                </a:solidFill>
                <a:latin typeface="Arial"/>
                <a:ea typeface="Arial"/>
                <a:cs typeface="Arial"/>
              </a:defRPr>
            </a:pPr>
            <a:r>
              <a:rPr sz="2100" b="1">
                <a:solidFill>
                  <a:srgbClr val="172E45"/>
                </a:solidFill>
                <a:latin typeface="Arial"/>
                <a:ea typeface="Arial"/>
                <a:cs typeface="Arial"/>
              </a:rPr>
              <a:t>After word centering, HuBERT has the stronger association.</a:t>
            </a:r>
          </a:p>
        </p:txBody>
      </p:sp>
      <p:sp>
        <p:nvSpPr>
          <p:cNvPr id="5" name="矩形 4">
            <a:extLst>
              <a:ext uri="{FF2B5EF4-FFF2-40B4-BE49-F238E27FC236}">
                <a16:creationId xmlns:a16="http://schemas.microsoft.com/office/drawing/2014/main" id="{E0C5C91C-0555-49DE-A799-A3869C1CC658}"/>
              </a:ext>
            </a:extLst>
          </p:cNvPr>
          <p:cNvSpPr>
            <a:spLocks noGrp="1"/>
          </p:cNvSpPr>
          <p:nvPr/>
        </p:nvSpPr>
        <p:spPr>
          <a:xfrm>
            <a:off x="628650" y="5857875"/>
            <a:ext cx="10953750" cy="361950"/>
          </a:xfrm>
          <a:prstGeom prst="rect">
            <a:avLst/>
          </a:prstGeom>
          <a:noFill/>
          <a:ln w="0">
            <a:noFill/>
          </a:ln>
        </p:spPr>
        <p:txBody>
          <a:bodyPr>
            <a:noAutofit/>
          </a:bodyPr>
          <a:lstStyle/>
          <a:p>
            <a:pPr>
              <a:defRPr sz="1800" b="0">
                <a:solidFill>
                  <a:srgbClr val="263340"/>
                </a:solidFill>
                <a:latin typeface="Arial"/>
                <a:ea typeface="Arial"/>
                <a:cs typeface="Arial"/>
              </a:defRPr>
            </a:pPr>
            <a:r>
              <a:rPr sz="1800" b="0">
                <a:solidFill>
                  <a:srgbClr val="263340"/>
                </a:solidFill>
                <a:latin typeface="Arial"/>
                <a:ea typeface="Arial"/>
                <a:cs typeface="Arial"/>
              </a:rPr>
              <a:t>Word-dependent variation is a plausible contributor. Its acoustic source remains unresolved.</a:t>
            </a:r>
          </a:p>
        </p:txBody>
      </p:sp>
      <p:sp>
        <p:nvSpPr>
          <p:cNvPr id="6" name="矩形 5">
            <a:extLst>
              <a:ext uri="{FF2B5EF4-FFF2-40B4-BE49-F238E27FC236}">
                <a16:creationId xmlns:a16="http://schemas.microsoft.com/office/drawing/2014/main" id="{2AF883FF-2819-46F7-B17C-C6B2DB401E68}"/>
              </a:ext>
            </a:extLst>
          </p:cNvPr>
          <p:cNvSpPr>
            <a:spLocks noGrp="1"/>
          </p:cNvSpPr>
          <p:nvPr/>
        </p:nvSpPr>
        <p:spPr>
          <a:xfrm>
            <a:off x="628650" y="6372225"/>
            <a:ext cx="10953750" cy="295275"/>
          </a:xfrm>
          <a:prstGeom prst="rect">
            <a:avLst/>
          </a:prstGeom>
          <a:noFill/>
          <a:ln w="0">
            <a:noFill/>
          </a:ln>
        </p:spPr>
        <p:txBody>
          <a:bodyPr>
            <a:noAutofit/>
          </a:bodyPr>
          <a:lstStyle/>
          <a:p>
            <a:pPr>
              <a:defRPr sz="1500" b="0">
                <a:solidFill>
                  <a:srgbClr val="687582"/>
                </a:solidFill>
                <a:latin typeface="Arial"/>
                <a:ea typeface="Arial"/>
                <a:cs typeface="Arial"/>
              </a:defRPr>
            </a:pPr>
            <a:r>
              <a:rPr sz="1500" b="0">
                <a:solidFill>
                  <a:srgbClr val="687582"/>
                </a:solidFill>
                <a:latin typeface="Arial"/>
                <a:ea typeface="Arial"/>
                <a:cs typeface="Arial"/>
              </a:rPr>
              <a:t>574 condition × recording cells, 48 words. Equal cell weights. Descriptive r, without inference.</a:t>
            </a:r>
          </a:p>
        </p:txBody>
      </p:sp>
    </p:spTree>
    <p:extLst>
      <p:ext uri="{BB962C8B-B14F-4D97-AF65-F5344CB8AC3E}">
        <p14:creationId xmlns:p14="http://schemas.microsoft.com/office/powerpoint/2010/main" val="205218437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图片 1"/>
          <p:cNvPicPr>
            <a:picLocks noChangeAspect="1"/>
          </p:cNvPicPr>
          <p:nvPr/>
        </p:nvPicPr>
        <p:blipFill>
          <a:blip r:embed="rId3"/>
          <a:stretch/>
        </p:blipFill>
        <p:spPr>
          <a:xfrm>
            <a:off x="228600" y="364913"/>
            <a:ext cx="11734800" cy="6128173"/>
          </a:xfrm>
          <a:prstGeom prst="rect">
            <a:avLst/>
          </a:prstGeom>
        </p:spPr>
      </p:pic>
    </p:spTree>
    <p:extLst>
      <p:ext uri="{BB962C8B-B14F-4D97-AF65-F5344CB8AC3E}">
        <p14:creationId xmlns:p14="http://schemas.microsoft.com/office/powerpoint/2010/main" val="27368068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图片 1"/>
          <p:cNvPicPr>
            <a:picLocks noChangeAspect="1"/>
          </p:cNvPicPr>
          <p:nvPr/>
        </p:nvPicPr>
        <p:blipFill>
          <a:blip r:embed="rId3"/>
          <a:stretch/>
        </p:blipFill>
        <p:spPr>
          <a:xfrm>
            <a:off x="228600" y="364913"/>
            <a:ext cx="11734800" cy="6128173"/>
          </a:xfrm>
          <a:prstGeom prst="rect">
            <a:avLst/>
          </a:prstGeom>
        </p:spPr>
      </p:pic>
    </p:spTree>
    <p:extLst>
      <p:ext uri="{BB962C8B-B14F-4D97-AF65-F5344CB8AC3E}">
        <p14:creationId xmlns:p14="http://schemas.microsoft.com/office/powerpoint/2010/main" val="125801121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图片 1"/>
          <p:cNvPicPr>
            <a:picLocks noChangeAspect="1"/>
          </p:cNvPicPr>
          <p:nvPr/>
        </p:nvPicPr>
        <p:blipFill>
          <a:blip r:embed="rId3"/>
          <a:stretch/>
        </p:blipFill>
        <p:spPr>
          <a:xfrm>
            <a:off x="228600" y="364913"/>
            <a:ext cx="11734800" cy="6128173"/>
          </a:xfrm>
          <a:prstGeom prst="rect">
            <a:avLst/>
          </a:prstGeom>
        </p:spPr>
      </p:pic>
    </p:spTree>
    <p:extLst>
      <p:ext uri="{BB962C8B-B14F-4D97-AF65-F5344CB8AC3E}">
        <p14:creationId xmlns:p14="http://schemas.microsoft.com/office/powerpoint/2010/main" val="122020201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图片 1"/>
          <p:cNvPicPr>
            <a:picLocks noChangeAspect="1"/>
          </p:cNvPicPr>
          <p:nvPr/>
        </p:nvPicPr>
        <p:blipFill>
          <a:blip r:embed="rId3"/>
          <a:stretch/>
        </p:blipFill>
        <p:spPr>
          <a:xfrm>
            <a:off x="228600" y="364913"/>
            <a:ext cx="11734800" cy="6128173"/>
          </a:xfrm>
          <a:prstGeom prst="rect">
            <a:avLst/>
          </a:prstGeom>
        </p:spPr>
      </p:pic>
    </p:spTree>
    <p:extLst>
      <p:ext uri="{BB962C8B-B14F-4D97-AF65-F5344CB8AC3E}">
        <p14:creationId xmlns:p14="http://schemas.microsoft.com/office/powerpoint/2010/main" val="92146237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图片 1"/>
          <p:cNvPicPr>
            <a:picLocks noChangeAspect="1"/>
          </p:cNvPicPr>
          <p:nvPr/>
        </p:nvPicPr>
        <p:blipFill>
          <a:blip r:embed="rId3"/>
          <a:stretch/>
        </p:blipFill>
        <p:spPr>
          <a:xfrm>
            <a:off x="228600" y="364913"/>
            <a:ext cx="11734800" cy="6128173"/>
          </a:xfrm>
          <a:prstGeom prst="rect">
            <a:avLst/>
          </a:prstGeom>
        </p:spPr>
      </p:pic>
    </p:spTree>
    <p:extLst>
      <p:ext uri="{BB962C8B-B14F-4D97-AF65-F5344CB8AC3E}">
        <p14:creationId xmlns:p14="http://schemas.microsoft.com/office/powerpoint/2010/main" val="116626290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图片 1"/>
          <p:cNvPicPr>
            <a:picLocks noChangeAspect="1"/>
          </p:cNvPicPr>
          <p:nvPr/>
        </p:nvPicPr>
        <p:blipFill>
          <a:blip r:embed="rId3"/>
          <a:stretch/>
        </p:blipFill>
        <p:spPr>
          <a:xfrm>
            <a:off x="228600" y="364913"/>
            <a:ext cx="11734800" cy="6128173"/>
          </a:xfrm>
          <a:prstGeom prst="rect">
            <a:avLst/>
          </a:prstGeom>
        </p:spPr>
      </p:pic>
    </p:spTree>
    <p:extLst>
      <p:ext uri="{BB962C8B-B14F-4D97-AF65-F5344CB8AC3E}">
        <p14:creationId xmlns:p14="http://schemas.microsoft.com/office/powerpoint/2010/main" val="356986316"/>
      </p:ext>
    </p:extLst>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ns0:Properties xmlns:ns0="http://schemas.openxmlformats.org/officeDocument/2006/extended-properties" xmlns:ns1="http://schemas.openxmlformats.org/officeDocument/2006/docPropsVTypes">
  <ns0:TotalTime>1795</ns0:TotalTime>
  <ns0:Words>3111</ns0:Words>
  <ns0:Application>Microsoft Office PowerPoint</ns0:Application>
  <ns0:DocSecurity>0</ns0:DocSecurity>
  <ns0:PresentationFormat/>
  <ns0:Paragraphs>86</ns0:Paragraphs>
  <ns0:Slides>11</ns0:Slides>
  <ns0:Notes>10</ns0:Notes>
  <ns0:HiddenSlides>0</ns0:HiddenSlides>
  <ns0:MMClips>0</ns0:MMClips>
  <ns0:ScaleCrop>false</ns0:ScaleCrop>
  <ns0:HeadingPairs>
    <ns1:vector size="6" baseType="variant">
      <ns1:variant>
        <ns1:lpstr/>
      </ns1:variant>
      <ns1:variant>
        <ns1:i4>3</ns1:i4>
      </ns1:variant>
      <ns1:variant>
        <ns1:lpstr/>
      </ns1:variant>
      <ns1:variant>
        <ns1:i4>2</ns1:i4>
      </ns1:variant>
      <ns1:variant>
        <ns1:lpstr/>
      </ns1:variant>
      <ns1:variant>
        <ns1:i4>11</ns1:i4>
      </ns1:variant>
    </ns1:vector>
  </ns0:HeadingPairs>
  <ns0:TitlesOfParts>
    <ns1:vector size="16" baseType="lpstr">
      <ns1:lpstr>Arial</ns1:lpstr>
      <ns1:lpstr>Calibri</ns1:lpstr>
      <ns1:lpstr>Cambria Math</ns1:lpstr>
      <ns1:lpstr>ChatGPT</ns1:lpstr>
      <ns1:lpstr>ChatGPT</ns1:lpstr>
      <ns1:lpstr/>
      <ns1:lpstr/>
      <ns1:lpstr/>
      <ns1:lpstr/>
      <ns1:lpstr/>
      <ns1:lpstr/>
      <ns1:lpstr/>
      <ns1:lpstr/>
      <ns1:lpstr/>
      <ns1:lpstr/>
      <ns1:lpstr/>
    </ns1:vector>
  </ns0:TitlesOfParts>
  <ns0:LinksUpToDate>false</ns0:LinksUpToDate>
  <ns0:SharedDoc>false</ns0:SharedDoc>
  <ns0:HyperlinksChanged>false</ns0:HyperlinksChanged>
  <ns0:AppVersion>16.0000</ns0:AppVersion>
</ns0: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Alex Jin</cp:lastModifiedBy>
  <cp:revision>3</cp:revision>
  <dcterms:created xsi:type="dcterms:W3CDTF">2026-09-18T05:45:59Z</dcterms:created>
  <dcterms:modified xsi:type="dcterms:W3CDTF">2026-09-21T06:02:17Z</dcterms:modified>
</cp:coreProperties>
</file>