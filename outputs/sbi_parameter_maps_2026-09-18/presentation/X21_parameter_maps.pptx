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sbi_added_core.xml" ContentType="application/vnd.openxmlformats-package.core-properties+xml"/>
  <Override PartName="/docProps/sbi_added_app.xml" ContentType="application/vnd.openxmlformats-officedocument.extended-properties+xml"/>
  <Override PartName="/ppt/sbi_added_presentation.xml" ContentType="application/vnd.openxmlformats-officedocument.presentationml.presentation.main+xml"/>
  <Override PartName="/ppt/theme/sbi_added_theme1.xml" ContentType="application/vnd.openxmlformats-officedocument.theme+xml"/>
  <Override PartName="/ppt/slideMasters/sbi_added_slideMaster1.xml" ContentType="application/vnd.openxmlformats-officedocument.presentationml.slideMaster+xml"/>
  <Override PartName="/ppt/slideMasters/theme/sbi_added_theme2.xml" ContentType="application/vnd.openxmlformats-officedocument.theme+xml"/>
  <Override PartName="/ppt/slideLayouts/sbi_added_slideLayout1.xml" ContentType="application/vnd.openxmlformats-officedocument.presentationml.slideLayout+xml"/>
  <Override PartName="/ppt/notesMasters/sbi_added_notesMaster1.xml" ContentType="application/vnd.openxmlformats-officedocument.presentationml.notesMaster+xml"/>
  <Override PartName="/ppt/notesMasters/theme/sbi_added_theme3.xml" ContentType="application/vnd.openxmlformats-officedocument.theme+xml"/>
  <Override PartName="/ppt/sbi_added_presProps.xml" ContentType="application/vnd.openxmlformats-officedocument.presentationml.presProps+xml"/>
  <Override PartName="/ppt/sbi_added_tableStyles.xml" ContentType="application/vnd.openxmlformats-officedocument.presentationml.tableStyles+xml"/>
  <Override PartName="/ppt/slides/sbi_added_slide1.xml" ContentType="application/vnd.openxmlformats-officedocument.presentationml.slide+xml"/>
  <Override PartName="/ppt/notesSlides/sbi_added_notesSlide1.xml" ContentType="application/vnd.openxmlformats-officedocument.presentationml.notesSlide+xml"/>
  <Override PartName="/ppt/slides/sbi_added_slide2.xml" ContentType="application/vnd.openxmlformats-officedocument.presentationml.slide+xml"/>
  <Override PartName="/ppt/notesSlides/sbi_added_notesSlide2.xml" ContentType="application/vnd.openxmlformats-officedocument.presentationml.notesSlide+xml"/>
  <Override PartName="/ppt/slides/sbi_added_slide3.xml" ContentType="application/vnd.openxmlformats-officedocument.presentationml.slide+xml"/>
  <Override PartName="/ppt/notesSlides/sbi_added_notesSlide3.xml" ContentType="application/vnd.openxmlformats-officedocument.presentationml.notesSlide+xml"/>
  <Override PartName="/ppt/slides/sbi_added_slide4.xml" ContentType="application/vnd.openxmlformats-officedocument.presentationml.slide+xml"/>
  <Override PartName="/ppt/notesSlides/sbi_added_notesSlide4.xml" ContentType="application/vnd.openxmlformats-officedocument.presentationml.notesSlide+xml"/>
  <Override PartName="/ppt/slides/sbi_added_slide5.xml" ContentType="application/vnd.openxmlformats-officedocument.presentationml.slide+xml"/>
  <Override PartName="/ppt/notesSlides/sbi_added_notesSlide5.xml" ContentType="application/vnd.openxmlformats-officedocument.presentationml.notesSlide+xml"/>
  <Override PartName="/ppt/slides/sbi_added_slide6.xml" ContentType="application/vnd.openxmlformats-officedocument.presentationml.slide+xml"/>
  <Override PartName="/ppt/notesSlides/sbi_added_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p="http://schemas.openxmlformats.org/presentationml/2006/main" xmlns:r="http://schemas.openxmlformats.org/officeDocument/2006/relationships">
  <p:sldMasterIdLst>
    <p:sldMasterId id="2147483648" r:id="rId1"/>
    <p:sldMasterId id="2147483649" r:id="rIdSBIDiagnosticssldMasterIdLst0"/>
  </p:sldMasterIdLst>
  <p:notesMasterIdLst>
    <p:notesMasterId r:id="rId6"/>
    <p:notesMasterId r:id="rIdSBIDiagnosticsnotesMasterIdLst0"/>
  </p:notesMasterIdLst>
  <p:sldIdLst>
    <p:sldId id="256" r:id="rId2"/>
    <p:sldId id="257" r:id="rId3"/>
    <p:sldId id="258" r:id="rId4"/>
    <p:sldId id="259" r:id="rId5"/>
    <p:sldId id="260" r:id="rIdSBIDiagnosticssldIdLst0"/>
    <p:sldId id="261" r:id="rIdSBIDiagnosticssldIdLst1"/>
    <p:sldId id="262" r:id="rIdSBIDiagnosticssldIdLst2"/>
    <p:sldId id="263" r:id="rIdSBIDiagnosticssldIdLst3"/>
    <p:sldId id="264" r:id="rIdSBIDiagnosticssldIdLst4"/>
    <p:sldId id="265" r:id="rIdSBIDiagnosticssldIdLst5"/>
  </p:sldIdLst>
  <p:sldSz cx="12192000" cy="6858000"/>
  <p:notesSz cx="6858000" cy="9144000"/>
  <p:defaultTextStyle>
    <ns2:defPPr>
      <ns2:defRPr lang="zh-CN"/>
    </ns2:defPPr>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sbi_added_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sbi_added_presentation.xml><?xml version="1.0" encoding="utf-8"?>
<p:presentation xmlns:p="http://schemas.openxmlformats.org/presentationml/2006/main">
  <p:sldMasterIdLst>
    <p:sldMasterId xmlns:r="http://schemas.openxmlformats.org/officeDocument/2006/relationships" id="2147483648" r:id="R3a0ae18329644ec1"/>
  </p:sldMasterIdLst>
  <p:notesMasterIdLst>
    <p:notesMasterId xmlns:r="http://schemas.openxmlformats.org/officeDocument/2006/relationships" r:id="Rdd195af0d5da487e"/>
  </p:notesMasterIdLst>
  <p:sldIdLst>
    <p:sldId xmlns:r="http://schemas.openxmlformats.org/officeDocument/2006/relationships" id="256" r:id="R2df0299ac6694261"/>
    <p:sldId xmlns:r="http://schemas.openxmlformats.org/officeDocument/2006/relationships" id="257" r:id="R7e959ec94f72498d"/>
    <p:sldId xmlns:r="http://schemas.openxmlformats.org/officeDocument/2006/relationships" id="258" r:id="R81067a9046a34a99"/>
    <p:sldId xmlns:r="http://schemas.openxmlformats.org/officeDocument/2006/relationships" id="259" r:id="R437f1942af72446e"/>
    <p:sldId xmlns:r="http://schemas.openxmlformats.org/officeDocument/2006/relationships" id="260" r:id="R4b442fa46e7f4e67"/>
    <p:sldId xmlns:r="http://schemas.openxmlformats.org/officeDocument/2006/relationships" id="261" r:id="R7a2bd1134a8c40f4"/>
  </p:sldIdLst>
  <p:sldSz cx="12192000" cy="6858000"/>
  <p:notesSz cx="6858000" cy="9144000"/>
</p:presentation>
</file>

<file path=ppt/sbi_added_tableStyles.xml><?xml version="1.0" encoding="utf-8"?>
<a:tblStyleLst xmlns:a="http://schemas.openxmlformats.org/drawingml/2006/main" def="{5C22544A-7EE6-4342-B048-85BDC9FD1C3A}"/>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387" autoAdjust="0"/>
  </p:normalViewPr>
  <p:slideViewPr>
    <p:cSldViewPr snapToGrid="0">
      <p:cViewPr varScale="1">
        <p:scale>
          <a:sx n="99" d="100"/>
          <a:sy n="99" d="100"/>
        </p:scale>
        <p:origin x="748" y="60"/>
      </p:cViewPr>
      <p:guideLst/>
    </p:cSldViewPr>
  </p:slideViewPr>
  <p:notesTextViewPr>
    <p:cViewPr>
      <p:scale>
        <a:sx n="1" d="1"/>
        <a:sy n="1" d="1"/>
      </p:scale>
      <p:origin x="0" y="-2040"/>
    </p:cViewPr>
  </p:notesTextViewPr>
  <p:gridSpacing cx="72008" cy="72008"/>
</p:viewPr>
</file>

<file path=ppt/_rels/presentation.xml.rels><?xml version='1.0' encoding='utf-8'?>
<ns0:Relationships xmlns:ns0="http://schemas.openxmlformats.org/package/2006/relationships"><ns0:Relationship Id="rId8" Type="http://schemas.openxmlformats.org/officeDocument/2006/relationships/viewProps" Target="viewProps.xml" /><ns0:Relationship Id="rId3" Type="http://schemas.openxmlformats.org/officeDocument/2006/relationships/slide" Target="slides/slide2.xml" /><ns0:Relationship Id="rId7" Type="http://schemas.openxmlformats.org/officeDocument/2006/relationships/presProps" Target="presProps.xml" /><ns0:Relationship Id="rId2" Type="http://schemas.openxmlformats.org/officeDocument/2006/relationships/slide" Target="slides/slide1.xml" /><ns0:Relationship Id="rId1" Type="http://schemas.openxmlformats.org/officeDocument/2006/relationships/slideMaster" Target="slideMasters/slideMaster1.xml" /><ns0:Relationship Id="rId6" Type="http://schemas.openxmlformats.org/officeDocument/2006/relationships/notesMaster" Target="notesMasters/notesMaster1.xml" /><ns0:Relationship Id="rId5" Type="http://schemas.openxmlformats.org/officeDocument/2006/relationships/slide" Target="slides/slide4.xml" /><ns0:Relationship Id="rId10" Type="http://schemas.openxmlformats.org/officeDocument/2006/relationships/tableStyles" Target="tableStyles.xml" /><ns0:Relationship Id="rId4" Type="http://schemas.openxmlformats.org/officeDocument/2006/relationships/slide" Target="slides/slide3.xml" /><ns0:Relationship Id="rId9" Type="http://schemas.openxmlformats.org/officeDocument/2006/relationships/theme" Target="theme/theme1.xml" /><ns0:Relationship Id="rIdSBIDiagnosticssldMasterIdLst0" Type="http://schemas.openxmlformats.org/officeDocument/2006/relationships/slideMaster" Target="slideMasters/sbi_added_slideMaster1.xml" /><ns0:Relationship Id="rIdSBIDiagnosticsnotesMasterIdLst0" Type="http://schemas.openxmlformats.org/officeDocument/2006/relationships/notesMaster" Target="notesMasters/sbi_added_notesMaster1.xml" /><ns0:Relationship Id="rIdSBIDiagnosticssldIdLst0" Type="http://schemas.openxmlformats.org/officeDocument/2006/relationships/slide" Target="slides/sbi_added_slide1.xml" /><ns0:Relationship Id="rIdSBIDiagnosticssldIdLst1" Type="http://schemas.openxmlformats.org/officeDocument/2006/relationships/slide" Target="slides/sbi_added_slide2.xml" /><ns0:Relationship Id="rIdSBIDiagnosticssldIdLst2" Type="http://schemas.openxmlformats.org/officeDocument/2006/relationships/slide" Target="slides/sbi_added_slide3.xml" /><ns0:Relationship Id="rIdSBIDiagnosticssldIdLst3" Type="http://schemas.openxmlformats.org/officeDocument/2006/relationships/slide" Target="slides/sbi_added_slide4.xml" /><ns0:Relationship Id="rIdSBIDiagnosticssldIdLst4" Type="http://schemas.openxmlformats.org/officeDocument/2006/relationships/slide" Target="slides/sbi_added_slide5.xml" /><ns0:Relationship Id="rIdSBIDiagnosticssldIdLst5" Type="http://schemas.openxmlformats.org/officeDocument/2006/relationships/slide" Target="slides/sbi_added_slide6.xml" /></ns0:Relationships>
</file>

<file path=ppt/_rels/sbi_added_presentation.xml.rels><?xml version='1.0' encoding='utf-8'?>
<ns0:Relationships xmlns:ns0="http://schemas.openxmlformats.org/package/2006/relationships"><ns0:Relationship Type="http://schemas.openxmlformats.org/officeDocument/2006/relationships/theme" Target="theme/sbi_added_theme1.xml" Id="R9c8fbc6bd1b64f92" /><ns0:Relationship Type="http://schemas.openxmlformats.org/officeDocument/2006/relationships/slideMaster" Target="slideMasters/sbi_added_slideMaster1.xml" Id="R3a0ae18329644ec1" /><ns0:Relationship Type="http://schemas.openxmlformats.org/officeDocument/2006/relationships/notesMaster" Target="notesMasters/sbi_added_notesMaster1.xml" Id="Rdd195af0d5da487e" /><ns0:Relationship Type="http://schemas.openxmlformats.org/officeDocument/2006/relationships/presProps" Target="sbi_added_presProps.xml" Id="Rdf7f047e163848d0" /><ns0:Relationship Type="http://schemas.openxmlformats.org/officeDocument/2006/relationships/tableStyles" Target="sbi_added_tableStyles.xml" Id="R519fc3c1df674a2b" /><ns0:Relationship Type="http://schemas.openxmlformats.org/officeDocument/2006/relationships/slide" Target="slides/sbi_added_slide1.xml" Id="R2df0299ac6694261" /><ns0:Relationship Type="http://schemas.openxmlformats.org/officeDocument/2006/relationships/slide" Target="slides/sbi_added_slide2.xml" Id="R7e959ec94f72498d" /><ns0:Relationship Type="http://schemas.openxmlformats.org/officeDocument/2006/relationships/slide" Target="slides/sbi_added_slide3.xml" Id="R81067a9046a34a99" /><ns0:Relationship Type="http://schemas.openxmlformats.org/officeDocument/2006/relationships/slide" Target="slides/sbi_added_slide4.xml" Id="R437f1942af72446e" /><ns0:Relationship Type="http://schemas.openxmlformats.org/officeDocument/2006/relationships/slide" Target="slides/sbi_added_slide5.xml" Id="R4b442fa46e7f4e67" /><ns0:Relationship Type="http://schemas.openxmlformats.org/officeDocument/2006/relationships/slide" Target="slides/sbi_added_slide6.xml" Id="R7a2bd1134a8c40f4" /></ns0: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ns0:chartSpace xmlns:ns0="http://schemas.openxmlformats.org/drawingml/2006/chart" xmlns:ns1="http://schemas.openxmlformats.org/drawingml/2006/main" xmlns:ns2="http://schemas.microsoft.com/office/drawing/2012/chart" xmlns:ns3="http://schemas.microsoft.com/office/drawing/2007/8/2/chart" xmlns:ns4="http://schemas.microsoft.com/office/drawing/2014/chart" xmlns:r="http://schemas.openxmlformats.org/officeDocument/2006/relationships">
  <ns0:date1904 val="1"/>
  <ns0:lang val="zh-CN"/>
  <ns0:roundedCorners val="1"/>
  <ns0:style val="2"/>
  <ns0:chart>
    <ns0:autoTitleDeleted val="1"/>
    <ns0:plotArea>
      <ns0:layout/>
      <ns0:barChart>
        <ns0:barDir val="col"/>
        <ns0:grouping val="clustered"/>
        <ns0:varyColors val="0"/>
        <ns0:ser>
          <ns0:idx val="0"/>
          <ns0:order val="0"/>
          <ns0:tx>
            <ns0:v>MFCC39</ns0:v>
          </ns0:tx>
          <ns0:spPr>
            <ns1:solidFill>
              <ns1:srgbClr val="727A83"/>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Data'!$A$2:$A$3</ns0:f>
              <ns0:strCache>
                <ns0:ptCount val="2"/>
                <ns0:pt idx="0">
                  <ns0:v>AN19</ns0:v>
                </ns0:pt>
                <ns0:pt idx="1">
                  <ns0:v>X21</ns0:v>
                </ns0:pt>
              </ns0:strCache>
            </ns0:strRef>
          </ns0:cat>
          <ns0:val>
            <ns0:numRef>
              <ns0:f>'Chart Data'!$B$2:$B$3</ns0:f>
              <ns0:numCache>
                <ns0:formatCode>0.0</ns0:formatCode>
                <ns0:ptCount val="2"/>
                <ns0:pt idx="0">
                  <ns0:v>11.720367</ns0:v>
                </ns0:pt>
                <ns0:pt idx="1">
                  <ns0:v>5.73644</ns0:v>
                </ns0:pt>
              </ns0:numCache>
            </ns0:numRef>
          </ns0:val>
          <ns0:extLst>
            <ns0:ext uri="{6F2FDCE9-48DA-4B69-8628-5D25D57E5C99}">
              <ns3:invertSolidFillFmt>
                <ns3:spPr>
                  <ns1:solidFill>
                    <ns1:srgbClr val="FFFFFF"/>
                  </ns1:solidFill>
                </ns3:spPr>
              </ns3:invertSolidFillFmt>
            </ns0:ext>
            <ns0:ext uri="{C3380CC4-5D6E-409C-BE32-E72D297353CC}">
              <ns4:uniqueId val="{00000000-21F2-4F30-BE13-D54AE851B2CF}"/>
            </ns0:ext>
          </ns0:extLst>
        </ns0:ser>
        <ns0:ser>
          <ns0:idx val="1"/>
          <ns0:order val="1"/>
          <ns0:tx>
            <ns0:v>STRF24</ns0:v>
          </ns0:tx>
          <ns0:spPr>
            <ns1:solidFill>
              <ns1:srgbClr val="CC7837"/>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Data'!$C$2:$C$3</ns0:f>
              <ns0:strCache>
                <ns0:ptCount val="2"/>
                <ns0:pt idx="0">
                  <ns0:v>AN19</ns0:v>
                </ns0:pt>
                <ns0:pt idx="1">
                  <ns0:v>X21</ns0:v>
                </ns0:pt>
              </ns0:strCache>
            </ns0:strRef>
          </ns0:cat>
          <ns0:val>
            <ns0:numRef>
              <ns0:f>'Chart Data'!$D$2:$D$3</ns0:f>
              <ns0:numCache>
                <ns0:formatCode>0.0</ns0:formatCode>
                <ns0:ptCount val="2"/>
                <ns0:pt idx="0">
                  <ns0:v>13.942255</ns0:v>
                </ns0:pt>
                <ns0:pt idx="1">
                  <ns0:v>5.723491</ns0:v>
                </ns0:pt>
              </ns0:numCache>
            </ns0:numRef>
          </ns0:val>
          <ns0:extLst>
            <ns0:ext uri="{6F2FDCE9-48DA-4B69-8628-5D25D57E5C99}">
              <ns3:invertSolidFillFmt>
                <ns3:spPr>
                  <ns1:solidFill>
                    <ns1:srgbClr val="FFFFFF"/>
                  </ns1:solidFill>
                </ns3:spPr>
              </ns3:invertSolidFillFmt>
            </ns0:ext>
            <ns0:ext uri="{C3380CC4-5D6E-409C-BE32-E72D297353CC}">
              <ns4:uniqueId val="{00000001-21F2-4F30-BE13-D54AE851B2CF}"/>
            </ns0:ext>
          </ns0:extLst>
        </ns0:ser>
        <ns0:ser>
          <ns0:idx val="2"/>
          <ns0:order val="2"/>
          <ns0:tx>
            <ns0:v>HuBERT base Tr-24</ns0:v>
          </ns0:tx>
          <ns0:spPr>
            <ns1:solidFill>
              <ns1:srgbClr val="286499"/>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Data'!$E$2:$E$3</ns0:f>
              <ns0:strCache>
                <ns0:ptCount val="2"/>
                <ns0:pt idx="0">
                  <ns0:v>AN19</ns0:v>
                </ns0:pt>
                <ns0:pt idx="1">
                  <ns0:v>X21</ns0:v>
                </ns0:pt>
              </ns0:strCache>
            </ns0:strRef>
          </ns0:cat>
          <ns0:val>
            <ns0:numRef>
              <ns0:f>'Chart Data'!$F$2:$F$3</ns0:f>
              <ns0:numCache>
                <ns0:formatCode>0.0</ns0:formatCode>
                <ns0:ptCount val="2"/>
                <ns0:pt idx="0">
                  <ns0:v>10.825501</ns0:v>
                </ns0:pt>
                <ns0:pt idx="1">
                  <ns0:v>7.76177</ns0:v>
                </ns0:pt>
              </ns0:numCache>
            </ns0:numRef>
          </ns0:val>
          <ns0:extLst>
            <ns0:ext uri="{6F2FDCE9-48DA-4B69-8628-5D25D57E5C99}">
              <ns3:invertSolidFillFmt>
                <ns3:spPr>
                  <ns1:solidFill>
                    <ns1:srgbClr val="FFFFFF"/>
                  </ns1:solidFill>
                </ns3:spPr>
              </ns3:invertSolidFillFmt>
            </ns0:ext>
            <ns0:ext uri="{C3380CC4-5D6E-409C-BE32-E72D297353CC}">
              <ns4:uniqueId val="{00000002-21F2-4F30-BE13-D54AE851B2CF}"/>
            </ns0:ext>
          </ns0:extLst>
        </ns0:ser>
        <ns0:ser>
          <ns0:idx val="3"/>
          <ns0:order val="3"/>
          <ns0:tx>
            <ns0:v>HuBERT FT Tr-24</ns0:v>
          </ns0:tx>
          <ns0:spPr>
            <ns1:solidFill>
              <ns1:srgbClr val="198575"/>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Data'!$G$2:$G$3</ns0:f>
              <ns0:strCache>
                <ns0:ptCount val="2"/>
                <ns0:pt idx="0">
                  <ns0:v>AN19</ns0:v>
                </ns0:pt>
                <ns0:pt idx="1">
                  <ns0:v>X21</ns0:v>
                </ns0:pt>
              </ns0:strCache>
            </ns0:strRef>
          </ns0:cat>
          <ns0:val>
            <ns0:numRef>
              <ns0:f>'Chart Data'!$H$2:$H$3</ns0:f>
              <ns0:numCache>
                <ns0:formatCode>0.0</ns0:formatCode>
                <ns0:ptCount val="2"/>
                <ns0:pt idx="0">
                  <ns0:v>9.028088</ns0:v>
                </ns0:pt>
                <ns0:pt idx="1">
                  <ns0:v>7.679416</ns0:v>
                </ns0:pt>
              </ns0:numCache>
            </ns0:numRef>
          </ns0:val>
          <ns0:extLst>
            <ns0:ext uri="{6F2FDCE9-48DA-4B69-8628-5D25D57E5C99}">
              <ns3:invertSolidFillFmt>
                <ns3:spPr>
                  <ns1:solidFill>
                    <ns1:srgbClr val="FFFFFF"/>
                  </ns1:solidFill>
                </ns3:spPr>
              </ns3:invertSolidFillFmt>
            </ns0:ext>
            <ns0:ext uri="{C3380CC4-5D6E-409C-BE32-E72D297353CC}">
              <ns4:uniqueId val="{00000003-21F2-4F30-BE13-D54AE851B2CF}"/>
            </ns0:ext>
          </ns0:extLst>
        </ns0:ser>
        <ns0:dLbls>
          <ns0:dLblPos val="outEnd"/>
          <ns0:showLegendKey val="0"/>
          <ns0:showVal val="1"/>
          <ns0:showCatName val="0"/>
          <ns0:showSerName val="0"/>
          <ns0:showPercent val="0"/>
          <ns0:showBubbleSize val="0"/>
        </ns0:dLbls>
        <ns0:gapWidth val="110"/>
        <ns0:axId val="48650112"/>
        <ns0:axId val="48672768"/>
      </ns0:barChart>
      <ns0:catAx>
        <ns0:axId val="48650112"/>
        <ns0:scaling>
          <ns0:orientation val="minMax"/>
        </ns0:scaling>
        <ns0:delete val="0"/>
        <ns0:axPos val="b"/>
        <ns0:numFmt formatCode="General" sourceLinked="1"/>
        <ns0:majorTickMark val="none"/>
        <ns0:minorTickMark val="none"/>
        <ns0:tickLblPos val="nextTo"/>
        <ns0:spPr>
          <ns1:ln w="9525">
            <ns1:solidFill>
              <ns1:srgbClr val="D4D4D4"/>
            </ns1:solidFill>
            <ns1:prstDash val="solid"/>
          </ns1:ln>
        </ns0:spPr>
        <ns0:txPr>
          <ns1:bodyPr anchorCtr="1"/>
          <ns1:lstStyle/>
          <ns1:p>
            <ns1:pPr>
              <ns1:defRPr sz="1725">
                <ns1:solidFill>
                  <ns1:srgbClr val="666666"/>
                </ns1:solidFill>
                <ns1:latin typeface="Arial"/>
                <ns1:ea typeface="Arial"/>
                <ns1:cs typeface="Arial"/>
              </ns1:defRPr>
            </ns1:pPr>
            <ns1:endParaRPr lang="zh-CN"/>
          </ns1:p>
        </ns0:txPr>
        <ns0:crossAx val="48672768"/>
        <ns0:crosses val="autoZero"/>
        <ns0:auto val="1"/>
        <ns0:lblAlgn val="ctr"/>
        <ns0:lblOffset val="100"/>
        <ns0:noMultiLvlLbl val="1"/>
      </ns0:catAx>
      <ns0:valAx>
        <ns0:axId val="48672768"/>
        <ns0:scaling>
          <ns0:orientation val="minMax"/>
          <ns0:max val="16"/>
          <ns0:min val="0"/>
        </ns0:scaling>
        <ns0:delete val="0"/>
        <ns0:axPos val="l"/>
        <ns0:majorGridlines>
          <ns0:spPr>
            <ns1:ln w="9525">
              <ns1:solidFill>
                <ns1:srgbClr val="E3E6E9"/>
              </ns1:solidFill>
            </ns1:ln>
          </ns0:spPr>
        </ns0:majorGridlines>
        <ns0:title>
          <ns0:tx>
            <ns0:rich>
              <ns1:bodyPr/>
              <ns1:lstStyle/>
              <ns1:p>
                <ns1:r>
                  <ns1:rPr lang="en-US" sz="1575">
                    <ns1:latin typeface="Arial"/>
                    <ns1:ea typeface="Arial"/>
                    <ns1:cs typeface="Arial"/>
                  </ns1:rPr>
                  <ns1:t>Mean Wald z</ns1:t>
                </ns1:r>
              </ns1:p>
            </ns0:rich>
          </ns0:tx>
          <ns0:overlay val="0"/>
        </ns0:title>
        <ns0:numFmt formatCode="0.0" sourceLinked="1"/>
        <ns0:majorTickMark val="none"/>
        <ns0:minorTickMark val="none"/>
        <ns0:tickLblPos val="nextTo"/>
        <ns0:spPr>
          <ns1:ln w="9525">
            <ns1:solidFill>
              <ns1:srgbClr val="D4D4D4"/>
            </ns1:solidFill>
            <ns1:prstDash val="solid"/>
          </ns1:ln>
        </ns0:spPr>
        <ns0:txPr>
          <ns1:bodyPr anchorCtr="1"/>
          <ns1:lstStyle/>
          <ns1:p>
            <ns1:pPr>
              <ns1:defRPr sz="1425">
                <ns1:solidFill>
                  <ns1:srgbClr val="666666"/>
                </ns1:solidFill>
                <ns1:latin typeface="Arial"/>
                <ns1:ea typeface="Arial"/>
                <ns1:cs typeface="Arial"/>
              </ns1:defRPr>
            </ns1:pPr>
            <ns1:endParaRPr lang="zh-CN"/>
          </ns1:p>
        </ns0:txPr>
        <ns0:crossAx val="48650112"/>
        <ns0:crosses val="autoZero"/>
        <ns0:crossBetween val="between"/>
        <ns0:majorUnit val="4"/>
      </ns0:valAx>
      <ns0:spPr>
        <ns1:solidFill>
          <ns1:srgbClr val="FFFFFF"/>
        </ns1:solidFill>
      </ns0:spPr>
    </ns0:plotArea>
    <ns0:legend>
      <ns0:legendPos val="b"/>
      <ns0:overlay val="0"/>
      <ns0:txPr>
        <ns1:bodyPr anchorCtr="1"/>
        <ns1:lstStyle/>
        <ns1:p>
          <ns1:pPr>
            <ns1:defRPr sz="1500">
              <ns1:latin typeface="Arial"/>
              <ns1:ea typeface="Arial"/>
              <ns1:cs typeface="Arial"/>
            </ns1:defRPr>
          </ns1:pPr>
          <ns1:endParaRPr lang="zh-CN"/>
        </ns1:p>
      </ns0:txPr>
    </ns0:legend>
    <ns0:plotVisOnly val="1"/>
    <ns0:dispBlanksAs val="zero"/>
    <ns0:showDLblsOverMax val="1"/>
  </ns0:chart>
  <ns0:spPr>
    <ns1:solidFill>
      <ns1:srgbClr val="FFFFFF"/>
    </ns1:solidFill>
    <ns1:ln w="0">
      <ns1:noFill/>
    </ns1:ln>
  </ns0:spPr>
  <ns0:externalData r:id="rId1">
    <ns0:autoUpdate val="0"/>
  </ns0:externalData>
</ns0:chartSpace>
</file>

<file path=ppt/charts/chart2.xml><?xml version="1.0" encoding="utf-8"?>
<ns0:chartSpace xmlns:ns0="http://schemas.openxmlformats.org/drawingml/2006/chart" xmlns:ns1="http://schemas.openxmlformats.org/drawingml/2006/main" xmlns:ns2="http://schemas.microsoft.com/office/drawing/2012/chart" xmlns:ns3="http://schemas.microsoft.com/office/drawing/2007/8/2/chart" xmlns:ns4="http://schemas.microsoft.com/office/drawing/2014/chart" xmlns:r="http://schemas.openxmlformats.org/officeDocument/2006/relationships">
  <ns0:date1904 val="1"/>
  <ns0:lang val="zh-CN"/>
  <ns0:roundedCorners val="1"/>
  <ns0:style val="2"/>
  <ns0:chart>
    <ns0:autoTitleDeleted val="1"/>
    <ns0:plotArea>
      <ns0:layout/>
      <ns0:barChart>
        <ns0:barDir val="col"/>
        <ns0:grouping val="clustered"/>
        <ns0:varyColors val="0"/>
        <ns0:ser>
          <ns0:idx val="0"/>
          <ns0:order val="0"/>
          <ns0:tx>
            <ns0:v>MFCC39</ns0:v>
          </ns0:tx>
          <ns0:spPr>
            <ns1:solidFill>
              <ns1:srgbClr val="727A83"/>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Data'!$A$2:$A$3</ns0:f>
              <ns0:strCache>
                <ns0:ptCount val="2"/>
                <ns0:pt idx="0">
                  <ns0:v>Across all cells</ns0:v>
                </ns0:pt>
                <ns0:pt idx="1">
                  <ns0:v>After removing word means</ns0:v>
                </ns0:pt>
              </ns0:strCache>
            </ns0:strRef>
          </ns0:cat>
          <ns0:val>
            <ns0:numRef>
              <ns0:f>'Chart Data'!$B$2:$B$3</ns0:f>
              <ns0:numCache>
                <ns0:formatCode>0.00</ns0:formatCode>
                <ns0:ptCount val="2"/>
                <ns0:pt idx="0">
                  <ns0:v>0.375661</ns0:v>
                </ns0:pt>
                <ns0:pt idx="1">
                  <ns0:v>0.249149</ns0:v>
                </ns0:pt>
              </ns0:numCache>
            </ns0:numRef>
          </ns0:val>
          <ns0:extLst>
            <ns0:ext uri="{6F2FDCE9-48DA-4B69-8628-5D25D57E5C99}">
              <ns3:invertSolidFillFmt>
                <ns3:spPr>
                  <ns1:solidFill>
                    <ns1:srgbClr val="FFFFFF"/>
                  </ns1:solidFill>
                </ns3:spPr>
              </ns3:invertSolidFillFmt>
            </ns0:ext>
            <ns0:ext uri="{C3380CC4-5D6E-409C-BE32-E72D297353CC}">
              <ns4:uniqueId val="{00000000-0390-4F72-B2E2-CFB0772A61D8}"/>
            </ns0:ext>
          </ns0:extLst>
        </ns0:ser>
        <ns0:ser>
          <ns0:idx val="1"/>
          <ns0:order val="1"/>
          <ns0:tx>
            <ns0:v>STRF24</ns0:v>
          </ns0:tx>
          <ns0:spPr>
            <ns1:solidFill>
              <ns1:srgbClr val="CC7837"/>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Data'!$C$2:$C$3</ns0:f>
              <ns0:strCache>
                <ns0:ptCount val="2"/>
                <ns0:pt idx="0">
                  <ns0:v>Across all cells</ns0:v>
                </ns0:pt>
                <ns0:pt idx="1">
                  <ns0:v>After removing word means</ns0:v>
                </ns0:pt>
              </ns0:strCache>
            </ns0:strRef>
          </ns0:cat>
          <ns0:val>
            <ns0:numRef>
              <ns0:f>'Chart Data'!$D$2:$D$3</ns0:f>
              <ns0:numCache>
                <ns0:formatCode>0.00</ns0:formatCode>
                <ns0:ptCount val="2"/>
                <ns0:pt idx="0">
                  <ns0:v>0.456144</ns0:v>
                </ns0:pt>
                <ns0:pt idx="1">
                  <ns0:v>0.198126</ns0:v>
                </ns0:pt>
              </ns0:numCache>
            </ns0:numRef>
          </ns0:val>
          <ns0:extLst>
            <ns0:ext uri="{6F2FDCE9-48DA-4B69-8628-5D25D57E5C99}">
              <ns3:invertSolidFillFmt>
                <ns3:spPr>
                  <ns1:solidFill>
                    <ns1:srgbClr val="FFFFFF"/>
                  </ns1:solidFill>
                </ns3:spPr>
              </ns3:invertSolidFillFmt>
            </ns0:ext>
            <ns0:ext uri="{C3380CC4-5D6E-409C-BE32-E72D297353CC}">
              <ns4:uniqueId val="{00000001-0390-4F72-B2E2-CFB0772A61D8}"/>
            </ns0:ext>
          </ns0:extLst>
        </ns0:ser>
        <ns0:ser>
          <ns0:idx val="2"/>
          <ns0:order val="2"/>
          <ns0:tx>
            <ns0:v>HuBERT base Tr-24</ns0:v>
          </ns0:tx>
          <ns0:spPr>
            <ns1:solidFill>
              <ns1:srgbClr val="286499"/>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Data'!$E$2:$E$3</ns0:f>
              <ns0:strCache>
                <ns0:ptCount val="2"/>
                <ns0:pt idx="0">
                  <ns0:v>Across all cells</ns0:v>
                </ns0:pt>
                <ns0:pt idx="1">
                  <ns0:v>After removing word means</ns0:v>
                </ns0:pt>
              </ns0:strCache>
            </ns0:strRef>
          </ns0:cat>
          <ns0:val>
            <ns0:numRef>
              <ns0:f>'Chart Data'!$F$2:$F$3</ns0:f>
              <ns0:numCache>
                <ns0:formatCode>0.00</ns0:formatCode>
                <ns0:ptCount val="2"/>
                <ns0:pt idx="0">
                  <ns0:v>0.440191</ns0:v>
                </ns0:pt>
                <ns0:pt idx="1">
                  <ns0:v>0.339071</ns0:v>
                </ns0:pt>
              </ns0:numCache>
            </ns0:numRef>
          </ns0:val>
          <ns0:extLst>
            <ns0:ext uri="{6F2FDCE9-48DA-4B69-8628-5D25D57E5C99}">
              <ns3:invertSolidFillFmt>
                <ns3:spPr>
                  <ns1:solidFill>
                    <ns1:srgbClr val="FFFFFF"/>
                  </ns1:solidFill>
                </ns3:spPr>
              </ns3:invertSolidFillFmt>
            </ns0:ext>
            <ns0:ext uri="{C3380CC4-5D6E-409C-BE32-E72D297353CC}">
              <ns4:uniqueId val="{00000002-0390-4F72-B2E2-CFB0772A61D8}"/>
            </ns0:ext>
          </ns0:extLst>
        </ns0:ser>
        <ns0:ser>
          <ns0:idx val="3"/>
          <ns0:order val="3"/>
          <ns0:tx>
            <ns0:v>HuBERT FT Tr-24</ns0:v>
          </ns0:tx>
          <ns0:spPr>
            <ns1:solidFill>
              <ns1:srgbClr val="198575"/>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Data'!$G$2:$G$3</ns0:f>
              <ns0:strCache>
                <ns0:ptCount val="2"/>
                <ns0:pt idx="0">
                  <ns0:v>Across all cells</ns0:v>
                </ns0:pt>
                <ns0:pt idx="1">
                  <ns0:v>After removing word means</ns0:v>
                </ns0:pt>
              </ns0:strCache>
            </ns0:strRef>
          </ns0:cat>
          <ns0:val>
            <ns0:numRef>
              <ns0:f>'Chart Data'!$H$2:$H$3</ns0:f>
              <ns0:numCache>
                <ns0:formatCode>0.00</ns0:formatCode>
                <ns0:ptCount val="2"/>
                <ns0:pt idx="0">
                  <ns0:v>0.364377</ns0:v>
                </ns0:pt>
                <ns0:pt idx="1">
                  <ns0:v>0.36167</ns0:v>
                </ns0:pt>
              </ns0:numCache>
            </ns0:numRef>
          </ns0:val>
          <ns0:extLst>
            <ns0:ext uri="{6F2FDCE9-48DA-4B69-8628-5D25D57E5C99}">
              <ns3:invertSolidFillFmt>
                <ns3:spPr>
                  <ns1:solidFill>
                    <ns1:srgbClr val="FFFFFF"/>
                  </ns1:solidFill>
                </ns3:spPr>
              </ns3:invertSolidFillFmt>
            </ns0:ext>
            <ns0:ext uri="{C3380CC4-5D6E-409C-BE32-E72D297353CC}">
              <ns4:uniqueId val="{00000003-0390-4F72-B2E2-CFB0772A61D8}"/>
            </ns0:ext>
          </ns0:extLst>
        </ns0:ser>
        <ns0:dLbls>
          <ns0:dLblPos val="outEnd"/>
          <ns0:showLegendKey val="0"/>
          <ns0:showVal val="1"/>
          <ns0:showCatName val="0"/>
          <ns0:showSerName val="0"/>
          <ns0:showPercent val="0"/>
          <ns0:showBubbleSize val="0"/>
        </ns0:dLbls>
        <ns0:gapWidth val="110"/>
        <ns0:axId val="48650112"/>
        <ns0:axId val="48672768"/>
      </ns0:barChart>
      <ns0:catAx>
        <ns0:axId val="48650112"/>
        <ns0:scaling>
          <ns0:orientation val="minMax"/>
        </ns0:scaling>
        <ns0:delete val="0"/>
        <ns0:axPos val="b"/>
        <ns0:numFmt formatCode="General" sourceLinked="1"/>
        <ns0:majorTickMark val="none"/>
        <ns0:minorTickMark val="none"/>
        <ns0:tickLblPos val="nextTo"/>
        <ns0:spPr>
          <ns1:ln w="9525">
            <ns1:solidFill>
              <ns1:srgbClr val="D4D4D4"/>
            </ns1:solidFill>
            <ns1:prstDash val="solid"/>
          </ns1:ln>
        </ns0:spPr>
        <ns0:txPr>
          <ns1:bodyPr anchorCtr="1"/>
          <ns1:lstStyle/>
          <ns1:p>
            <ns1:pPr>
              <ns1:defRPr sz="1725">
                <ns1:solidFill>
                  <ns1:srgbClr val="666666"/>
                </ns1:solidFill>
                <ns1:latin typeface="Arial"/>
                <ns1:ea typeface="Arial"/>
                <ns1:cs typeface="Arial"/>
              </ns1:defRPr>
            </ns1:pPr>
            <ns1:endParaRPr lang="zh-CN"/>
          </ns1:p>
        </ns0:txPr>
        <ns0:crossAx val="48672768"/>
        <ns0:crosses val="autoZero"/>
        <ns0:auto val="1"/>
        <ns0:lblAlgn val="ctr"/>
        <ns0:lblOffset val="100"/>
        <ns0:noMultiLvlLbl val="1"/>
      </ns0:catAx>
      <ns0:valAx>
        <ns0:axId val="48672768"/>
        <ns0:scaling>
          <ns0:orientation val="minMax"/>
          <ns0:max val="0.6"/>
          <ns0:min val="0"/>
        </ns0:scaling>
        <ns0:delete val="0"/>
        <ns0:axPos val="l"/>
        <ns0:majorGridlines>
          <ns0:spPr>
            <ns1:ln w="9525">
              <ns1:solidFill>
                <ns1:srgbClr val="E3E6E9"/>
              </ns1:solidFill>
            </ns1:ln>
          </ns0:spPr>
        </ns0:majorGridlines>
        <ns0:title>
          <ns0:tx>
            <ns0:rich>
              <ns1:bodyPr/>
              <ns1:lstStyle/>
              <ns1:p>
                <ns1:r>
                  <ns1:rPr lang="en-US" sz="1575">
                    <ns1:latin typeface="Arial"/>
                    <ns1:ea typeface="Arial"/>
                    <ns1:cs typeface="Arial"/>
                  </ns1:rPr>
                  <ns1:t>Pearson r with listener accuracy</ns1:t>
                </ns1:r>
              </ns1:p>
            </ns0:rich>
          </ns0:tx>
          <ns0:overlay val="0"/>
        </ns0:title>
        <ns0:numFmt formatCode="0.00" sourceLinked="1"/>
        <ns0:majorTickMark val="none"/>
        <ns0:minorTickMark val="none"/>
        <ns0:tickLblPos val="nextTo"/>
        <ns0:spPr>
          <ns1:ln w="9525">
            <ns1:solidFill>
              <ns1:srgbClr val="D4D4D4"/>
            </ns1:solidFill>
            <ns1:prstDash val="solid"/>
          </ns1:ln>
        </ns0:spPr>
        <ns0:txPr>
          <ns1:bodyPr anchorCtr="1"/>
          <ns1:lstStyle/>
          <ns1:p>
            <ns1:pPr>
              <ns1:defRPr sz="1425">
                <ns1:solidFill>
                  <ns1:srgbClr val="666666"/>
                </ns1:solidFill>
                <ns1:latin typeface="Arial"/>
                <ns1:ea typeface="Arial"/>
                <ns1:cs typeface="Arial"/>
              </ns1:defRPr>
            </ns1:pPr>
            <ns1:endParaRPr lang="zh-CN"/>
          </ns1:p>
        </ns0:txPr>
        <ns0:crossAx val="48650112"/>
        <ns0:crosses val="autoZero"/>
        <ns0:crossBetween val="between"/>
        <ns0:majorUnit val="0.2"/>
      </ns0:valAx>
      <ns0:spPr>
        <ns1:solidFill>
          <ns1:srgbClr val="FFFFFF"/>
        </ns1:solidFill>
      </ns0:spPr>
    </ns0:plotArea>
    <ns0:legend>
      <ns0:legendPos val="b"/>
      <ns0:overlay val="0"/>
      <ns0:txPr>
        <ns1:bodyPr anchorCtr="1"/>
        <ns1:lstStyle/>
        <ns1:p>
          <ns1:pPr>
            <ns1:defRPr sz="1500">
              <ns1:latin typeface="Arial"/>
              <ns1:ea typeface="Arial"/>
              <ns1:cs typeface="Arial"/>
            </ns1:defRPr>
          </ns1:pPr>
          <ns1:endParaRPr lang="zh-CN"/>
        </ns1:p>
      </ns0:txPr>
    </ns0:legend>
    <ns0:plotVisOnly val="1"/>
    <ns0:dispBlanksAs val="zero"/>
    <ns0:showDLblsOverMax val="1"/>
  </ns0:chart>
  <ns0:spPr>
    <ns1:solidFill>
      <ns1:srgbClr val="FFFFFF"/>
    </ns1:solidFill>
    <ns1:ln w="0">
      <ns1:noFill/>
    </ns1:ln>
  </ns0:spPr>
  <ns0:externalData r:id="rId1">
    <ns0:autoUpdate val="0"/>
  </ns0:externalData>
</ns0: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sbi_added_notesMaster1.xml.rels><?xml version='1.0' encoding='utf-8'?>
<ns0:Relationships xmlns:ns0="http://schemas.openxmlformats.org/package/2006/relationships"><ns0:Relationship Type="http://schemas.openxmlformats.org/officeDocument/2006/relationships/theme" Target="theme/sbi_added_theme3.xml" Id="R2c98708794e3493b" /></ns0: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sbi_added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sbi_adde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sbi_added_notesSlide1.xml.rels><?xml version='1.0' encoding='utf-8'?>
<ns0:Relationships xmlns:ns0="http://schemas.openxmlformats.org/package/2006/relationships"><ns0:Relationship Type="http://schemas.openxmlformats.org/officeDocument/2006/relationships/slide" Target="../slides/sbi_added_slide1.xml" Id="R648c6007b48f4ca1" /><ns0:Relationship Type="http://schemas.openxmlformats.org/officeDocument/2006/relationships/notesMaster" Target="../notesMasters/sbi_added_notesMaster1.xml" Id="R46ceb7abd9364be0" /></ns0:Relationships>
</file>

<file path=ppt/notesSlides/_rels/sbi_added_notesSlide2.xml.rels><?xml version='1.0' encoding='utf-8'?>
<ns0:Relationships xmlns:ns0="http://schemas.openxmlformats.org/package/2006/relationships"><ns0:Relationship Type="http://schemas.openxmlformats.org/officeDocument/2006/relationships/slide" Target="../slides/sbi_added_slide2.xml" Id="Rf50f2e458b9a48ff" /><ns0:Relationship Type="http://schemas.openxmlformats.org/officeDocument/2006/relationships/notesMaster" Target="../notesMasters/sbi_added_notesMaster1.xml" Id="R63696e4cd7d94882" /></ns0:Relationships>
</file>

<file path=ppt/notesSlides/_rels/sbi_added_notesSlide3.xml.rels><?xml version='1.0' encoding='utf-8'?>
<ns0:Relationships xmlns:ns0="http://schemas.openxmlformats.org/package/2006/relationships"><ns0:Relationship Type="http://schemas.openxmlformats.org/officeDocument/2006/relationships/slide" Target="../slides/sbi_added_slide3.xml" Id="Rcf692a2ef659425b" /><ns0:Relationship Type="http://schemas.openxmlformats.org/officeDocument/2006/relationships/notesMaster" Target="../notesMasters/sbi_added_notesMaster1.xml" Id="Rbc60c87548de411c" /></ns0:Relationships>
</file>

<file path=ppt/notesSlides/_rels/sbi_added_notesSlide4.xml.rels><?xml version='1.0' encoding='utf-8'?>
<ns0:Relationships xmlns:ns0="http://schemas.openxmlformats.org/package/2006/relationships"><ns0:Relationship Type="http://schemas.openxmlformats.org/officeDocument/2006/relationships/slide" Target="../slides/sbi_added_slide4.xml" Id="Rb3076d0dd28f4b0b" /><ns0:Relationship Type="http://schemas.openxmlformats.org/officeDocument/2006/relationships/notesMaster" Target="../notesMasters/sbi_added_notesMaster1.xml" Id="R21309ed513fc4cae" /></ns0:Relationships>
</file>

<file path=ppt/notesSlides/_rels/sbi_added_notesSlide5.xml.rels><?xml version='1.0' encoding='utf-8'?>
<ns0:Relationships xmlns:ns0="http://schemas.openxmlformats.org/package/2006/relationships"><ns0:Relationship Type="http://schemas.openxmlformats.org/officeDocument/2006/relationships/slide" Target="../slides/sbi_added_slide5.xml" Id="R0d26de25bb6b47e5" /><ns0:Relationship Type="http://schemas.openxmlformats.org/officeDocument/2006/relationships/notesMaster" Target="../notesMasters/sbi_added_notesMaster1.xml" Id="R21837b86308d410f" /></ns0:Relationships>
</file>

<file path=ppt/notesSlides/_rels/sbi_added_notesSlide6.xml.rels><?xml version='1.0' encoding='utf-8'?>
<ns0:Relationships xmlns:ns0="http://schemas.openxmlformats.org/package/2006/relationships"><ns0:Relationship Type="http://schemas.openxmlformats.org/officeDocument/2006/relationships/slide" Target="../slides/sbi_added_slide6.xml" Id="R912081dd8255462b" /><ns0:Relationship Type="http://schemas.openxmlformats.org/officeDocument/2006/relationships/notesMaster" Target="../notesMasters/sbi_added_notesMaster1.xml" Id="R9310289a206c4590"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cross_talker_generalization\analysis_update_2026-09-18\x21_parameter_landscape\README.md</a:t>
            </a:r>
          </a:p>
          <a:p>
            <a:r>
              <a:t>Scores: cross_talker_generalization\analysis_update_2026-09-18\x21_parameter_landscape\landscape.csv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x21_all_conditions.html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cross_talker_generalization\analysis_update_2026-09-18\x21_parameter_landscape_no_talker_specific\README.md</a:t>
            </a:r>
          </a:p>
          <a:p>
            <a:r>
              <a:t>Scores: cross_talker_generalization\analysis_update_2026-09-18\x21_parameter_landscape_no_talker_specific\landscape.csv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x21_without_talker_specific.html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a:endParaRPr/>
          </a:p>
          <a:p>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a:endParaRPr/>
          </a:p>
          <a:p>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dirty="0"/>
              <ns1:t>To investigate why AN19 favors the acoustic baseline, I used the same 5,685 available responses for MFCC, STRF and both </ns1:t>
            </ns1:r>
            <ns1:r>
              <ns1:rPr dirty="0" err="1"/>
              <ns1:t>HuBERT</ns1:t>
            </ns1:r>
            <ns1:r>
              <ns1:rPr dirty="0"/>
              <ns1: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ns1:t>
            </ns1:r>
          </ns1:p>
          <ns1:p>
            <ns1:endParaRPr dirty="0"/>
          </ns1:p>
          <ns1:p>
            <ns1:r>
              <ns1:rPr dirty="0"/>
              <ns1: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ns1:t>
            </ns1:r>
          </ns1:p>
          <ns1:p>
            <ns1:endParaRPr dirty="0"/>
          </ns1:p>
          <ns1:p>
            <ns1:r>
              <ns1:rPr dirty="0"/>
              <ns1: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ns1:t>
            </ns1:r>
            <ns1:r>
              <ns1:rPr dirty="0" err="1"/>
              <ns1:t>HuBERT</ns1:t>
            </ns1:r>
            <ns1:r>
              <ns1:rPr dirty="0"/>
              <ns1:t>. Excluding Control as well preserves that ordering.</ns1:t>
            </ns1:r>
          </ns1:p>
          <ns1:p>
            <ns1:endParaRPr dirty="0"/>
          </ns1:p>
          <ns1:p>
            <ns1:r>
              <ns1:rPr dirty="0"/>
              <ns1: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ns1:t>
            </ns1:r>
          </ns1:p>
          <ns1:p>
            <ns1:endParaRPr dirty="0"/>
          </ns1:p>
          <ns1:p>
            <ns1:r>
              <ns1:rPr dirty="0"/>
              <ns1:t>Sources: </ns1:t>
            </ns1:r>
            <ns1:r>
              <ns1:rPr dirty="0" err="1"/>
              <ns1:t>cross_talker_generalization</ns1:t>
            </ns1:r>
            <ns1:r>
              <ns1:rPr dirty="0"/>
              <ns1:t>/artifacts/derived/AN19-AN19_acoustic-confirmatory-full-20260906-model-input.csv;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ns1:t>
            </ns1:r>
            <ns1:r>
              <ns1:rPr dirty="0" err="1"/>
              <ns1:t>evidence.json</ns1:t>
            </ns1:r>
            <ns1:r>
              <ns1:rPr dirty="0"/>
              <ns1:t>. Additional context: </ns1:t>
            </ns1:r>
            <ns1:r>
              <ns1:rPr dirty="0" err="1"/>
              <ns1:t>cross_talker_generalization</ns1:t>
            </ns1:r>
            <ns1:r>
              <ns1:rPr dirty="0"/>
              <ns1:t>/analysis_update_2026-09-18/AN19_BASELINE_EXPLANATION.md.</ns1:t>
            </ns1:r>
            <ns1:endParaRPr lang="en-US" dirty="0"/>
          </ns1:p>
          <ns1:p>
            <ns1:endParaRPr lang="en-US" dirty="0"/>
          </ns1:p>
          <ns1:p>
            <ns1:endParaRPr lang="en-US" dirty="0"/>
          </ns1:p>
          <ns1:p>
            <ns1:endParaRPr dirty="0"/>
          </ns1:p>
        </ns0:txBody>
      </ns0:sp>
      <ns0:sp>
        <ns0:nvSpPr>
          <ns0:cNvPr id="4" name="Slide Number Placeholder 3"/>
          <ns0:cNvSpPr>
            <ns1:spLocks noGrp="1"/>
          </ns0:cNvSpPr>
          <ns0:nvPr>
            <ns0:ph type="sldNum" idx="5"/>
          </ns0:nvPr>
        </ns0:nvSpPr>
        <ns0:spPr/>
        <ns0:txBody>
          <ns1:bodyPr/>
          <ns1:lstStyle/>
          <ns1:p>
            <ns1:endParaRPr/>
          </ns1:p>
        </ns0:txBody>
      </ns0:sp>
    </ns0:spTree>
  </ns0:cSld>
  <ns0:clrMapOvr>
    <ns1:masterClrMapping/>
  </ns0:clrMapOvr>
</ns0:notes>
</file>

<file path=ppt/notesSlides/sbi_added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cross_talker_generalization/analysis_update_2026-09-17/si_diagnostics/figures/AN19_SBI_base_similarity_all_participants_test_train_ratio.png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cross_talker_generalization/analysis_update_2026-09-17/si_diagnostics/figures/AN19_SBI_ft_similarity_all_participants_test_train_ratio.png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cross_talker_generalization/analysis_update_2026-09-17/si_diagnostics/figures/X21_SBI_base_similarity_all_participants_test_train_ratio.png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cross_talker_generalization/analysis_update_2026-09-17/si_diagnostics/figures/X21_SBI_ft_similarity_all_participants_test_train_ratio.png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cross_talker_generalization/analysis_update_2026-09-17/si_diagnostics/figures/B23_SBI_base_similarity_all_participants_test_train_ratio.png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cross_talker_generalization/analysis_update_2026-09-17/si_diagnostics/figures/B23_SBI_ft_similarity_all_participants_test_train_ratio.png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bi_added_slideLayout1.xml.rels><?xml version='1.0' encoding='utf-8'?>
<ns0:Relationships xmlns:ns0="http://schemas.openxmlformats.org/package/2006/relationships"><ns0:Relationship Type="http://schemas.openxmlformats.org/officeDocument/2006/relationships/slideMaster" Target="../slideMasters/sbi_added_slideMaster1.xml" Id="R98fa1abc86dc40a2"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bi_added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bi_added_slideMaster1.xml.rels><?xml version='1.0' encoding='utf-8'?>
<ns0:Relationships xmlns:ns0="http://schemas.openxmlformats.org/package/2006/relationships"><ns0:Relationship Type="http://schemas.openxmlformats.org/officeDocument/2006/relationships/theme" Target="theme/sbi_added_theme2.xml" Id="R9e96427627cf4208" /><ns0:Relationship Type="http://schemas.openxmlformats.org/officeDocument/2006/relationships/slideLayout" Target="../slideLayouts/sbi_added_slideLayout1.xml" Id="Rb446f701b5544522" /></ns0:Relationships>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bi_added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6f701b55445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theme/sbi_adde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bi_added_slide1.xml.rels><?xml version='1.0' encoding='utf-8'?>
<ns0:Relationships xmlns:ns0="http://schemas.openxmlformats.org/package/2006/relationships"><ns0:Relationship Type="http://schemas.openxmlformats.org/officeDocument/2006/relationships/slideLayout" Target="../slideLayouts/sbi_added_slideLayout1.xml" Id="R2e89413bd5b542a7" /><ns0:Relationship Type="http://schemas.openxmlformats.org/officeDocument/2006/relationships/image" Target="../media/sbi_added_image.png" Id="R47bc15e2c85f45b5" /><ns0:Relationship Type="http://schemas.openxmlformats.org/officeDocument/2006/relationships/notesSlide" Target="../notesSlides/sbi_added_notesSlide1.xml" Id="Ra9160d2d30894b59" /></ns0:Relationships>
</file>

<file path=ppt/slides/_rels/sbi_added_slide2.xml.rels><?xml version='1.0' encoding='utf-8'?>
<ns0:Relationships xmlns:ns0="http://schemas.openxmlformats.org/package/2006/relationships"><ns0:Relationship Type="http://schemas.openxmlformats.org/officeDocument/2006/relationships/slideLayout" Target="../slideLayouts/sbi_added_slideLayout1.xml" Id="R31811a81412946d3" /><ns0:Relationship Type="http://schemas.openxmlformats.org/officeDocument/2006/relationships/image" Target="../media/sbi_added_image2.png" Id="Rc72a3bf4cd5b44b9" /><ns0:Relationship Type="http://schemas.openxmlformats.org/officeDocument/2006/relationships/notesSlide" Target="../notesSlides/sbi_added_notesSlide2.xml" Id="R65e0eda5b30b4bcb" /></ns0:Relationships>
</file>

<file path=ppt/slides/_rels/sbi_added_slide3.xml.rels><?xml version='1.0' encoding='utf-8'?>
<ns0:Relationships xmlns:ns0="http://schemas.openxmlformats.org/package/2006/relationships"><ns0:Relationship Type="http://schemas.openxmlformats.org/officeDocument/2006/relationships/slideLayout" Target="../slideLayouts/sbi_added_slideLayout1.xml" Id="Rf9cff1cb23034756" /><ns0:Relationship Type="http://schemas.openxmlformats.org/officeDocument/2006/relationships/image" Target="../media/sbi_added_image3.png" Id="R58b8ab1e3dcf4cf9" /><ns0:Relationship Type="http://schemas.openxmlformats.org/officeDocument/2006/relationships/notesSlide" Target="../notesSlides/sbi_added_notesSlide3.xml" Id="R7b32e36ebb464b76" /></ns0:Relationships>
</file>

<file path=ppt/slides/_rels/sbi_added_slide4.xml.rels><?xml version='1.0' encoding='utf-8'?>
<ns0:Relationships xmlns:ns0="http://schemas.openxmlformats.org/package/2006/relationships"><ns0:Relationship Type="http://schemas.openxmlformats.org/officeDocument/2006/relationships/slideLayout" Target="../slideLayouts/sbi_added_slideLayout1.xml" Id="Rf3405c9bb9744713" /><ns0:Relationship Type="http://schemas.openxmlformats.org/officeDocument/2006/relationships/image" Target="../media/sbi_added_image4.png" Id="Rb8bf7f3a73bd472f" /><ns0:Relationship Type="http://schemas.openxmlformats.org/officeDocument/2006/relationships/notesSlide" Target="../notesSlides/sbi_added_notesSlide4.xml" Id="R29c4d0efc89d4af3" /></ns0:Relationships>
</file>

<file path=ppt/slides/_rels/sbi_added_slide5.xml.rels><?xml version='1.0' encoding='utf-8'?>
<ns0:Relationships xmlns:ns0="http://schemas.openxmlformats.org/package/2006/relationships"><ns0:Relationship Type="http://schemas.openxmlformats.org/officeDocument/2006/relationships/slideLayout" Target="../slideLayouts/sbi_added_slideLayout1.xml" Id="R6525569079e146e8" /><ns0:Relationship Type="http://schemas.openxmlformats.org/officeDocument/2006/relationships/image" Target="../media/sbi_added_image5.png" Id="Ra543c7687e9d458b" /><ns0:Relationship Type="http://schemas.openxmlformats.org/officeDocument/2006/relationships/notesSlide" Target="../notesSlides/sbi_added_notesSlide5.xml" Id="R33239c2b280e40e7" /></ns0:Relationships>
</file>

<file path=ppt/slides/_rels/sbi_added_slide6.xml.rels><?xml version='1.0' encoding='utf-8'?>
<ns0:Relationships xmlns:ns0="http://schemas.openxmlformats.org/package/2006/relationships"><ns0:Relationship Type="http://schemas.openxmlformats.org/officeDocument/2006/relationships/slideLayout" Target="../slideLayouts/sbi_added_slideLayout1.xml" Id="Re7ca4d35bb3e4a53" /><ns0:Relationship Type="http://schemas.openxmlformats.org/officeDocument/2006/relationships/image" Target="../media/sbi_added_image6.png" Id="Rac3149b23d464da2" /><ns0:Relationship Type="http://schemas.openxmlformats.org/officeDocument/2006/relationships/notesSlide" Target="../notesSlides/sbi_added_notesSlide6.xml" Id="R1f2acea634c744d0" /></ns0:Relationships>
</file>

<file path=ppt/slides/_rels/slide1.xml.rels><?xml version="1.0" encoding="UTF-8" standalone="yes"?>
<Relationships xmlns="http://schemas.openxmlformats.org/package/2006/relationships"><Relationship Id="rId3" Type="http://schemas.openxmlformats.org/officeDocument/2006/relationships/hyperlink" Target="x21_all_conditions.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x21_without_talker_specific.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bi_added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7bc15e2c85f45b5"/>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273680687"/>
      </p:ext>
    </p:extLst>
  </p:cSld>
</p:sld>
</file>

<file path=ppt/slides/sbi_added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2a3bf4cd5b44b9"/>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1258011214"/>
      </p:ext>
    </p:extLst>
  </p:cSld>
</p:sld>
</file>

<file path=ppt/slides/sbi_added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8b8ab1e3dcf4cf9"/>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1220202019"/>
      </p:ext>
    </p:extLst>
  </p:cSld>
</p:sld>
</file>

<file path=ppt/slides/sbi_added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8bf7f3a73bd472f"/>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921462376"/>
      </p:ext>
    </p:extLst>
  </p:cSld>
</p:sld>
</file>

<file path=ppt/slides/sbi_added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543c7687e9d458b"/>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1166262903"/>
      </p:ext>
    </p:extLst>
  </p:cSld>
</p:sld>
</file>

<file path=ppt/slides/sbi_added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3149b23d464da2"/>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356986316"/>
      </p:ext>
    </p:extLst>
  </p:cSld>
</p:sld>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298E8C9-85D3-4E13-A56C-02D834A01985}"/>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all four conditions</a:t>
            </a:r>
          </a:p>
        </p:txBody>
      </p:sp>
      <p:sp>
        <p:nvSpPr>
          <p:cNvPr id="2" name="矩形 1">
            <a:extLst>
              <a:ext uri="{FF2B5EF4-FFF2-40B4-BE49-F238E27FC236}">
                <a16:creationId xmlns:a16="http://schemas.microsoft.com/office/drawing/2014/main" id="{5AF165DC-D56A-4829-8EE2-43D827F63274}"/>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10,969 word responses from 213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E676E69E-F9C1-4CBB-935C-4FA10DD564DB}"/>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D408A452-554A-4F5C-99EB-1A11781C8D9D}"/>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51400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8BF8B89-6BA1-4215-9C0B-6A4D54BFE833}"/>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Talker-specific excluded</a:t>
            </a:r>
          </a:p>
        </p:txBody>
      </p:sp>
      <p:sp>
        <p:nvSpPr>
          <p:cNvPr id="2" name="矩形 1">
            <a:extLst>
              <a:ext uri="{FF2B5EF4-FFF2-40B4-BE49-F238E27FC236}">
                <a16:creationId xmlns:a16="http://schemas.microsoft.com/office/drawing/2014/main" id="{F3E6E6F2-78C2-4E76-A1DA-0A3E09ACA17A}"/>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8,290 word responses from 161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07DEB577-E744-4B96-B697-203DE343C445}"/>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5B28984C-6119-4FE7-88DC-2627A26DE354}"/>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160851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B0EDE78-9B15-4362-B1A7-8DB1A24F05FD}"/>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Acoustic baselines rival HuBERT in AN19</a:t>
            </a:r>
          </a:p>
        </p:txBody>
      </p:sp>
      <p:sp>
        <p:nvSpPr>
          <p:cNvPr id="2" name="矩形 1">
            <a:extLst>
              <a:ext uri="{FF2B5EF4-FFF2-40B4-BE49-F238E27FC236}">
                <a16:creationId xmlns:a16="http://schemas.microsoft.com/office/drawing/2014/main" id="{08DD3CD2-3E95-4AC2-AECE-FDC87296902E}"/>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E4E93BFF-B0FA-4409-84A9-BE168ADA2185}"/>
              </a:ext>
            </a:extLst>
          </p:cNvPr>
          <p:cNvSpPr>
            <a:spLocks noGrp="1"/>
          </p:cNvSpPr>
          <p:nvPr/>
        </p:nvSpPr>
        <p:spPr>
          <a:xfrm>
            <a:off x="628650" y="5429250"/>
            <a:ext cx="10953750" cy="342900"/>
          </a:xfrm>
          <a:prstGeom prst="rect">
            <a:avLst/>
          </a:prstGeom>
          <a:noFill/>
          <a:ln w="0">
            <a:noFill/>
          </a:ln>
        </p:spPr>
        <p:txBody>
          <a:bodyPr>
            <a:noAutofit/>
          </a:bodyPr>
          <a:lstStyle/>
          <a:p>
            <a:pPr>
              <a:defRPr sz="2025" b="1">
                <a:solidFill>
                  <a:srgbClr val="172E45"/>
                </a:solidFill>
                <a:latin typeface="Arial"/>
                <a:ea typeface="Arial"/>
                <a:cs typeface="Arial"/>
              </a:defRPr>
            </a:pPr>
            <a:r>
              <a:rPr sz="2025" b="1">
                <a:solidFill>
                  <a:srgbClr val="172E45"/>
                </a:solidFill>
                <a:latin typeface="Arial"/>
                <a:ea typeface="Arial"/>
                <a:cs typeface="Arial"/>
              </a:rPr>
              <a:t>AN19 STRF also matches the best base layer: 13.94 vs 13.69 (Tr-12).</a:t>
            </a:r>
          </a:p>
        </p:txBody>
      </p:sp>
      <p:sp>
        <p:nvSpPr>
          <p:cNvPr id="5" name="矩形 4">
            <a:extLst>
              <a:ext uri="{FF2B5EF4-FFF2-40B4-BE49-F238E27FC236}">
                <a16:creationId xmlns:a16="http://schemas.microsoft.com/office/drawing/2014/main" id="{7290BC40-3881-42FA-ACDC-E86F0DCEC94B}"/>
              </a:ext>
            </a:extLst>
          </p:cNvPr>
          <p:cNvSpPr>
            <a:spLocks noGrp="1"/>
          </p:cNvSpPr>
          <p:nvPr/>
        </p:nvSpPr>
        <p:spPr>
          <a:xfrm>
            <a:off x="628650" y="5848350"/>
            <a:ext cx="10953750" cy="361950"/>
          </a:xfrm>
          <a:prstGeom prst="rect">
            <a:avLst/>
          </a:prstGeom>
          <a:noFill/>
          <a:ln w="0">
            <a:noFill/>
          </a:ln>
        </p:spPr>
        <p:txBody>
          <a:bodyPr>
            <a:noAutofit/>
          </a:bodyPr>
          <a:lstStyle/>
          <a:p>
            <a:pPr>
              <a:defRPr sz="1875" b="0">
                <a:solidFill>
                  <a:srgbClr val="263340"/>
                </a:solidFill>
                <a:latin typeface="Arial"/>
                <a:ea typeface="Arial"/>
                <a:cs typeface="Arial"/>
              </a:defRPr>
            </a:pPr>
            <a:r>
              <a:rPr sz="1875" b="0">
                <a:solidFill>
                  <a:srgbClr val="263340"/>
                </a:solidFill>
                <a:latin typeface="Arial"/>
                <a:ea typeface="Arial"/>
                <a:cs typeface="Arial"/>
              </a:rPr>
              <a:t>X21 shows a clearer HuBERT advantage. The cause of this difference remains open.</a:t>
            </a:r>
          </a:p>
        </p:txBody>
      </p:sp>
      <p:sp>
        <p:nvSpPr>
          <p:cNvPr id="6" name="矩形 5">
            <a:extLst>
              <a:ext uri="{FF2B5EF4-FFF2-40B4-BE49-F238E27FC236}">
                <a16:creationId xmlns:a16="http://schemas.microsoft.com/office/drawing/2014/main" id="{D7BBBEFA-8A5E-45E9-90A0-0955C6BBD48A}"/>
              </a:ext>
            </a:extLst>
          </p:cNvPr>
          <p:cNvSpPr>
            <a:spLocks noGrp="1"/>
          </p:cNvSpPr>
          <p:nvPr/>
        </p:nvSpPr>
        <p:spPr>
          <a:xfrm>
            <a:off x="628650" y="6381750"/>
            <a:ext cx="10953750" cy="27622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7578A20-6261-4564-BE4A-97133FF74534}"/>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矩形 1">
            <a:extLst>
              <a:ext uri="{FF2B5EF4-FFF2-40B4-BE49-F238E27FC236}">
                <a16:creationId xmlns:a16="http://schemas.microsoft.com/office/drawing/2014/main" id="{A7CA244D-F2DA-41C1-A07F-4A40310B9C41}"/>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FDB44DCA-7A89-4F72-8929-43CB3D6D0E11}"/>
              </a:ext>
            </a:extLst>
          </p:cNvPr>
          <p:cNvSpPr>
            <a:spLocks noGrp="1"/>
          </p:cNvSpPr>
          <p:nvPr/>
        </p:nvSpPr>
        <p:spPr>
          <a:xfrm>
            <a:off x="628650" y="5429250"/>
            <a:ext cx="10953750" cy="361950"/>
          </a:xfrm>
          <a:prstGeom prst="rect">
            <a:avLst/>
          </a:prstGeom>
          <a:noFill/>
          <a:ln w="0">
            <a:noFill/>
          </a:ln>
        </p:spPr>
        <p:txBody>
          <a:bodyPr>
            <a:noAutofit/>
          </a:bodyPr>
          <a:lstStyle/>
          <a:p>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矩形 4">
            <a:extLst>
              <a:ext uri="{FF2B5EF4-FFF2-40B4-BE49-F238E27FC236}">
                <a16:creationId xmlns:a16="http://schemas.microsoft.com/office/drawing/2014/main" id="{E0C5C91C-0555-49DE-A799-A3869C1CC658}"/>
              </a:ext>
            </a:extLst>
          </p:cNvPr>
          <p:cNvSpPr>
            <a:spLocks noGrp="1"/>
          </p:cNvSpPr>
          <p:nvPr/>
        </p:nvSpPr>
        <p:spPr>
          <a:xfrm>
            <a:off x="628650" y="5857875"/>
            <a:ext cx="10953750" cy="361950"/>
          </a:xfrm>
          <a:prstGeom prst="rect">
            <a:avLst/>
          </a:prstGeom>
          <a:noFill/>
          <a:ln w="0">
            <a:noFill/>
          </a:ln>
        </p:spPr>
        <p:txBody>
          <a:bodyPr>
            <a:noAutofit/>
          </a:bodyPr>
          <a:lstStyle/>
          <a:p>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矩形 5">
            <a:extLst>
              <a:ext uri="{FF2B5EF4-FFF2-40B4-BE49-F238E27FC236}">
                <a16:creationId xmlns:a16="http://schemas.microsoft.com/office/drawing/2014/main" id="{2AF883FF-2819-46F7-B17C-C6B2DB401E68}"/>
              </a:ext>
            </a:extLst>
          </p:cNvPr>
          <p:cNvSpPr>
            <a:spLocks noGrp="1"/>
          </p:cNvSpPr>
          <p:nvPr/>
        </p:nvSpPr>
        <p:spPr>
          <a:xfrm>
            <a:off x="628650" y="6372225"/>
            <a:ext cx="10953750" cy="29527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clrMapOvr>
    <a:masterClrMapping/>
  </p:clrMapOvr>
</p:sld>
</file>

<file path=ppt/theme/sbi_added_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otalTime>47</ns0:TotalTime>
  <ns0:Words>1935</ns0:Words>
  <ns0:Application>Microsoft Office PowerPoint</ns0:Application>
  <ns0:DocSecurity>0</ns0:DocSecurity>
  <ns0:PresentationFormat/>
  <ns0:Paragraphs>56</ns0:Paragraphs>
  <ns0:Slides>10</ns0:Slides>
  <ns0:Notes>4</ns0:Notes>
  <ns0:HiddenSlides>0</ns0:HiddenSlides>
  <ns0:MMClips>0</ns0:MMClips>
  <ns0:ScaleCrop>false</ns0:ScaleCrop>
  <ns0:HeadingPairs>
    <ns1:vector size="6" baseType="variant">
      <ns1:variant>
        <ns1:lpstr/>
      </ns1:variant>
      <ns1:variant>
        <ns1:i4>2</ns1:i4>
      </ns1:variant>
      <ns1:variant>
        <ns1:lpstr/>
      </ns1:variant>
      <ns1:variant>
        <ns1:i4>1</ns1:i4>
      </ns1:variant>
      <ns1:variant>
        <ns1:lpstr/>
      </ns1:variant>
      <ns1:variant>
        <ns1:i4>4</ns1:i4>
      </ns1:variant>
    </ns1:vector>
  </ns0:HeadingPairs>
  <ns0:TitlesOfParts>
    <ns1:vector size="7" baseType="lpstr">
      <ns1:lpstr>Arial</ns1:lpstr>
      <ns1:lpstr>Calibri</ns1:lpstr>
      <ns1:lpstr>ChatGPT</ns1:lpstr>
      <ns1:lpstr/>
      <ns1:lpstr/>
      <ns1:lpstr/>
      <ns1:lpstr/>
    </ns1:vector>
  </ns0:TitlesOfParts>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 Jin</cp:lastModifiedBy>
  <cp:revision>2</cp:revision>
  <dcterms:created xsi:type="dcterms:W3CDTF">2026-09-18T05:45:59Z</dcterms:created>
  <dcterms:modified xsi:type="dcterms:W3CDTF">2026-09-18T07:06:04Z</dcterms:modified>
</cp:coreProperties>
</file>

<file path=docProps/sbi_added_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sbi_added_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2026-09-18T07:11:46.5080000Z</dcterms:created>
  <dcterms:modified xsi:type="dcterms:W3CDTF">2026-09-18T07:11:46.5080000Z</dcterms:modified>
</coreProperties>
</file>