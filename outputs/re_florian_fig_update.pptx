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1655d1349ac4885" /><Relationship Type="http://schemas.openxmlformats.org/officeDocument/2006/relationships/extended-properties" Target="/docProps/app.xml" Id="R57ba371059ce40b1" /><Relationship Type="http://schemas.openxmlformats.org/officeDocument/2006/relationships/officeDocument" Target="/ppt/presentation.xml" Id="R9a432fcd86b64a7c" /></Relationships>
</file>

<file path=ppt/presentation.xml><?xml version="1.0" encoding="utf-8"?>
<p:presentation xmlns:p="http://schemas.openxmlformats.org/presentationml/2006/main">
  <p:sldMasterIdLst>
    <p:sldMasterId xmlns:r="http://schemas.openxmlformats.org/officeDocument/2006/relationships" id="2147483648" r:id="R1088961ba5af4d96"/>
  </p:sldMasterIdLst>
  <p:notesMasterIdLst>
    <p:notesMasterId xmlns:r="http://schemas.openxmlformats.org/officeDocument/2006/relationships" r:id="R241acecad0fa4a28"/>
  </p:notesMasterIdLst>
  <p:sldIdLst>
    <p:sldId xmlns:r="http://schemas.openxmlformats.org/officeDocument/2006/relationships" id="256" r:id="Rf238ffaba6c94d4b"/>
    <p:sldId xmlns:r="http://schemas.openxmlformats.org/officeDocument/2006/relationships" id="257" r:id="Re0d395974ea14023"/>
    <p:sldId xmlns:r="http://schemas.openxmlformats.org/officeDocument/2006/relationships" id="258" r:id="Ra2241e6877fe49ae"/>
    <p:sldId xmlns:r="http://schemas.openxmlformats.org/officeDocument/2006/relationships" id="259" r:id="R38d3799d54774e7f"/>
    <p:sldId xmlns:r="http://schemas.openxmlformats.org/officeDocument/2006/relationships" id="260" r:id="R2527ffff69bc4e75"/>
    <p:sldId xmlns:r="http://schemas.openxmlformats.org/officeDocument/2006/relationships" id="261" r:id="R665bb674c9724a48"/>
    <p:sldId xmlns:r="http://schemas.openxmlformats.org/officeDocument/2006/relationships" id="262" r:id="R2f0c364c0aaf4c69"/>
    <p:sldId xmlns:r="http://schemas.openxmlformats.org/officeDocument/2006/relationships" id="263" r:id="R3b68537f9ff24de7"/>
    <p:sldId xmlns:r="http://schemas.openxmlformats.org/officeDocument/2006/relationships" id="264" r:id="R8c4b28123fd3471c"/>
    <p:sldId xmlns:r="http://schemas.openxmlformats.org/officeDocument/2006/relationships" id="265" r:id="Rdf56631cd4884e7b"/>
    <p:sldId xmlns:r="http://schemas.openxmlformats.org/officeDocument/2006/relationships" id="266" r:id="R41220e57107c4b69"/>
    <p:sldId xmlns:r="http://schemas.openxmlformats.org/officeDocument/2006/relationships" id="267" r:id="Rec52bb9261c94cc1"/>
    <p:sldId xmlns:r="http://schemas.openxmlformats.org/officeDocument/2006/relationships" id="268" r:id="Rcb5d440a523941ff"/>
    <p:sldId xmlns:r="http://schemas.openxmlformats.org/officeDocument/2006/relationships" id="269" r:id="R69440c63fda44031"/>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fd5ad2d63f3479c" /><Relationship Type="http://schemas.openxmlformats.org/officeDocument/2006/relationships/slideMaster" Target="/ppt/slideMasters/slideMaster1.xml" Id="R1088961ba5af4d96" /><Relationship Type="http://schemas.openxmlformats.org/officeDocument/2006/relationships/notesMaster" Target="/ppt/notesMasters/notesMaster1.xml" Id="R241acecad0fa4a28" /><Relationship Type="http://schemas.openxmlformats.org/officeDocument/2006/relationships/presProps" Target="/ppt/presProps.xml" Id="R4e888c59c218415e" /><Relationship Type="http://schemas.openxmlformats.org/officeDocument/2006/relationships/tableStyles" Target="/ppt/tableStyles.xml" Id="Rc8619de7bac84c60" /><Relationship Type="http://schemas.openxmlformats.org/officeDocument/2006/relationships/slide" Target="/ppt/slides/slide1.xml" Id="Rf238ffaba6c94d4b" /><Relationship Type="http://schemas.openxmlformats.org/officeDocument/2006/relationships/slide" Target="/ppt/slides/slide2.xml" Id="Re0d395974ea14023" /><Relationship Type="http://schemas.openxmlformats.org/officeDocument/2006/relationships/slide" Target="/ppt/slides/slide3.xml" Id="Ra2241e6877fe49ae" /><Relationship Type="http://schemas.openxmlformats.org/officeDocument/2006/relationships/slide" Target="/ppt/slides/slide4.xml" Id="R38d3799d54774e7f" /><Relationship Type="http://schemas.openxmlformats.org/officeDocument/2006/relationships/slide" Target="/ppt/slides/slide5.xml" Id="R2527ffff69bc4e75" /><Relationship Type="http://schemas.openxmlformats.org/officeDocument/2006/relationships/slide" Target="/ppt/slides/slide6.xml" Id="R665bb674c9724a48" /><Relationship Type="http://schemas.openxmlformats.org/officeDocument/2006/relationships/slide" Target="/ppt/slides/slide7.xml" Id="R2f0c364c0aaf4c69" /><Relationship Type="http://schemas.openxmlformats.org/officeDocument/2006/relationships/slide" Target="/ppt/slides/slide8.xml" Id="R3b68537f9ff24de7" /><Relationship Type="http://schemas.openxmlformats.org/officeDocument/2006/relationships/slide" Target="/ppt/slides/slide9.xml" Id="R8c4b28123fd3471c" /><Relationship Type="http://schemas.openxmlformats.org/officeDocument/2006/relationships/slide" Target="/ppt/slides/slide10.xml" Id="Rdf56631cd4884e7b" /><Relationship Type="http://schemas.openxmlformats.org/officeDocument/2006/relationships/slide" Target="/ppt/slides/slide11.xml" Id="R41220e57107c4b69" /><Relationship Type="http://schemas.openxmlformats.org/officeDocument/2006/relationships/slide" Target="/ppt/slides/slide12.xml" Id="Rec52bb9261c94cc1" /><Relationship Type="http://schemas.openxmlformats.org/officeDocument/2006/relationships/slide" Target="/ppt/slides/slide13.xml" Id="Rcb5d440a523941ff" /><Relationship Type="http://schemas.openxmlformats.org/officeDocument/2006/relationships/slide" Target="/ppt/slides/slide14.xml" Id="R69440c63fda4403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468dc616996401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c4d837617c346ea" /><Relationship Type="http://schemas.openxmlformats.org/officeDocument/2006/relationships/notesMaster" Target="/ppt/notesMasters/notesMaster1.xml" Id="Rad1a088d13204d17" /></Relationships>
</file>

<file path=ppt/notesSlides/_rels/notesSlide2.xml.rels>&#65279;<?xml version="1.0" encoding="utf-8"?><Relationships xmlns="http://schemas.openxmlformats.org/package/2006/relationships"><Relationship Type="http://schemas.openxmlformats.org/officeDocument/2006/relationships/slide" Target="/ppt/slides/slide2.xml" Id="R570f3398f6ca464d" /><Relationship Type="http://schemas.openxmlformats.org/officeDocument/2006/relationships/notesMaster" Target="/ppt/notesMasters/notesMaster1.xml" Id="Rcc25f9fef1c44453" /></Relationships>
</file>

<file path=ppt/notesSlides/_rels/notesSlide3.xml.rels>&#65279;<?xml version="1.0" encoding="utf-8"?><Relationships xmlns="http://schemas.openxmlformats.org/package/2006/relationships"><Relationship Type="http://schemas.openxmlformats.org/officeDocument/2006/relationships/slide" Target="/ppt/slides/slide3.xml" Id="Rbe642d2d3ea24403" /><Relationship Type="http://schemas.openxmlformats.org/officeDocument/2006/relationships/notesMaster" Target="/ppt/notesMasters/notesMaster1.xml" Id="R34f17211e6bd4c93" /></Relationships>
</file>

<file path=ppt/notesSlides/_rels/notesSlide4.xml.rels>&#65279;<?xml version="1.0" encoding="utf-8"?><Relationships xmlns="http://schemas.openxmlformats.org/package/2006/relationships"><Relationship Type="http://schemas.openxmlformats.org/officeDocument/2006/relationships/slide" Target="/ppt/slides/slide4.xml" Id="R48f33ee313764f7c" /><Relationship Type="http://schemas.openxmlformats.org/officeDocument/2006/relationships/notesMaster" Target="/ppt/notesMasters/notesMaster1.xml" Id="Rfb625dc38f094914" /></Relationships>
</file>

<file path=ppt/notesSlides/_rels/notesSlide5.xml.rels>&#65279;<?xml version="1.0" encoding="utf-8"?><Relationships xmlns="http://schemas.openxmlformats.org/package/2006/relationships"><Relationship Type="http://schemas.openxmlformats.org/officeDocument/2006/relationships/slide" Target="/ppt/slides/slide5.xml" Id="Re63cda89053e4a9b" /><Relationship Type="http://schemas.openxmlformats.org/officeDocument/2006/relationships/notesMaster" Target="/ppt/notesMasters/notesMaster1.xml" Id="Rf13c43cbc5774b89" /></Relationships>
</file>

<file path=ppt/notesSlides/_rels/notesSlide6.xml.rels>&#65279;<?xml version="1.0" encoding="utf-8"?><Relationships xmlns="http://schemas.openxmlformats.org/package/2006/relationships"><Relationship Type="http://schemas.openxmlformats.org/officeDocument/2006/relationships/slide" Target="/ppt/slides/slide6.xml" Id="Re0a4160faf56438b" /><Relationship Type="http://schemas.openxmlformats.org/officeDocument/2006/relationships/notesMaster" Target="/ppt/notesMasters/notesMaster1.xml" Id="Rc5f6408252a645bd" /></Relationships>
</file>

<file path=ppt/notesSlides/_rels/notesSlide7.xml.rels>&#65279;<?xml version="1.0" encoding="utf-8"?><Relationships xmlns="http://schemas.openxmlformats.org/package/2006/relationships"><Relationship Type="http://schemas.openxmlformats.org/officeDocument/2006/relationships/slide" Target="/ppt/slides/slide7.xml" Id="Re24ba01ddbad4485" /><Relationship Type="http://schemas.openxmlformats.org/officeDocument/2006/relationships/notesMaster" Target="/ppt/notesMasters/notesMaster1.xml" Id="R77c7dda78db64580" /></Relationships>
</file>

<file path=ppt/notesSlides/_rels/notesSlide8.xml.rels>&#65279;<?xml version="1.0" encoding="utf-8"?><Relationships xmlns="http://schemas.openxmlformats.org/package/2006/relationships"><Relationship Type="http://schemas.openxmlformats.org/officeDocument/2006/relationships/slide" Target="/ppt/slides/slide8.xml" Id="Re71fa475cf564d1a" /><Relationship Type="http://schemas.openxmlformats.org/officeDocument/2006/relationships/notesMaster" Target="/ppt/notesMasters/notesMaster1.xml" Id="R78d707161e9b46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f85336099b10444b" /><Relationship Type="http://schemas.openxmlformats.org/officeDocument/2006/relationships/notesMaster" Target="/ppt/notesMasters/notesMaster1.xml" Id="R566b599f13b045c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8ef33de3c0d4334" /><Relationship Type="http://schemas.openxmlformats.org/officeDocument/2006/relationships/notesMaster" Target="/ppt/notesMasters/notesMaster1.xml" Id="R2d9a08d59d17417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73e691c96634112" /><Relationship Type="http://schemas.openxmlformats.org/officeDocument/2006/relationships/notesMaster" Target="/ppt/notesMasters/notesMaster1.xml" Id="R25ae6430f8a9494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a95db0de0cb403d" /><Relationship Type="http://schemas.openxmlformats.org/officeDocument/2006/relationships/notesMaster" Target="/ppt/notesMasters/notesMaster1.xml" Id="R518ac7d3b04c42e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0ce396f2fcf49f5" /><Relationship Type="http://schemas.openxmlformats.org/officeDocument/2006/relationships/notesMaster" Target="/ppt/notesMasters/notesMaster1.xml" Id="R56397538ca5541b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fda8bed827841ac" /><Relationship Type="http://schemas.openxmlformats.org/officeDocument/2006/relationships/notesMaster" Target="/ppt/notesMasters/notesMaster1.xml" Id="Rc474fe50850542a0" /></Relationships>
</file>

<file path=ppt/notesSlides/notesSlide1.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English</ns1:t>
            </ns1:r>
          </ns1:p>
          <ns1:p>
            <ns1:r>
              <ns1:t>I will briefly recap the updated figures, moving from speech representations to pronunciation similarity and then to human responses.</ns1:t>
            </ns1:r>
          </ns1:p>
          <ns1:p>
            <ns1:r>
              <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2.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English</ns1:t>
            </ns1:r>
          </ns1:p>
          <ns1:p>
            <ns1:r>
              <ns1:t>Let me start with how I represent speech. On the left is an English-L1 speaker saying “The wife helped her husband.” The horizontal axis is time in seconds, and the vertical axis is waveform amplitude, normalized only for display. I pass the speech through the self-supervised HuBERT-large model. Here I am showing transformer layer 24, where every frame has 1,024 feature values. The middle traces show the first and last dimensions over time; the dots between the panels stand for all the dimensions that are not displayed. I then use the existing corpus-level t-SNE coordinates to show each frame in three dimensions. The x, y and z axes are simply t-SNE coordinates; they are not frequency, pitch or individual phonetic features. Connecting consecutive frames gives the trajectory. On the right, I zoom into “wife,” using its existing time annotations to color /w/, /aɪ/ and /f/. This is the same representation, not a second t-SNE fit. The figure illustrates the method; it does not show that t-SNE preserves every distance in the original space.</ns1:t>
            </ns1:r>
          </ns1:p>
          <ns1:p>
            <ns1:r>
              <ns1:t/>
            </ns1:r>
          </ns1:p>
          <ns1:p>
            <ns1:r>
              <ns1:t/>
            </ns1:r>
          </ns1:p>
          <ns1:p>
            <ns1:r>
              <ns1:t>Figure source: output/pdf/cross_talker_figures_concise.pdf, page 1</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3.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English</ns1:t>
            </ns1:r>
          </ns1:p>
          <ns1:p>
            <ns1:r>
              <ns1:t>This map gives the language-background context for the project. Each label identifies an L1 represented in our speech corpora, and shared label colors follow the language groups in Florian’s original figure. These are not scores: two labels with the same color simply belong to the same displayed group. The map positions use associated national capitals, so they should not be read as the speakers’ precise birthplaces or recording locations. I have kept Florian’s supplied map and reused its color scheme in the other language-level figures.</ns1:t>
            </ns1:r>
          </ns1:p>
          <ns1:p>
            <ns1:r>
              <ns1:t/>
            </ns1:r>
          </ns1:p>
          <ns1:p>
            <ns1:r>
              <ns1:t/>
            </ns1:r>
          </ns1:p>
          <ns1:p>
            <ns1:r>
              <ns1:t>Figure source: output/pdf/cross_talker_figures_concise.pdf, page 2</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4.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English</ns1:t>
            </ns1:r>
          </ns1:p>
          <ns1:p>
            <ns1:r>
              <ns1:t>Here I am comparing languages at the inventory level, rather than comparing individual speech recordings. Each row is a language, and moving right means greater consonant-and-vowel inventory overlap with English. I take the phoneme symbols in a PHOIBLE inventory and calculate Jaccard overlap: the number of symbols shared by the two inventories divided by the number appearing in either inventory. Because PHOIBLE can contain several inventories for a language, I compare the selected inventories with all nine selected English inventories. The point is the average across those inventory pairs, and the line is their minimum-to-maximum range. That line is not a confidence interval. This is a limited reference measure: it uses exact symbol overlap, not pronunciation acoustics, and it does not include tone or phonotactics.</ns1:t>
            </ns1:r>
          </ns1:p>
          <ns1:p>
            <ns1:r>
              <ns1:t/>
            </ns1:r>
          </ns1:p>
          <ns1:p>
            <ns1:r>
              <ns1:t/>
            </ns1:r>
          </ns1:p>
          <ns1:p>
            <ns1:r>
              <ns1:t>Figure source: output/pdf/cross_talker_figures_only.pdf, page 3; concise figure PDF page 3</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5.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English</ns1:t>
            </ns1:r>
          </ns1:p>
          <ns1:p>
            <ns1:r>
              <ns1:t>This is the feature comparison Florian supplied. The columns are the L1 backgrounds, and the rows are particular phonological properties, grouped into segments, phonotactics and intonation or stress. According to the supplied color scale, greener cells indicate greater similarity to English and redder cells indicate less similarity. It gives more specific examples than the inventory-overlap plot, because languages can differ in how sounds are combined and used, not only in which sounds they contain. I should distinguish this supplied illustration from my computed results: I have not calculated or independently checked its cell scores. I still need the underlying score table and generation code before I can explain exactly how every value was assigned. I would not call these cells PHOIBLE-derived measurements on the basis of the image alone.</ns1:t>
            </ns1:r>
          </ns1:p>
          <ns1:p>
            <ns1:r>
              <ns1:t/>
            </ns1:r>
          </ns1:p>
          <ns1:p>
            <ns1:r>
              <ns1:t/>
            </ns1:r>
          </ns1:p>
          <ns1:p>
            <ns1:r>
              <ns1:t>Figure source: output/pdf/cross_talker_figures_only.pdf, page 4; concise figure PDF page 3</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6.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English</ns1:t>
            </ns1:r>
          </ns1:p>
          <ns1:p>
            <ns1:r>
              <ns1:t>Here I put the distance and similarity versions side by side. Both axes contain the same 42 AN19 talkers, including six English reference talkers, in the same order. For each talker pair I match the same 138 words and calculate DTW between their Tr-24, three-dimensional trajectories. The local distance is Euclidean, and the accumulated cost is divided by the mean number of frames in the two sequences. On the left, I average these distances within word and then across words. On the right, I first convert each recording-pair distance to exp(-distance), with k fixed at one, and then perform the same averaging. It is not the exponential of the final average distance. Both color scales are linear: larger values mean less similar on the left but more similar on the right. English comes first, other language groups are ordered by average distance to English, and speakers are clustered within each language. Gray boxes mark language groups; the masked diagonal is not an observed zero. These are representation-based comparisons, not correlations or probabilities of a correct human response.</ns1:t>
            </ns1:r>
          </ns1:p>
          <ns1:p>
            <ns1:r>
              <ns1:t/>
            </ns1:r>
          </ns1:p>
          <ns1:p>
            <ns1:r>
              <ns1:t/>
            </ns1:r>
          </ns1:p>
          <ns1:p>
            <ns1:r>
              <ns1:t>Figure source: output/pdf/cross_talker_figures_concise.pdf, page 4</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7.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English</ns1:t>
            </ns1:r>
          </ns1:p>
          <ns1:p>
            <ns1:r>
              <ns1:t>This is the revised segment summary we discussed. Each small dot is one L2 speaker, the open diamond is the average for that L1 group, and the horizontal line is its 95 percent confidence interval. The rows are sorted from higher to lower mean similarity, and n gives the number of speakers. To calculate one dot, I first use FALCON to locate the intended phones in each word, then take the corresponding frames from the existing HuBERT trajectory. I compare each phone instance with the same intended phone, in the same word and canonical position, for the six English speakers. I convert each pair’s DTW distance to exp(-distance), average within each English speaker and across the six English speakers, and finally average every eligible instance equally for the L2 speaker. I do not give each phoneme type an equal vote. There are 5,114 eligible instances across 36 L2 speakers. The intervals resample L2 speakers within their language group 1,000 times; single-speaker groups have no estimated interval. These are automatically aligned intended phones, so the plot is not a manually verified account of what each speaker actually pronounced.</ns1:t>
            </ns1:r>
          </ns1:p>
          <ns1:p>
            <ns1:r>
              <ns1:t/>
            </ns1:r>
          </ns1:p>
          <ns1:p>
            <ns1:r>
              <ns1:t/>
            </ns1:r>
          </ns1:p>
          <ns1:p>
            <ns1:r>
              <ns1:t>Figure source: output/pdf/cross_talker_figures_concise.pdf, page 5</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8.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English</ns1:t>
            </ns1:r>
          </ns1:p>
          <ns1:p>
            <ns1:r>
              <ns1:t>Here the question is whether a test word that is more similar to English reference productions is also easier for English-L1 listeners to understand in the control condition. The horizontal axis is word similarity to English, and the vertical axis is the proportion of correct word responses. AN19 is on the left, with Korean- and Spanish-accented tests, and X21 is on the right, with Mandarin-accented tests. Each point summarizes a similarity quantile bin, and the smooth lines are descriptive logistic fits, not cross-validated GLMM predictions. Their bands and the point intervals come from resampling listeners 1,000 times. For this existing analysis, I first average the English-reference distances, divide by a dataset-specific median distance and then apply the exponential transformation. That scaling is different from the segment and matrix plots, so their absolute similarity numbers should not be compared. The small histograms show where the test-word similarities fall, counting each physical target once rather than once per listener response. This is control-test performance, not learning during the exposure phase.</ns1:t>
            </ns1:r>
          </ns1:p>
          <ns1:p>
            <ns1:r>
              <ns1:t/>
            </ns1:r>
          </ns1:p>
          <ns1:p>
            <ns1:r>
              <ns1:t/>
            </ns1:r>
          </ns1:p>
          <ns1:p>
            <ns1:r>
              <ns1:t>Figure source: output/pdf/cross_talker_figures_concise.pdf, page 6</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9.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English</ns1:t>
            </ns1:r>
          </ns1:p>
          <ns1:p>
            <ns1:r>
              <ns1:t>This single figure brings together the three datasets. The horizontal axis starts with MFCC and STRF, followed by the retained HuBERT layers. Blue is the non-ASR-fine-tuned model and red is the ASR-fine-tuned model; each acoustic baseline is shown once in black. The vertical axis is predictor z divided by that dataset's mean ceiling z, multiplied by 100. I use the same ceiling for both model variants within a dataset, not a common ceiling across datasets. Gray dots are the three fold estimates; colored points and error bars show their mean and 95 percent fold-bootstrap interval. The dashed line is 100 percent, with a gray interval for the ceiling; orange lines are the rescaled nominal z thresholds of plus or minus 1.96. I removed the raw-z panels because they plotted the same values on another scale. These are retained notebook test-fold refits, not frozen held-out predictions. In X21, averaging k across folds also introduces parameter-selection leakage. For AN19 and B23 the stored ceilings use a broader participant sample, so they are historical references, not matched predictive upper bounds. The percentages are not accuracy or explained variance, and three folds give only a coarse uncertainty summary.</ns1:t>
            </ns1:r>
          </ns1:p>
          <ns1:p>
            <ns1:r>
              <ns1:t/>
            </ns1:r>
          </ns1:p>
          <ns1:p>
            <ns1:r>
              <ns1:t/>
            </ns1:r>
          </ns1:p>
          <ns1:p>
            <ns1:r>
              <ns1:t>Figure source: output/pdf/cross_talker_figures_concise.pdf, page 7</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10.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English</ns1:t>
            </ns1:r>
          </ns1:p>
          <ns1:p>
            <ns1:r>
              <ns1:t>For HVE I retain this X21 example, rather than the complete method-by-layer catalogue. The four panels show frame dispersion around the overall pool mean, adjacent-frame changes across the actual exposure sequence, average frame dispersion within each sentence recording, and dispersion of sentence-instance mean vectors within each repeated sentence type. The global transition measure includes token boundaries; it is the one that needs exposure order. The horizontal axis is HuBERT layer, and the vertical axis is the HVE coefficient divided by its standard error: the Wald z. Blue and red distinguish the two model variants. Each gray dot comes from fitting the predictor-only GLMM to two training folds; colored points and bars summarize the three fits with a 95 percent fold-bootstrap interval. Positive and negative values indicate the direction of the fitted association, not prediction accuracy. Orange lines mark nominal plus or minus 1.96. I do not divide these training-fit z values by the older test-refit ceiling. Non-DTW dispersion here uses squared deviations at tau = 2 without a final root, and the transition measure averages squared frame changes. None of these four panels uses DTW. This is a retained example, not a claim that only four HVE definitions exist.</ns1:t>
            </ns1:r>
          </ns1:p>
          <ns1:p>
            <ns1:r>
              <ns1:t/>
            </ns1:r>
          </ns1:p>
          <ns1:p>
            <ns1:r>
              <ns1:t/>
            </ns1:r>
          </ns1:p>
          <ns1:p>
            <ns1:r>
              <ns1:t>Figure source: output/pdf/cross_talker_figures_concise.pdf, page 8</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11.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English</ns1:t>
            </ns1:r>
          </ns1:p>
          <ns1:p>
            <ns1:r>
              <ns1:t>This page shows the same four HVE definitions in the same order, but now asks how well the model predicts held-out responses. The x-axis is layer and the y-axis is log likelihood per word; higher, or less negative, is better. For each split I standardize the predictor using training data, fit the predictor-only GLMM on the two training folds, and score the untouched third fold without refitting. Predictions set random-effect contributions to zero. Each score is the sum of the observed responses' log probabilities divided by the number of word trials. Gray dots are the three fold scores; colored means and 95 percent intervals use the same fold-bootstrap summary. This is distinct from the preceding coefficient z plot: a large coefficient z need not mean better held-out prediction. I keep this one likelihood page for that distinction, without the exhaustive appendix or an incompatible ceiling. It evaluates the retained candidates; it does not provide an independent outer-fold evaluation of choosing the best layer from these scores.</ns1:t>
            </ns1:r>
          </ns1:p>
          <ns1:p>
            <ns1:r>
              <ns1:t/>
            </ns1:r>
          </ns1:p>
          <ns1:p>
            <ns1:r>
              <ns1:t/>
            </ns1:r>
          </ns1:p>
          <ns1:p>
            <ns1:r>
              <ns1:t>Figure source: output/pdf/cross_talker_figures_concise.pdf, page 9</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12.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English</ns1:t>
            </ns1:r>
          </ns1:p>
          <ns1:p>
            <ns1:r>
              <ns1:t>This figure brings the model values back to listener accuracy. Each panel is one Mandarin-English test talker, with talker 035 in the large panel and 032, 043 and 037 in the smaller panels. The horizontal axis is exposure-to-test similarity from HuBERT base Tr-24 after 3-D t-SNE; the vertical axis is the proportion of correctly recognized words. Gray is control, green is multi-talker, blue is single-talker, and red is talker-specific exposure. I summarize the trial responses in ten similarity bins per condition and fit a separate ordinary binomial logistic curve for each condition and test talker. The similarity values are exp of minus k times the retained DTW distance, with k about .358 and the historical coordinate scaling. These are descriptive curves rather than mixed-model held-out predictions. The plot retains its original intervals, but their source record does not establish the resampling unit, so I cannot call them participant-bootstrap or three-fold intervals. A vertical gap between curves is descriptive; the nested models provide the test of condition beyond similarity.</ns1:t>
            </ns1:r>
          </ns1:p>
          <ns1:p>
            <ns1:r>
              <ns1:t/>
            </ns1:r>
          </ns1:p>
          <ns1:p>
            <ns1:r>
              <ns1:t/>
            </ns1:r>
          </ns1:p>
          <ns1:p>
            <ns1:r>
              <ns1:t>Figure source: output/pdf/cross_talker_figures_concise.pdf, page 10</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13.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English</ns1:t>
            </ns1:r>
          </ns1:p>
          <ns1:p>
            <ns1:r>
              <ns1:t>This is the same X21 data, but now I combine the conditions within each test talker. The axes and similarity calculation are unchanged. Each black point summarizes trial accuracy in one of twenty similarity bins, and the black line is one logistic regression fitted to the pooled trial rows. I did not average the four colored curves from the previous figure. The overall accuracy is about .851 for talker 035, .818 for 032, .838 for 043 and .841 for 037. This gives a compact view of the overall pattern, but pooling does not control for condition and can mix within-condition and between-condition differences. It is therefore a descriptive summary, not a substitute for the conditional analysis or the GLMM comparison.</ns1:t>
            </ns1:r>
          </ns1:p>
          <ns1:p>
            <ns1:r>
              <ns1:t/>
            </ns1:r>
          </ns1:p>
          <ns1:p>
            <ns1:r>
              <ns1:t/>
            </ns1:r>
          </ns1:p>
          <ns1:p>
            <ns1:r>
              <ns1:t>Figure source: output/pdf/cross_talker_figures_concise.pdf, page 11</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14.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English</ns1:t>
            </ns1:r>
          </ns1:p>
          <ns1:p>
            <ns1:r>
              <ns1:t>Here I test whether SBI or HVE and experimental condition each add information beyond the other. These are the selected non-ASR-fine-tuned X21 configurations: SBI at Tr-14 and HVE at CNN-6 using within-word transitions. The x-axis distinguishes SBI and HVE. The y-axis is the likelihood-ratio statistic, twice the improvement in fitted log likelihood; it is not z or an out-of-fold gain. On the left, I compare condition-only with the joint model. On the right, I compare predictor-only with that same joint model. For each fold, predictor values were standardized using the mean and standard deviation from the other two folds. Those values were combined, and all three GLMMs were fitted on the same response rows. I do not reselect the predictor for each comparison. The labels give the chi-square reference degrees of freedom and p-values. For SBI, the two p-values are .0107 and .000105; for HVE they are .0532 and .0117. So condition does add to HVE. The selected HVE's predictor-only coefficient is negative, which does not support the expected positive variability effect. These tests are exploratory because predictor selection used this study. They are not an independent confirmation, and the bars do not represent three folds.</ns1:t>
            </ns1:r>
          </ns1:p>
          <ns1:p>
            <ns1:r>
              <ns1:t/>
            </ns1:r>
          </ns1:p>
          <ns1:p>
            <ns1:r>
              <ns1:t/>
            </ns1:r>
          </ns1:p>
          <ns1:p>
            <ns1:r>
              <ns1:t>Figure source: output/pdf/cross_talker_figures_concise.pdf, page 12</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c9b3045b946484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7671a75e66c4a3e" /><Relationship Type="http://schemas.openxmlformats.org/officeDocument/2006/relationships/slideLayout" Target="/ppt/slideLayouts/slideLayout1.xml" Id="Re76fca79d659474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76fca79d659474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641167409be4057" /><Relationship Type="http://schemas.openxmlformats.org/officeDocument/2006/relationships/notesSlide" Target="/ppt/notesSlides/notesSlide1.xml" Id="Rf3076fe7722a469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2e3d2ab67ba470d" /><Relationship Type="http://schemas.openxmlformats.org/officeDocument/2006/relationships/image" Target="/ppt/media/image.png" Id="Rc46ae029eeca4dc5" /><Relationship Type="http://schemas.openxmlformats.org/officeDocument/2006/relationships/notesSlide" Target="/ppt/notesSlides/notesSlide2.xml" Id="Rf7d105461b504d2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dafbc23e86a4fb8" /><Relationship Type="http://schemas.openxmlformats.org/officeDocument/2006/relationships/image" Target="/ppt/media/image2.png" Id="Rb4370df8e9444a92" /><Relationship Type="http://schemas.openxmlformats.org/officeDocument/2006/relationships/notesSlide" Target="/ppt/notesSlides/notesSlide3.xml" Id="R7388ea05ca4b4a8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09f3af51f7345db" /><Relationship Type="http://schemas.openxmlformats.org/officeDocument/2006/relationships/image" Target="/ppt/media/image3.png" Id="Rf304cf280a094bed" /><Relationship Type="http://schemas.openxmlformats.org/officeDocument/2006/relationships/notesSlide" Target="/ppt/notesSlides/notesSlide4.xml" Id="Rcfe092197afc435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47e68090afc4a7d" /><Relationship Type="http://schemas.openxmlformats.org/officeDocument/2006/relationships/image" Target="/ppt/media/image4.png" Id="R5266cf67d1254235" /><Relationship Type="http://schemas.openxmlformats.org/officeDocument/2006/relationships/notesSlide" Target="/ppt/notesSlides/notesSlide5.xml" Id="R04825c59266f40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6522bd75523429b" /><Relationship Type="http://schemas.openxmlformats.org/officeDocument/2006/relationships/image" Target="/ppt/media/image5.png" Id="Reeb5362b8cf34371" /><Relationship Type="http://schemas.openxmlformats.org/officeDocument/2006/relationships/notesSlide" Target="/ppt/notesSlides/notesSlide6.xml" Id="R4ba51f33c1ff491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9db86c4e56d4a11" /><Relationship Type="http://schemas.openxmlformats.org/officeDocument/2006/relationships/image" Target="/ppt/media/image6.png" Id="R0f606b4f0f6a4d25" /><Relationship Type="http://schemas.openxmlformats.org/officeDocument/2006/relationships/notesSlide" Target="/ppt/notesSlides/notesSlide7.xml" Id="R21aea68cf23f4d9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fa1fcdb85e3427c" /><Relationship Type="http://schemas.openxmlformats.org/officeDocument/2006/relationships/image" Target="/ppt/media/image7.png" Id="R094cc43ecab445b6" /><Relationship Type="http://schemas.openxmlformats.org/officeDocument/2006/relationships/notesSlide" Target="/ppt/notesSlides/notesSlide8.xml" Id="Rf2a0baa3b4ad461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8bb4e4c15b74f42" /><Relationship Type="http://schemas.openxmlformats.org/officeDocument/2006/relationships/image" Target="/ppt/media/image8.png" Id="R1803eaf61af648fb" /><Relationship Type="http://schemas.openxmlformats.org/officeDocument/2006/relationships/notesSlide" Target="/ppt/notesSlides/notesSlide9.xml" Id="Rb0d1021a9faa402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7f3ce98411e4848" /><Relationship Type="http://schemas.openxmlformats.org/officeDocument/2006/relationships/image" Target="/ppt/media/image9.png" Id="R7aba3223b8b147ee" /><Relationship Type="http://schemas.openxmlformats.org/officeDocument/2006/relationships/notesSlide" Target="/ppt/notesSlides/notesSlide10.xml" Id="R33bc61a2599a4a7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fc707e2723947bf" /><Relationship Type="http://schemas.openxmlformats.org/officeDocument/2006/relationships/image" Target="/ppt/media/image10.png" Id="Rb61fa84abf884fa3" /><Relationship Type="http://schemas.openxmlformats.org/officeDocument/2006/relationships/notesSlide" Target="/ppt/notesSlides/notesSlide11.xml" Id="R6bfe4f8c522a4d7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efd0ab44f8b42f6" /><Relationship Type="http://schemas.openxmlformats.org/officeDocument/2006/relationships/image" Target="/ppt/media/image11.png" Id="R7ff5961cb2d84be6" /><Relationship Type="http://schemas.openxmlformats.org/officeDocument/2006/relationships/notesSlide" Target="/ppt/notesSlides/notesSlide12.xml" Id="R3cb9ac74ee3a47b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304da547f814c84" /><Relationship Type="http://schemas.openxmlformats.org/officeDocument/2006/relationships/image" Target="/ppt/media/image12.png" Id="Rf6249d056ea040b5" /><Relationship Type="http://schemas.openxmlformats.org/officeDocument/2006/relationships/notesSlide" Target="/ppt/notesSlides/notesSlide13.xml" Id="Rbc1c462f11094d3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9e13c0f94e84be5" /><Relationship Type="http://schemas.openxmlformats.org/officeDocument/2006/relationships/image" Target="/ppt/media/image13.png" Id="Rda3e2780c3c94c31" /><Relationship Type="http://schemas.openxmlformats.org/officeDocument/2006/relationships/notesSlide" Target="/ppt/notesSlides/notesSlide14.xml" Id="R42dabf2ecee6480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deck-title">
            <a:extLst xmlns:a="http://schemas.openxmlformats.org/drawingml/2006/main">
              <a:ext uri="{FF2B5EF4-FFF2-40B4-BE49-F238E27FC236}">
                <a16:creationId xmlns:a16="http://schemas.microsoft.com/office/drawing/2014/main" id="{8E77F737-AB10-414D-A9DB-58DBE15AC04C}"/>
              </a:ext>
            </a:extLst>
          </p:cNvPr>
          <p:cNvSpPr>
            <a:spLocks xmlns:a="http://schemas.openxmlformats.org/drawingml/2006/main" noGrp="1"/>
          </p:cNvSpPr>
          <p:nvPr/>
        </p:nvSpPr>
        <p:spPr>
          <a:xfrm xmlns:a="http://schemas.openxmlformats.org/drawingml/2006/main">
            <a:off x="609600" y="24003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5100" b="1">
                <a:solidFill>
                  <a:srgbClr val="202020"/>
                </a:solidFill>
                <a:latin typeface="Arial"/>
                <a:ea typeface="Arial"/>
                <a:cs typeface="Arial"/>
              </a:defRPr>
            </a:pPr>
            <a:r>
              <a:rPr sz="5100" b="1">
                <a:solidFill>
                  <a:srgbClr val="202020"/>
                </a:solidFill>
                <a:latin typeface="Arial"/>
                <a:ea typeface="Arial"/>
                <a:cs typeface="Arial"/>
              </a:rPr>
              <a:t>Cross-talker generalization</a:t>
            </a:r>
          </a:p>
        </p:txBody>
      </p:sp>
      <p:sp>
        <p:nvSpPr>
          <p:cNvPr id="2" name="deck-subtitle">
            <a:extLst xmlns:a="http://schemas.openxmlformats.org/drawingml/2006/main">
              <a:ext uri="{FF2B5EF4-FFF2-40B4-BE49-F238E27FC236}">
                <a16:creationId xmlns:a16="http://schemas.microsoft.com/office/drawing/2014/main" id="{CF41284D-88E0-4060-8A94-8C50D490A7FA}"/>
              </a:ext>
            </a:extLst>
          </p:cNvPr>
          <p:cNvSpPr>
            <a:spLocks xmlns:a="http://schemas.openxmlformats.org/drawingml/2006/main" noGrp="1"/>
          </p:cNvSpPr>
          <p:nvPr/>
        </p:nvSpPr>
        <p:spPr>
          <a:xfrm xmlns:a="http://schemas.openxmlformats.org/drawingml/2006/main">
            <a:off x="628650" y="3562350"/>
            <a:ext cx="10934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400" b="0">
                <a:solidFill>
                  <a:srgbClr val="555555"/>
                </a:solidFill>
                <a:latin typeface="Arial"/>
                <a:ea typeface="Arial"/>
                <a:cs typeface="Arial"/>
              </a:defRPr>
            </a:pPr>
            <a:r>
              <a:rPr sz="2400" b="0">
                <a:solidFill>
                  <a:srgbClr val="555555"/>
                </a:solidFill>
                <a:latin typeface="Arial"/>
                <a:ea typeface="Arial"/>
                <a:cs typeface="Arial"/>
              </a:rPr>
              <a:t>Representations, pronunciation and human responses</a:t>
            </a:r>
          </a:p>
        </p:txBody>
      </p:sp>
    </p:spTree>
    <p:extLst>
      <p:ext uri="{BB962C8B-B14F-4D97-AF65-F5344CB8AC3E}">
        <p14:creationId xmlns:p14="http://schemas.microsoft.com/office/powerpoint/2010/main" val="123664231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C53858BE-D23A-45B4-9D35-FE88EC15A280}"/>
              </a:ext>
            </a:extLst>
          </p:cNvPr>
          <p:cNvSpPr>
            <a:spLocks xmlns:a="http://schemas.openxmlformats.org/drawingml/2006/main" noGrp="1"/>
          </p:cNvSpPr>
          <p:nvPr/>
        </p:nvSpPr>
        <p:spPr>
          <a:xfrm xmlns:a="http://schemas.openxmlformats.org/drawingml/2006/main">
            <a:off x="533400" y="257175"/>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600" b="1">
                <a:solidFill>
                  <a:srgbClr val="202020"/>
                </a:solidFill>
                <a:latin typeface="Arial"/>
                <a:ea typeface="Arial"/>
                <a:cs typeface="Arial"/>
              </a:defRPr>
            </a:pPr>
            <a:r>
              <a:rPr sz="3600" b="1">
                <a:solidFill>
                  <a:srgbClr val="202020"/>
                </a:solidFill>
                <a:latin typeface="Arial"/>
                <a:ea typeface="Arial"/>
                <a:cs typeface="Arial"/>
              </a:rPr>
              <a:t>Speech as a latent trajectory</a:t>
            </a:r>
          </a:p>
        </p:txBody>
      </p:sp>
      <p:sp>
        <p:nvSpPr>
          <p:cNvPr id="2" name="explanation">
            <a:extLst xmlns:a="http://schemas.openxmlformats.org/drawingml/2006/main">
              <a:ext uri="{FF2B5EF4-FFF2-40B4-BE49-F238E27FC236}">
                <a16:creationId xmlns:a16="http://schemas.microsoft.com/office/drawing/2014/main" id="{AA2F9490-56B0-4756-AD7F-236AA20FB456}"/>
              </a:ext>
            </a:extLst>
          </p:cNvPr>
          <p:cNvSpPr>
            <a:spLocks xmlns:a="http://schemas.openxmlformats.org/drawingml/2006/main" noGrp="1"/>
          </p:cNvSpPr>
          <p:nvPr/>
        </p:nvSpPr>
        <p:spPr>
          <a:xfrm xmlns:a="http://schemas.openxmlformats.org/drawingml/2006/main">
            <a:off x="552450" y="962025"/>
            <a:ext cx="1108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55555"/>
                </a:solidFill>
                <a:latin typeface="Arial"/>
                <a:ea typeface="Arial"/>
                <a:cs typeface="Arial"/>
              </a:defRPr>
            </a:pPr>
            <a:r>
              <a:rPr sz="1800" b="0">
                <a:solidFill>
                  <a:srgbClr val="555555"/>
                </a:solidFill>
                <a:latin typeface="Arial"/>
                <a:ea typeface="Arial"/>
                <a:cs typeface="Arial"/>
              </a:rPr>
              <a:t>HuBERT representations are compared after 3-D t-SNE reduction.</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c46ae029eeca4dc5"/>
          <a:stretch xmlns:a="http://schemas.openxmlformats.org/drawingml/2006/main"/>
        </p:blipFill>
        <p:spPr>
          <a:xfrm xmlns:a="http://schemas.openxmlformats.org/drawingml/2006/main">
            <a:off x="476250" y="2455695"/>
            <a:ext cx="11239500" cy="3194384"/>
          </a:xfrm>
          <a:prstGeom xmlns:a="http://schemas.openxmlformats.org/drawingml/2006/main" prst="rect">
            <a:avLst/>
          </a:prstGeom>
        </p:spPr>
      </p:pic>
    </p:spTree>
    <p:extLst>
      <p:ext uri="{BB962C8B-B14F-4D97-AF65-F5344CB8AC3E}">
        <p14:creationId xmlns:p14="http://schemas.microsoft.com/office/powerpoint/2010/main" val="71964040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2AC9B559-A7EF-432E-9330-39705E050F20}"/>
              </a:ext>
            </a:extLst>
          </p:cNvPr>
          <p:cNvSpPr>
            <a:spLocks xmlns:a="http://schemas.openxmlformats.org/drawingml/2006/main" noGrp="1"/>
          </p:cNvSpPr>
          <p:nvPr/>
        </p:nvSpPr>
        <p:spPr>
          <a:xfrm xmlns:a="http://schemas.openxmlformats.org/drawingml/2006/main">
            <a:off x="533400" y="257175"/>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600" b="1">
                <a:solidFill>
                  <a:srgbClr val="202020"/>
                </a:solidFill>
                <a:latin typeface="Arial"/>
                <a:ea typeface="Arial"/>
                <a:cs typeface="Arial"/>
              </a:defRPr>
            </a:pPr>
            <a:r>
              <a:rPr sz="3600" b="1">
                <a:solidFill>
                  <a:srgbClr val="202020"/>
                </a:solidFill>
                <a:latin typeface="Arial"/>
                <a:ea typeface="Arial"/>
                <a:cs typeface="Arial"/>
              </a:rPr>
              <a:t>Language backgrounds in the data</a:t>
            </a:r>
          </a:p>
        </p:txBody>
      </p:sp>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b4370df8e9444a92"/>
          <a:stretch xmlns:a="http://schemas.openxmlformats.org/drawingml/2006/main"/>
        </p:blipFill>
        <p:spPr>
          <a:xfrm xmlns:a="http://schemas.openxmlformats.org/drawingml/2006/main">
            <a:off x="476250" y="1057682"/>
            <a:ext cx="11239500" cy="5523686"/>
          </a:xfrm>
          <a:prstGeom xmlns:a="http://schemas.openxmlformats.org/drawingml/2006/main" prst="rect">
            <a:avLst/>
          </a:prstGeom>
        </p:spPr>
      </p:pic>
    </p:spTree>
    <p:extLst>
      <p:ext uri="{BB962C8B-B14F-4D97-AF65-F5344CB8AC3E}">
        <p14:creationId xmlns:p14="http://schemas.microsoft.com/office/powerpoint/2010/main" val="68591451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F18EA4F6-8A11-4F5E-8360-0B6268BD5AAF}"/>
              </a:ext>
            </a:extLst>
          </p:cNvPr>
          <p:cNvSpPr>
            <a:spLocks xmlns:a="http://schemas.openxmlformats.org/drawingml/2006/main" noGrp="1"/>
          </p:cNvSpPr>
          <p:nvPr/>
        </p:nvSpPr>
        <p:spPr>
          <a:xfrm xmlns:a="http://schemas.openxmlformats.org/drawingml/2006/main">
            <a:off x="533400" y="257175"/>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600" b="1">
                <a:solidFill>
                  <a:srgbClr val="202020"/>
                </a:solidFill>
                <a:latin typeface="Arial"/>
                <a:ea typeface="Arial"/>
                <a:cs typeface="Arial"/>
              </a:defRPr>
            </a:pPr>
            <a:r>
              <a:rPr sz="3600" b="1">
                <a:solidFill>
                  <a:srgbClr val="202020"/>
                </a:solidFill>
                <a:latin typeface="Arial"/>
                <a:ea typeface="Arial"/>
                <a:cs typeface="Arial"/>
              </a:rPr>
              <a:t>How similar are the sound inventories?</a:t>
            </a:r>
          </a:p>
        </p:txBody>
      </p:sp>
      <p:sp>
        <p:nvSpPr>
          <p:cNvPr id="2" name="explanation">
            <a:extLst xmlns:a="http://schemas.openxmlformats.org/drawingml/2006/main">
              <a:ext uri="{FF2B5EF4-FFF2-40B4-BE49-F238E27FC236}">
                <a16:creationId xmlns:a16="http://schemas.microsoft.com/office/drawing/2014/main" id="{982E5989-E89A-4FEB-9389-2B92C3D56347}"/>
              </a:ext>
            </a:extLst>
          </p:cNvPr>
          <p:cNvSpPr>
            <a:spLocks xmlns:a="http://schemas.openxmlformats.org/drawingml/2006/main" noGrp="1"/>
          </p:cNvSpPr>
          <p:nvPr/>
        </p:nvSpPr>
        <p:spPr>
          <a:xfrm xmlns:a="http://schemas.openxmlformats.org/drawingml/2006/main">
            <a:off x="552450" y="962025"/>
            <a:ext cx="1108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55555"/>
                </a:solidFill>
                <a:latin typeface="Arial"/>
                <a:ea typeface="Arial"/>
                <a:cs typeface="Arial"/>
              </a:defRPr>
            </a:pPr>
            <a:r>
              <a:rPr sz="1800" b="0">
                <a:solidFill>
                  <a:srgbClr val="555555"/>
                </a:solidFill>
                <a:latin typeface="Arial"/>
                <a:ea typeface="Arial"/>
                <a:cs typeface="Arial"/>
              </a:rPr>
              <a:t>Inventory overlap is a reference measure, not an acoustic comparison.</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f304cf280a094bed"/>
          <a:stretch xmlns:a="http://schemas.openxmlformats.org/drawingml/2006/main"/>
        </p:blipFill>
        <p:spPr>
          <a:xfrm xmlns:a="http://schemas.openxmlformats.org/drawingml/2006/main">
            <a:off x="2280196" y="1495425"/>
            <a:ext cx="7631608" cy="5114925"/>
          </a:xfrm>
          <a:prstGeom xmlns:a="http://schemas.openxmlformats.org/drawingml/2006/main" prst="rect">
            <a:avLst/>
          </a:prstGeom>
        </p:spPr>
      </p:pic>
    </p:spTree>
    <p:extLst>
      <p:ext uri="{BB962C8B-B14F-4D97-AF65-F5344CB8AC3E}">
        <p14:creationId xmlns:p14="http://schemas.microsoft.com/office/powerpoint/2010/main" val="67963502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9D6AE9D6-A07F-4503-9B94-D6E56B1911FB}"/>
              </a:ext>
            </a:extLst>
          </p:cNvPr>
          <p:cNvSpPr>
            <a:spLocks xmlns:a="http://schemas.openxmlformats.org/drawingml/2006/main" noGrp="1"/>
          </p:cNvSpPr>
          <p:nvPr/>
        </p:nvSpPr>
        <p:spPr>
          <a:xfrm xmlns:a="http://schemas.openxmlformats.org/drawingml/2006/main">
            <a:off x="533400" y="257175"/>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600" b="1">
                <a:solidFill>
                  <a:srgbClr val="202020"/>
                </a:solidFill>
                <a:latin typeface="Arial"/>
                <a:ea typeface="Arial"/>
                <a:cs typeface="Arial"/>
              </a:defRPr>
            </a:pPr>
            <a:r>
              <a:rPr sz="3600" b="1">
                <a:solidFill>
                  <a:srgbClr val="202020"/>
                </a:solidFill>
                <a:latin typeface="Arial"/>
                <a:ea typeface="Arial"/>
                <a:cs typeface="Arial"/>
              </a:rPr>
              <a:t>Which phonological properties differ?</a:t>
            </a:r>
          </a:p>
        </p:txBody>
      </p:sp>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5266cf67d1254235"/>
          <a:stretch xmlns:a="http://schemas.openxmlformats.org/drawingml/2006/main"/>
        </p:blipFill>
        <p:spPr>
          <a:xfrm xmlns:a="http://schemas.openxmlformats.org/drawingml/2006/main">
            <a:off x="1841296" y="1028700"/>
            <a:ext cx="8509408" cy="5581650"/>
          </a:xfrm>
          <a:prstGeom xmlns:a="http://schemas.openxmlformats.org/drawingml/2006/main" prst="rect">
            <a:avLst/>
          </a:prstGeom>
        </p:spPr>
      </p:pic>
    </p:spTree>
    <p:extLst>
      <p:ext uri="{BB962C8B-B14F-4D97-AF65-F5344CB8AC3E}">
        <p14:creationId xmlns:p14="http://schemas.microsoft.com/office/powerpoint/2010/main" val="21542095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7F702DD3-0881-4D09-BFCB-1B316A6E06FE}"/>
              </a:ext>
            </a:extLst>
          </p:cNvPr>
          <p:cNvSpPr>
            <a:spLocks xmlns:a="http://schemas.openxmlformats.org/drawingml/2006/main" noGrp="1"/>
          </p:cNvSpPr>
          <p:nvPr/>
        </p:nvSpPr>
        <p:spPr>
          <a:xfrm xmlns:a="http://schemas.openxmlformats.org/drawingml/2006/main">
            <a:off x="533400" y="257175"/>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600" b="1">
                <a:solidFill>
                  <a:srgbClr val="202020"/>
                </a:solidFill>
                <a:latin typeface="Arial"/>
                <a:ea typeface="Arial"/>
                <a:cs typeface="Arial"/>
              </a:defRPr>
            </a:pPr>
            <a:r>
              <a:rPr sz="3600" b="1">
                <a:solidFill>
                  <a:srgbClr val="202020"/>
                </a:solidFill>
                <a:latin typeface="Arial"/>
                <a:ea typeface="Arial"/>
                <a:cs typeface="Arial"/>
              </a:rPr>
              <a:t>Comparing the same words across talkers</a:t>
            </a:r>
          </a:p>
        </p:txBody>
      </p:sp>
      <p:sp>
        <p:nvSpPr>
          <p:cNvPr id="2" name="explanation">
            <a:extLst xmlns:a="http://schemas.openxmlformats.org/drawingml/2006/main">
              <a:ext uri="{FF2B5EF4-FFF2-40B4-BE49-F238E27FC236}">
                <a16:creationId xmlns:a16="http://schemas.microsoft.com/office/drawing/2014/main" id="{9B4E35F7-94DF-4EDC-8CEB-9BF06AC4FA76}"/>
              </a:ext>
            </a:extLst>
          </p:cNvPr>
          <p:cNvSpPr>
            <a:spLocks xmlns:a="http://schemas.openxmlformats.org/drawingml/2006/main" noGrp="1"/>
          </p:cNvSpPr>
          <p:nvPr/>
        </p:nvSpPr>
        <p:spPr>
          <a:xfrm xmlns:a="http://schemas.openxmlformats.org/drawingml/2006/main">
            <a:off x="552450" y="962025"/>
            <a:ext cx="1108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55555"/>
                </a:solidFill>
                <a:latin typeface="Arial"/>
                <a:ea typeface="Arial"/>
                <a:cs typeface="Arial"/>
              </a:defRPr>
            </a:pPr>
            <a:r>
              <a:rPr sz="1800" b="0">
                <a:solidFill>
                  <a:srgbClr val="555555"/>
                </a:solidFill>
                <a:latin typeface="Arial"/>
                <a:ea typeface="Arial"/>
                <a:cs typeface="Arial"/>
              </a:rPr>
              <a:t>Distance and similarity use the same 138 words and linear color scales.</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eeb5362b8cf34371"/>
          <a:stretch xmlns:a="http://schemas.openxmlformats.org/drawingml/2006/main"/>
        </p:blipFill>
        <p:spPr>
          <a:xfrm xmlns:a="http://schemas.openxmlformats.org/drawingml/2006/main">
            <a:off x="575791" y="1495655"/>
            <a:ext cx="11040417" cy="5114466"/>
          </a:xfrm>
          <a:prstGeom xmlns:a="http://schemas.openxmlformats.org/drawingml/2006/main" prst="rect">
            <a:avLst/>
          </a:prstGeom>
        </p:spPr>
      </p:pic>
    </p:spTree>
    <p:extLst>
      <p:ext uri="{BB962C8B-B14F-4D97-AF65-F5344CB8AC3E}">
        <p14:creationId xmlns:p14="http://schemas.microsoft.com/office/powerpoint/2010/main" val="34156323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EF5FE680-3EEC-41EF-97BB-3720EE28C40F}"/>
              </a:ext>
            </a:extLst>
          </p:cNvPr>
          <p:cNvSpPr>
            <a:spLocks xmlns:a="http://schemas.openxmlformats.org/drawingml/2006/main" noGrp="1"/>
          </p:cNvSpPr>
          <p:nvPr/>
        </p:nvSpPr>
        <p:spPr>
          <a:xfrm xmlns:a="http://schemas.openxmlformats.org/drawingml/2006/main">
            <a:off x="533400" y="257175"/>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600" b="1">
                <a:solidFill>
                  <a:srgbClr val="202020"/>
                </a:solidFill>
                <a:latin typeface="Arial"/>
                <a:ea typeface="Arial"/>
                <a:cs typeface="Arial"/>
              </a:defRPr>
            </a:pPr>
            <a:r>
              <a:rPr sz="3600" b="1">
                <a:solidFill>
                  <a:srgbClr val="202020"/>
                </a:solidFill>
                <a:latin typeface="Arial"/>
                <a:ea typeface="Arial"/>
                <a:cs typeface="Arial"/>
              </a:rPr>
              <a:t>Average similarity across segment instances</a:t>
            </a:r>
          </a:p>
        </p:txBody>
      </p:sp>
      <p:sp>
        <p:nvSpPr>
          <p:cNvPr id="2" name="explanation">
            <a:extLst xmlns:a="http://schemas.openxmlformats.org/drawingml/2006/main">
              <a:ext uri="{FF2B5EF4-FFF2-40B4-BE49-F238E27FC236}">
                <a16:creationId xmlns:a16="http://schemas.microsoft.com/office/drawing/2014/main" id="{8E0D6185-1227-4836-828D-DA0F54FCC74B}"/>
              </a:ext>
            </a:extLst>
          </p:cNvPr>
          <p:cNvSpPr>
            <a:spLocks xmlns:a="http://schemas.openxmlformats.org/drawingml/2006/main" noGrp="1"/>
          </p:cNvSpPr>
          <p:nvPr/>
        </p:nvSpPr>
        <p:spPr>
          <a:xfrm xmlns:a="http://schemas.openxmlformats.org/drawingml/2006/main">
            <a:off x="552450" y="962025"/>
            <a:ext cx="1108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55555"/>
                </a:solidFill>
                <a:latin typeface="Arial"/>
                <a:ea typeface="Arial"/>
                <a:cs typeface="Arial"/>
              </a:defRPr>
            </a:pPr>
            <a:r>
              <a:rPr sz="1800" b="0">
                <a:solidFill>
                  <a:srgbClr val="555555"/>
                </a:solidFill>
                <a:latin typeface="Arial"/>
                <a:ea typeface="Arial"/>
                <a:cs typeface="Arial"/>
              </a:rPr>
              <a:t>Each point summarizes one talker; intervals describe uncertainty in language-group means.</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0f606b4f0f6a4d25"/>
          <a:stretch xmlns:a="http://schemas.openxmlformats.org/drawingml/2006/main"/>
        </p:blipFill>
        <p:spPr>
          <a:xfrm xmlns:a="http://schemas.openxmlformats.org/drawingml/2006/main">
            <a:off x="2335026" y="1495425"/>
            <a:ext cx="7521948" cy="5114925"/>
          </a:xfrm>
          <a:prstGeom xmlns:a="http://schemas.openxmlformats.org/drawingml/2006/main" prst="rect">
            <a:avLst/>
          </a:prstGeom>
        </p:spPr>
      </p:pic>
    </p:spTree>
    <p:extLst>
      <p:ext uri="{BB962C8B-B14F-4D97-AF65-F5344CB8AC3E}">
        <p14:creationId xmlns:p14="http://schemas.microsoft.com/office/powerpoint/2010/main" val="110565061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85D28BDF-212A-45DE-944D-4FD6F9B09A08}"/>
              </a:ext>
            </a:extLst>
          </p:cNvPr>
          <p:cNvSpPr>
            <a:spLocks xmlns:a="http://schemas.openxmlformats.org/drawingml/2006/main" noGrp="1"/>
          </p:cNvSpPr>
          <p:nvPr/>
        </p:nvSpPr>
        <p:spPr>
          <a:xfrm xmlns:a="http://schemas.openxmlformats.org/drawingml/2006/main">
            <a:off x="533400" y="257175"/>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600" b="1">
                <a:solidFill>
                  <a:srgbClr val="202020"/>
                </a:solidFill>
                <a:latin typeface="Arial"/>
                <a:ea typeface="Arial"/>
                <a:cs typeface="Arial"/>
              </a:defRPr>
            </a:pPr>
            <a:r>
              <a:rPr sz="3600" b="1">
                <a:solidFill>
                  <a:srgbClr val="202020"/>
                </a:solidFill>
                <a:latin typeface="Arial"/>
                <a:ea typeface="Arial"/>
                <a:cs typeface="Arial"/>
              </a:rPr>
              <a:t>Similarity to English and listener accuracy</a:t>
            </a:r>
          </a:p>
        </p:txBody>
      </p:sp>
      <p:sp>
        <p:nvSpPr>
          <p:cNvPr id="2" name="explanation">
            <a:extLst xmlns:a="http://schemas.openxmlformats.org/drawingml/2006/main">
              <a:ext uri="{FF2B5EF4-FFF2-40B4-BE49-F238E27FC236}">
                <a16:creationId xmlns:a16="http://schemas.microsoft.com/office/drawing/2014/main" id="{308F9C70-BFC9-4F75-BFB6-77197FEC5495}"/>
              </a:ext>
            </a:extLst>
          </p:cNvPr>
          <p:cNvSpPr>
            <a:spLocks xmlns:a="http://schemas.openxmlformats.org/drawingml/2006/main" noGrp="1"/>
          </p:cNvSpPr>
          <p:nvPr/>
        </p:nvSpPr>
        <p:spPr>
          <a:xfrm xmlns:a="http://schemas.openxmlformats.org/drawingml/2006/main">
            <a:off x="552450" y="962025"/>
            <a:ext cx="1108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55555"/>
                </a:solidFill>
                <a:latin typeface="Arial"/>
                <a:ea typeface="Arial"/>
                <a:cs typeface="Arial"/>
              </a:defRPr>
            </a:pPr>
            <a:r>
              <a:rPr sz="1800" b="0">
                <a:solidFill>
                  <a:srgbClr val="555555"/>
                </a:solidFill>
                <a:latin typeface="Arial"/>
                <a:ea typeface="Arial"/>
                <a:cs typeface="Arial"/>
              </a:rPr>
              <a:t>Control-condition test responses, without informative L2 exposure.</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094cc43ecab445b6"/>
          <a:stretch xmlns:a="http://schemas.openxmlformats.org/drawingml/2006/main"/>
        </p:blipFill>
        <p:spPr>
          <a:xfrm xmlns:a="http://schemas.openxmlformats.org/drawingml/2006/main">
            <a:off x="968464" y="1495848"/>
            <a:ext cx="10255072" cy="5114078"/>
          </a:xfrm>
          <a:prstGeom xmlns:a="http://schemas.openxmlformats.org/drawingml/2006/main" prst="rect">
            <a:avLst/>
          </a:prstGeom>
        </p:spPr>
      </p:pic>
    </p:spTree>
    <p:extLst>
      <p:ext uri="{BB962C8B-B14F-4D97-AF65-F5344CB8AC3E}">
        <p14:creationId xmlns:p14="http://schemas.microsoft.com/office/powerpoint/2010/main" val="56906980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930442B9-A114-4016-8AE8-BB8AC1477484}"/>
              </a:ext>
            </a:extLst>
          </p:cNvPr>
          <p:cNvSpPr>
            <a:spLocks xmlns:a="http://schemas.openxmlformats.org/drawingml/2006/main" noGrp="1"/>
          </p:cNvSpPr>
          <p:nvPr/>
        </p:nvSpPr>
        <p:spPr>
          <a:xfrm xmlns:a="http://schemas.openxmlformats.org/drawingml/2006/main">
            <a:off x="533400" y="257175"/>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600" b="1">
                <a:solidFill>
                  <a:srgbClr val="202020"/>
                </a:solidFill>
                <a:latin typeface="Arial"/>
                <a:ea typeface="Arial"/>
                <a:cs typeface="Arial"/>
              </a:defRPr>
            </a:pPr>
            <a:r>
              <a:rPr sz="3600" b="1">
                <a:solidFill>
                  <a:srgbClr val="202020"/>
                </a:solidFill>
                <a:latin typeface="Arial"/>
                <a:ea typeface="Arial"/>
                <a:cs typeface="Arial"/>
              </a:rPr>
              <a:t>SBI across layers and datasets</a:t>
            </a:r>
          </a:p>
        </p:txBody>
      </p:sp>
      <p:sp>
        <p:nvSpPr>
          <p:cNvPr id="2" name="explanation">
            <a:extLst xmlns:a="http://schemas.openxmlformats.org/drawingml/2006/main">
              <a:ext uri="{FF2B5EF4-FFF2-40B4-BE49-F238E27FC236}">
                <a16:creationId xmlns:a16="http://schemas.microsoft.com/office/drawing/2014/main" id="{C6C9B48F-FBCA-4CE9-BA49-FE2BD240FE2B}"/>
              </a:ext>
            </a:extLst>
          </p:cNvPr>
          <p:cNvSpPr>
            <a:spLocks xmlns:a="http://schemas.openxmlformats.org/drawingml/2006/main" noGrp="1"/>
          </p:cNvSpPr>
          <p:nvPr/>
        </p:nvSpPr>
        <p:spPr>
          <a:xfrm xmlns:a="http://schemas.openxmlformats.org/drawingml/2006/main">
            <a:off x="552450" y="962025"/>
            <a:ext cx="1108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55555"/>
                </a:solidFill>
                <a:latin typeface="Arial"/>
                <a:ea typeface="Arial"/>
                <a:cs typeface="Arial"/>
              </a:defRPr>
            </a:pPr>
            <a:r>
              <a:rPr sz="1800" b="0">
                <a:solidFill>
                  <a:srgbClr val="555555"/>
                </a:solidFill>
                <a:latin typeface="Arial"/>
                <a:ea typeface="Arial"/>
                <a:cs typeface="Arial"/>
              </a:rPr>
              <a:t>Historical test-fold refits; 100% marks the mean ceiling.</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1803eaf61af648fb"/>
          <a:stretch xmlns:a="http://schemas.openxmlformats.org/drawingml/2006/main"/>
        </p:blipFill>
        <p:spPr>
          <a:xfrm xmlns:a="http://schemas.openxmlformats.org/drawingml/2006/main">
            <a:off x="2384401" y="1495425"/>
            <a:ext cx="7423199" cy="5114925"/>
          </a:xfrm>
          <a:prstGeom xmlns:a="http://schemas.openxmlformats.org/drawingml/2006/main" prst="rect">
            <a:avLst/>
          </a:prstGeom>
        </p:spPr>
      </p:pic>
    </p:spTree>
    <p:extLst>
      <p:ext uri="{BB962C8B-B14F-4D97-AF65-F5344CB8AC3E}">
        <p14:creationId xmlns:p14="http://schemas.microsoft.com/office/powerpoint/2010/main" val="165591296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F5532D0C-ED15-42AE-8052-80C0F4B5324F}"/>
              </a:ext>
            </a:extLst>
          </p:cNvPr>
          <p:cNvSpPr>
            <a:spLocks xmlns:a="http://schemas.openxmlformats.org/drawingml/2006/main" noGrp="1"/>
          </p:cNvSpPr>
          <p:nvPr/>
        </p:nvSpPr>
        <p:spPr>
          <a:xfrm xmlns:a="http://schemas.openxmlformats.org/drawingml/2006/main">
            <a:off x="533400" y="257175"/>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600" b="1">
                <a:solidFill>
                  <a:srgbClr val="202020"/>
                </a:solidFill>
                <a:latin typeface="Arial"/>
                <a:ea typeface="Arial"/>
                <a:cs typeface="Arial"/>
              </a:defRPr>
            </a:pPr>
            <a:r>
              <a:rPr sz="3600" b="1">
                <a:solidFill>
                  <a:srgbClr val="202020"/>
                </a:solidFill>
                <a:latin typeface="Arial"/>
                <a:ea typeface="Arial"/>
                <a:cs typeface="Arial"/>
              </a:rPr>
              <a:t>What does exposure variability capture?</a:t>
            </a:r>
          </a:p>
        </p:txBody>
      </p:sp>
      <p:sp>
        <p:nvSpPr>
          <p:cNvPr id="2" name="explanation">
            <a:extLst xmlns:a="http://schemas.openxmlformats.org/drawingml/2006/main">
              <a:ext uri="{FF2B5EF4-FFF2-40B4-BE49-F238E27FC236}">
                <a16:creationId xmlns:a16="http://schemas.microsoft.com/office/drawing/2014/main" id="{029167A4-74ED-4516-AD03-92A3EAE40FE9}"/>
              </a:ext>
            </a:extLst>
          </p:cNvPr>
          <p:cNvSpPr>
            <a:spLocks xmlns:a="http://schemas.openxmlformats.org/drawingml/2006/main" noGrp="1"/>
          </p:cNvSpPr>
          <p:nvPr/>
        </p:nvSpPr>
        <p:spPr>
          <a:xfrm xmlns:a="http://schemas.openxmlformats.org/drawingml/2006/main">
            <a:off x="552450" y="962025"/>
            <a:ext cx="1108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55555"/>
                </a:solidFill>
                <a:latin typeface="Arial"/>
                <a:ea typeface="Arial"/>
                <a:cs typeface="Arial"/>
              </a:defRPr>
            </a:pPr>
            <a:r>
              <a:rPr sz="1800" b="0">
                <a:solidFill>
                  <a:srgbClr val="555555"/>
                </a:solidFill>
                <a:latin typeface="Arial"/>
                <a:ea typeface="Arial"/>
                <a:cs typeface="Arial"/>
              </a:rPr>
              <a:t>X21: four definitions, shown as training-fold Wald z-values.</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7aba3223b8b147ee"/>
          <a:stretch xmlns:a="http://schemas.openxmlformats.org/drawingml/2006/main"/>
        </p:blipFill>
        <p:spPr>
          <a:xfrm xmlns:a="http://schemas.openxmlformats.org/drawingml/2006/main">
            <a:off x="2091777" y="1495425"/>
            <a:ext cx="8008446" cy="5114925"/>
          </a:xfrm>
          <a:prstGeom xmlns:a="http://schemas.openxmlformats.org/drawingml/2006/main" prst="rect">
            <a:avLst/>
          </a:prstGeom>
        </p:spPr>
      </p:pic>
    </p:spTree>
    <p:extLst>
      <p:ext uri="{BB962C8B-B14F-4D97-AF65-F5344CB8AC3E}">
        <p14:creationId xmlns:p14="http://schemas.microsoft.com/office/powerpoint/2010/main" val="90836529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3A192710-1241-4CDC-8FA2-08035BFD76AF}"/>
              </a:ext>
            </a:extLst>
          </p:cNvPr>
          <p:cNvSpPr>
            <a:spLocks xmlns:a="http://schemas.openxmlformats.org/drawingml/2006/main" noGrp="1"/>
          </p:cNvSpPr>
          <p:nvPr/>
        </p:nvSpPr>
        <p:spPr>
          <a:xfrm xmlns:a="http://schemas.openxmlformats.org/drawingml/2006/main">
            <a:off x="533400" y="257175"/>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600" b="1">
                <a:solidFill>
                  <a:srgbClr val="202020"/>
                </a:solidFill>
                <a:latin typeface="Arial"/>
                <a:ea typeface="Arial"/>
                <a:cs typeface="Arial"/>
              </a:defRPr>
            </a:pPr>
            <a:r>
              <a:rPr sz="3600" b="1">
                <a:solidFill>
                  <a:srgbClr val="202020"/>
                </a:solidFill>
                <a:latin typeface="Arial"/>
                <a:ea typeface="Arial"/>
                <a:cs typeface="Arial"/>
              </a:rPr>
              <a:t>HVE prediction on held-out listeners</a:t>
            </a:r>
          </a:p>
        </p:txBody>
      </p:sp>
      <p:sp>
        <p:nvSpPr>
          <p:cNvPr id="2" name="explanation">
            <a:extLst xmlns:a="http://schemas.openxmlformats.org/drawingml/2006/main">
              <a:ext uri="{FF2B5EF4-FFF2-40B4-BE49-F238E27FC236}">
                <a16:creationId xmlns:a16="http://schemas.microsoft.com/office/drawing/2014/main" id="{AC5D3D02-06D1-4D89-B08D-BEA25C25E4F3}"/>
              </a:ext>
            </a:extLst>
          </p:cNvPr>
          <p:cNvSpPr>
            <a:spLocks xmlns:a="http://schemas.openxmlformats.org/drawingml/2006/main" noGrp="1"/>
          </p:cNvSpPr>
          <p:nvPr/>
        </p:nvSpPr>
        <p:spPr>
          <a:xfrm xmlns:a="http://schemas.openxmlformats.org/drawingml/2006/main">
            <a:off x="552450" y="962025"/>
            <a:ext cx="1108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55555"/>
                </a:solidFill>
                <a:latin typeface="Arial"/>
                <a:ea typeface="Arial"/>
                <a:cs typeface="Arial"/>
              </a:defRPr>
            </a:pPr>
            <a:r>
              <a:rPr sz="1800" b="0">
                <a:solidFill>
                  <a:srgbClr val="555555"/>
                </a:solidFill>
                <a:latin typeface="Arial"/>
                <a:ea typeface="Arial"/>
                <a:cs typeface="Arial"/>
              </a:rPr>
              <a:t>The same four definitions; higher log likelihood means better prediction.</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b61fa84abf884fa3"/>
          <a:stretch xmlns:a="http://schemas.openxmlformats.org/drawingml/2006/main"/>
        </p:blipFill>
        <p:spPr>
          <a:xfrm xmlns:a="http://schemas.openxmlformats.org/drawingml/2006/main">
            <a:off x="2091777" y="1495425"/>
            <a:ext cx="8008446" cy="5114925"/>
          </a:xfrm>
          <a:prstGeom xmlns:a="http://schemas.openxmlformats.org/drawingml/2006/main" prst="rect">
            <a:avLst/>
          </a:prstGeom>
        </p:spPr>
      </p:pic>
    </p:spTree>
    <p:extLst>
      <p:ext uri="{BB962C8B-B14F-4D97-AF65-F5344CB8AC3E}">
        <p14:creationId xmlns:p14="http://schemas.microsoft.com/office/powerpoint/2010/main" val="39790016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1FB85B9A-8C65-46FA-B623-D473B378C04C}"/>
              </a:ext>
            </a:extLst>
          </p:cNvPr>
          <p:cNvSpPr>
            <a:spLocks xmlns:a="http://schemas.openxmlformats.org/drawingml/2006/main" noGrp="1"/>
          </p:cNvSpPr>
          <p:nvPr/>
        </p:nvSpPr>
        <p:spPr>
          <a:xfrm xmlns:a="http://schemas.openxmlformats.org/drawingml/2006/main">
            <a:off x="533400" y="257175"/>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600" b="1">
                <a:solidFill>
                  <a:srgbClr val="202020"/>
                </a:solidFill>
                <a:latin typeface="Arial"/>
                <a:ea typeface="Arial"/>
                <a:cs typeface="Arial"/>
              </a:defRPr>
            </a:pPr>
            <a:r>
              <a:rPr sz="3600" b="1">
                <a:solidFill>
                  <a:srgbClr val="202020"/>
                </a:solidFill>
                <a:latin typeface="Arial"/>
                <a:ea typeface="Arial"/>
                <a:cs typeface="Arial"/>
              </a:rPr>
              <a:t>Similarity within experimental conditions</a:t>
            </a:r>
          </a:p>
        </p:txBody>
      </p:sp>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7ff5961cb2d84be6"/>
          <a:stretch xmlns:a="http://schemas.openxmlformats.org/drawingml/2006/main"/>
        </p:blipFill>
        <p:spPr>
          <a:xfrm xmlns:a="http://schemas.openxmlformats.org/drawingml/2006/main">
            <a:off x="1741546" y="1028700"/>
            <a:ext cx="8708908" cy="5581650"/>
          </a:xfrm>
          <a:prstGeom xmlns:a="http://schemas.openxmlformats.org/drawingml/2006/main" prst="rect">
            <a:avLst/>
          </a:prstGeom>
        </p:spPr>
      </p:pic>
    </p:spTree>
    <p:extLst>
      <p:ext uri="{BB962C8B-B14F-4D97-AF65-F5344CB8AC3E}">
        <p14:creationId xmlns:p14="http://schemas.microsoft.com/office/powerpoint/2010/main" val="86065181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39DCC52D-4067-4FD1-9E88-2381C39660CD}"/>
              </a:ext>
            </a:extLst>
          </p:cNvPr>
          <p:cNvSpPr>
            <a:spLocks xmlns:a="http://schemas.openxmlformats.org/drawingml/2006/main" noGrp="1"/>
          </p:cNvSpPr>
          <p:nvPr/>
        </p:nvSpPr>
        <p:spPr>
          <a:xfrm xmlns:a="http://schemas.openxmlformats.org/drawingml/2006/main">
            <a:off x="533400" y="257175"/>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600" b="1">
                <a:solidFill>
                  <a:srgbClr val="202020"/>
                </a:solidFill>
                <a:latin typeface="Arial"/>
                <a:ea typeface="Arial"/>
                <a:cs typeface="Arial"/>
              </a:defRPr>
            </a:pPr>
            <a:r>
              <a:rPr sz="3600" b="1">
                <a:solidFill>
                  <a:srgbClr val="202020"/>
                </a:solidFill>
                <a:latin typeface="Arial"/>
                <a:ea typeface="Arial"/>
                <a:cs typeface="Arial"/>
              </a:rPr>
              <a:t>Similarity when conditions are pooled</a:t>
            </a:r>
          </a:p>
        </p:txBody>
      </p:sp>
      <p:sp>
        <p:nvSpPr>
          <p:cNvPr id="2" name="explanation">
            <a:extLst xmlns:a="http://schemas.openxmlformats.org/drawingml/2006/main">
              <a:ext uri="{FF2B5EF4-FFF2-40B4-BE49-F238E27FC236}">
                <a16:creationId xmlns:a16="http://schemas.microsoft.com/office/drawing/2014/main" id="{33DDA4C6-50BE-4725-B332-B89CA2F5B59E}"/>
              </a:ext>
            </a:extLst>
          </p:cNvPr>
          <p:cNvSpPr>
            <a:spLocks xmlns:a="http://schemas.openxmlformats.org/drawingml/2006/main" noGrp="1"/>
          </p:cNvSpPr>
          <p:nvPr/>
        </p:nvSpPr>
        <p:spPr>
          <a:xfrm xmlns:a="http://schemas.openxmlformats.org/drawingml/2006/main">
            <a:off x="552450" y="962025"/>
            <a:ext cx="1108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55555"/>
                </a:solidFill>
                <a:latin typeface="Arial"/>
                <a:ea typeface="Arial"/>
                <a:cs typeface="Arial"/>
              </a:defRPr>
            </a:pPr>
            <a:r>
              <a:rPr sz="1800" b="0">
                <a:solidFill>
                  <a:srgbClr val="555555"/>
                </a:solidFill>
                <a:latin typeface="Arial"/>
                <a:ea typeface="Arial"/>
                <a:cs typeface="Arial"/>
              </a:rPr>
              <a:t>A single descriptive curve for each test talker.</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f6249d056ea040b5"/>
          <a:stretch xmlns:a="http://schemas.openxmlformats.org/drawingml/2006/main"/>
        </p:blipFill>
        <p:spPr>
          <a:xfrm xmlns:a="http://schemas.openxmlformats.org/drawingml/2006/main">
            <a:off x="2105656" y="1495425"/>
            <a:ext cx="7980689" cy="5114925"/>
          </a:xfrm>
          <a:prstGeom xmlns:a="http://schemas.openxmlformats.org/drawingml/2006/main" prst="rect">
            <a:avLst/>
          </a:prstGeom>
        </p:spPr>
      </p:pic>
    </p:spTree>
    <p:extLst>
      <p:ext uri="{BB962C8B-B14F-4D97-AF65-F5344CB8AC3E}">
        <p14:creationId xmlns:p14="http://schemas.microsoft.com/office/powerpoint/2010/main" val="136996861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487ABCB9-E896-4E17-8CBF-8ED546F85817}"/>
              </a:ext>
            </a:extLst>
          </p:cNvPr>
          <p:cNvSpPr>
            <a:spLocks xmlns:a="http://schemas.openxmlformats.org/drawingml/2006/main" noGrp="1"/>
          </p:cNvSpPr>
          <p:nvPr/>
        </p:nvSpPr>
        <p:spPr>
          <a:xfrm xmlns:a="http://schemas.openxmlformats.org/drawingml/2006/main">
            <a:off x="533400" y="257175"/>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600" b="1">
                <a:solidFill>
                  <a:srgbClr val="202020"/>
                </a:solidFill>
                <a:latin typeface="Arial"/>
                <a:ea typeface="Arial"/>
                <a:cs typeface="Arial"/>
              </a:defRPr>
            </a:pPr>
            <a:r>
              <a:rPr sz="3600" b="1">
                <a:solidFill>
                  <a:srgbClr val="202020"/>
                </a:solidFill>
                <a:latin typeface="Arial"/>
                <a:ea typeface="Arial"/>
                <a:cs typeface="Arial"/>
              </a:rPr>
              <a:t>Do predictor and condition add information?</a:t>
            </a:r>
          </a:p>
        </p:txBody>
      </p:sp>
      <p:sp>
        <p:nvSpPr>
          <p:cNvPr id="2" name="explanation">
            <a:extLst xmlns:a="http://schemas.openxmlformats.org/drawingml/2006/main">
              <a:ext uri="{FF2B5EF4-FFF2-40B4-BE49-F238E27FC236}">
                <a16:creationId xmlns:a16="http://schemas.microsoft.com/office/drawing/2014/main" id="{AAC68EE7-46D5-4E86-9A1D-C9CA1CE9C298}"/>
              </a:ext>
            </a:extLst>
          </p:cNvPr>
          <p:cNvSpPr>
            <a:spLocks xmlns:a="http://schemas.openxmlformats.org/drawingml/2006/main" noGrp="1"/>
          </p:cNvSpPr>
          <p:nvPr/>
        </p:nvSpPr>
        <p:spPr>
          <a:xfrm xmlns:a="http://schemas.openxmlformats.org/drawingml/2006/main">
            <a:off x="552450" y="962025"/>
            <a:ext cx="1108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55555"/>
                </a:solidFill>
                <a:latin typeface="Arial"/>
                <a:ea typeface="Arial"/>
                <a:cs typeface="Arial"/>
              </a:defRPr>
            </a:pPr>
            <a:r>
              <a:rPr sz="1800" b="0">
                <a:solidFill>
                  <a:srgbClr val="555555"/>
                </a:solidFill>
                <a:latin typeface="Arial"/>
                <a:ea typeface="Arial"/>
                <a:cs typeface="Arial"/>
              </a:rPr>
              <a:t>Exploratory tests compare joint, predictor-only and condition-only models.</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da3e2780c3c94c31"/>
          <a:stretch xmlns:a="http://schemas.openxmlformats.org/drawingml/2006/main"/>
        </p:blipFill>
        <p:spPr>
          <a:xfrm xmlns:a="http://schemas.openxmlformats.org/drawingml/2006/main">
            <a:off x="938592" y="1495425"/>
            <a:ext cx="10314816" cy="5114925"/>
          </a:xfrm>
          <a:prstGeom xmlns:a="http://schemas.openxmlformats.org/drawingml/2006/main" prst="rect">
            <a:avLst/>
          </a:prstGeom>
        </p:spPr>
      </p:pic>
    </p:spTree>
    <p:extLst>
      <p:ext uri="{BB962C8B-B14F-4D97-AF65-F5344CB8AC3E}">
        <p14:creationId xmlns:p14="http://schemas.microsoft.com/office/powerpoint/2010/main" val="8714784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2026-09-11T13:36:05.7950000Z</dcterms:created>
  <dcterms:modified xsi:type="dcterms:W3CDTF">2026-09-11T13:36:05.7950000Z</dcterms:modified>
</coreProperties>
</file>