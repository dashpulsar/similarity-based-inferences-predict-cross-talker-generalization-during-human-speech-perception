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78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8F670DD-A03F-4767-83A1-6663D971ACD5}"/>
              </a:ext>
            </a:extLst>
          </p:cNvPr>
          <p:cNvSpPr>
            <a:spLocks noGrp="1"/>
          </p:cNvSpPr>
          <p:nvPr/>
        </p:nvSpPr>
        <p:spPr>
          <a:xfrm>
            <a:off x="6381750" y="0"/>
            <a:ext cx="581025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94653" y="985806"/>
            <a:ext cx="5584443" cy="48863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C547EF33-3F97-454F-9F9E-9E4AFE54F04E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790700" cy="323850"/>
          </a:xfrm>
          <a:prstGeom prst="roundRect">
            <a:avLst>
              <a:gd name="adj" fmla="val 50000"/>
            </a:avLst>
          </a:prstGeom>
          <a:solidFill>
            <a:srgbClr val="2563A7"/>
          </a:solidFill>
          <a:ln w="0">
            <a:solidFill>
              <a:srgbClr val="2563A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5D6065-89A0-46CE-B856-BD4200FB8584}"/>
              </a:ext>
            </a:extLst>
          </p:cNvPr>
          <p:cNvSpPr>
            <a:spLocks noGrp="1"/>
          </p:cNvSpPr>
          <p:nvPr/>
        </p:nvSpPr>
        <p:spPr>
          <a:xfrm>
            <a:off x="552450" y="619125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PROJECT PRESENTATION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DFFE9E-CF31-4774-A526-B8C96D4C2A3D}"/>
              </a:ext>
            </a:extLst>
          </p:cNvPr>
          <p:cNvSpPr>
            <a:spLocks noGrp="1"/>
          </p:cNvSpPr>
          <p:nvPr/>
        </p:nvSpPr>
        <p:spPr>
          <a:xfrm>
            <a:off x="457200" y="1219200"/>
            <a:ext cx="5381625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 i="0">
                <a:solidFill>
                  <a:srgbClr val="151719"/>
                </a:solidFill>
              </a:defRPr>
            </a:pPr>
            <a:r>
              <a:rPr sz="3900" b="1" i="0">
                <a:solidFill>
                  <a:srgbClr val="151719"/>
                </a:solidFill>
              </a:rPr>
              <a:t>Similarity-based</a:t>
            </a:r>
          </a:p>
          <a:p>
            <a:pPr algn="l">
              <a:defRPr sz="3900" b="1" i="0">
                <a:solidFill>
                  <a:srgbClr val="151719"/>
                </a:solidFill>
              </a:defRPr>
            </a:pPr>
            <a:r>
              <a:rPr sz="3900" b="1" i="0">
                <a:solidFill>
                  <a:srgbClr val="151719"/>
                </a:solidFill>
              </a:rPr>
              <a:t>inferences predict</a:t>
            </a:r>
          </a:p>
          <a:p>
            <a:pPr algn="l">
              <a:defRPr sz="3900" b="1" i="0">
                <a:solidFill>
                  <a:srgbClr val="151719"/>
                </a:solidFill>
              </a:defRPr>
            </a:pPr>
            <a:r>
              <a:rPr sz="3900" b="1" i="0">
                <a:solidFill>
                  <a:srgbClr val="151719"/>
                </a:solidFill>
              </a:rPr>
              <a:t>cross-talker</a:t>
            </a:r>
          </a:p>
          <a:p>
            <a:pPr algn="l">
              <a:defRPr sz="3900" b="1" i="0">
                <a:solidFill>
                  <a:srgbClr val="151719"/>
                </a:solidFill>
              </a:defRPr>
            </a:pPr>
            <a:r>
              <a:rPr sz="3900" b="1" i="0">
                <a:solidFill>
                  <a:srgbClr val="151719"/>
                </a:solidFill>
              </a:rPr>
              <a:t>generalization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8335DD3-6867-4F36-9CEA-68A84220510C}"/>
              </a:ext>
            </a:extLst>
          </p:cNvPr>
          <p:cNvSpPr>
            <a:spLocks noGrp="1"/>
          </p:cNvSpPr>
          <p:nvPr/>
        </p:nvSpPr>
        <p:spPr>
          <a:xfrm>
            <a:off x="476250" y="4410075"/>
            <a:ext cx="504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 i="0">
                <a:solidFill>
                  <a:srgbClr val="5E6369"/>
                </a:solidFill>
              </a:defRPr>
            </a:pPr>
            <a:r>
              <a:rPr sz="1800" b="0" i="0">
                <a:solidFill>
                  <a:srgbClr val="5E6369"/>
                </a:solidFill>
              </a:rPr>
              <a:t>A unified computational analysis across AN19, X21, and B23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5DD5CE-9B9F-4DED-93D6-E95108114C73}"/>
              </a:ext>
            </a:extLst>
          </p:cNvPr>
          <p:cNvSpPr>
            <a:spLocks noGrp="1"/>
          </p:cNvSpPr>
          <p:nvPr/>
        </p:nvSpPr>
        <p:spPr>
          <a:xfrm>
            <a:off x="476250" y="55245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8A9097"/>
                </a:solidFill>
              </a:defRPr>
            </a:pPr>
            <a:r>
              <a:rPr sz="1125" b="0" i="0">
                <a:solidFill>
                  <a:srgbClr val="8A9097"/>
                </a:solidFill>
              </a:rPr>
              <a:t>Project update · 1 September 2026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E465A8-789D-41EC-8865-F22994563F02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4F4143-760C-43EE-93AD-EAC917A6C8EC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results/figures/AN19-base-tr24-talker-similarity-heatmap-log-v3/talker_similarity_heatmap.png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FE3637-C66E-450C-82EE-037A436DCD08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24052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FBCA28F-FBDF-4466-A19A-5B2BC5CB9914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RESEARCH QUESTION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A9AC0B-30D4-4F10-8730-76173EFDE0FF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>
                <a:solidFill>
                  <a:srgbClr val="151719"/>
                </a:solidFill>
              </a:rPr>
              <a:t>Similarity predicts accuracy within and across X21 conditions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027F3B-E4CC-4BD9-8A07-032E701979CD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B0BFB16-3902-4DA1-B892-D3D5FEDCD06E}"/>
              </a:ext>
            </a:extLst>
          </p:cNvPr>
          <p:cNvSpPr>
            <a:spLocks noGrp="1"/>
          </p:cNvSpPr>
          <p:nvPr/>
        </p:nvSpPr>
        <p:spPr>
          <a:xfrm>
            <a:off x="400050" y="1285875"/>
            <a:ext cx="1952625" cy="304800"/>
          </a:xfrm>
          <a:prstGeom prst="roundRect">
            <a:avLst>
              <a:gd name="adj" fmla="val 50000"/>
            </a:avLst>
          </a:prstGeom>
          <a:solidFill>
            <a:srgbClr val="238B57"/>
          </a:solidFill>
          <a:ln w="0">
            <a:solidFill>
              <a:srgbClr val="238B57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61BD31-A54B-43AA-96A3-6A504F30B5DA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X21 DESCRIPTIVE PATTERN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8EFD38-DE35-4EA1-B890-F495F68BAE93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319087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51719"/>
                </a:solidFill>
              </a:defRPr>
            </a:pPr>
            <a:r>
              <a:rPr sz="1725" b="1" i="0">
                <a:solidFill>
                  <a:srgbClr val="151719"/>
                </a:solidFill>
              </a:rPr>
              <a:t>Higher model similarity is associated with higher listener accuracy across Control, Multi-talker, Single talker, and Talker-specific conditions.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E4F6C4-F5EC-46D7-9BDF-C4233C3FC530}"/>
              </a:ext>
            </a:extLst>
          </p:cNvPr>
          <p:cNvSpPr>
            <a:spLocks noGrp="1"/>
          </p:cNvSpPr>
          <p:nvPr/>
        </p:nvSpPr>
        <p:spPr>
          <a:xfrm>
            <a:off x="400050" y="3667125"/>
            <a:ext cx="31908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5E6369"/>
                </a:solidFill>
              </a:defRPr>
            </a:pPr>
            <a:r>
              <a:rPr sz="1425" b="0" i="0">
                <a:solidFill>
                  <a:srgbClr val="5E6369"/>
                </a:solidFill>
              </a:rPr>
              <a:t>This motivates the formal question: does SBI improve prediction beyond experimental condition?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909F97-2425-439B-8DFF-56A3A009B90E}"/>
              </a:ext>
            </a:extLst>
          </p:cNvPr>
          <p:cNvSpPr>
            <a:spLocks noGrp="1"/>
          </p:cNvSpPr>
          <p:nvPr/>
        </p:nvSpPr>
        <p:spPr>
          <a:xfrm>
            <a:off x="400050" y="5095875"/>
            <a:ext cx="3190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1">
                <a:solidFill>
                  <a:srgbClr val="8A9097"/>
                </a:solidFill>
              </a:defRPr>
            </a:pPr>
            <a:r>
              <a:rPr sz="975" b="0" i="1">
                <a:solidFill>
                  <a:srgbClr val="8A9097"/>
                </a:solidFill>
              </a:rPr>
              <a:t>Descriptive visualization · HuBERT base Tr-24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22122" y="1162050"/>
            <a:ext cx="7100556" cy="455295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EE851F5-B160-4F86-BB34-8A3C593E560A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1CEB78-7E8A-45BF-8D24-107C6C06AE75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2563A7"/>
          </a:solidFill>
          <a:ln w="0">
            <a:solidFill>
              <a:srgbClr val="2563A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AB6E10-A7E5-4ED9-BF15-24C2C24F319E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The relationship remains visible after separating condition; held-out models test whether it is robust.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CDD738-EBA2-4351-A4BB-5899F6CCEDC8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5972DBA-AB93-459B-81D3-415E143AD41F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cross_talker_generalization/analysis_update_2026-08-21/figures/s_curves_tr24/X21_base_x21_s_curves_by_condition.png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9BF1AC1-BC1C-4AE4-99E8-183BC7058E9C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37202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24A566D-363F-40AF-AC2B-EE9562FB0584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THEORY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E6066D-30B8-4399-865A-253573AE07CB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>
                <a:solidFill>
                  <a:srgbClr val="151719"/>
                </a:solidFill>
              </a:rPr>
              <a:t>Two mechanisms make different predictions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96C4A7-8386-48F4-B36F-FB17CAFF7627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E379B7-EA52-4CEC-ABC7-DC38B636060D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55245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5D7D2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C10900E-D996-4708-8E4D-630D0792D96E}"/>
              </a:ext>
            </a:extLst>
          </p:cNvPr>
          <p:cNvSpPr>
            <a:spLocks noGrp="1"/>
          </p:cNvSpPr>
          <p:nvPr/>
        </p:nvSpPr>
        <p:spPr>
          <a:xfrm>
            <a:off x="6267450" y="1200150"/>
            <a:ext cx="5524500" cy="4476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59D831A-1F7A-427B-B513-C5441C636148}"/>
              </a:ext>
            </a:extLst>
          </p:cNvPr>
          <p:cNvSpPr>
            <a:spLocks noGrp="1"/>
          </p:cNvSpPr>
          <p:nvPr/>
        </p:nvSpPr>
        <p:spPr>
          <a:xfrm>
            <a:off x="590550" y="1390650"/>
            <a:ext cx="742950" cy="304800"/>
          </a:xfrm>
          <a:prstGeom prst="roundRect">
            <a:avLst>
              <a:gd name="adj" fmla="val 50000"/>
            </a:avLst>
          </a:prstGeom>
          <a:solidFill>
            <a:srgbClr val="2563A7"/>
          </a:solidFill>
          <a:ln w="0">
            <a:solidFill>
              <a:srgbClr val="2563A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2D472A-1DB0-4C99-96D7-0E7017590F99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SBI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1363BA-402E-4F46-AB5D-1C40FDEF1984}"/>
              </a:ext>
            </a:extLst>
          </p:cNvPr>
          <p:cNvSpPr>
            <a:spLocks noGrp="1"/>
          </p:cNvSpPr>
          <p:nvPr/>
        </p:nvSpPr>
        <p:spPr>
          <a:xfrm>
            <a:off x="1466850" y="14097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1719"/>
                </a:solidFill>
              </a:defRPr>
            </a:pPr>
            <a:r>
              <a:rPr sz="1650" b="1" i="0">
                <a:solidFill>
                  <a:srgbClr val="151719"/>
                </a:solidFill>
              </a:rPr>
              <a:t>Similarity-based inference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A3360C-C71D-45C9-BCA5-5028891A5E49}"/>
              </a:ext>
            </a:extLst>
          </p:cNvPr>
          <p:cNvSpPr>
            <a:spLocks noGrp="1"/>
          </p:cNvSpPr>
          <p:nvPr/>
        </p:nvSpPr>
        <p:spPr>
          <a:xfrm>
            <a:off x="590550" y="1857375"/>
            <a:ext cx="4953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E6369"/>
                </a:solidFill>
              </a:defRPr>
            </a:pPr>
            <a:r>
              <a:rPr sz="1350" b="0" i="0">
                <a:solidFill>
                  <a:srgbClr val="5E6369"/>
                </a:solidFill>
              </a:rPr>
              <a:t>Trial-level prediction from the distance between exposure and test speech representations.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2421DA3-B826-4DC7-82A9-D052BB5EA351}"/>
              </a:ext>
            </a:extLst>
          </p:cNvPr>
          <p:cNvSpPr>
            <a:spLocks noGrp="1"/>
          </p:cNvSpPr>
          <p:nvPr/>
        </p:nvSpPr>
        <p:spPr>
          <a:xfrm>
            <a:off x="6457950" y="1390650"/>
            <a:ext cx="742950" cy="304800"/>
          </a:xfrm>
          <a:prstGeom prst="roundRect">
            <a:avLst>
              <a:gd name="adj" fmla="val 50000"/>
            </a:avLst>
          </a:prstGeom>
          <a:solidFill>
            <a:srgbClr val="C83F3F"/>
          </a:solidFill>
          <a:ln w="0">
            <a:solidFill>
              <a:srgbClr val="C83F3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EA7562-74DC-44A6-AB95-67D692B6D2D1}"/>
              </a:ext>
            </a:extLst>
          </p:cNvPr>
          <p:cNvSpPr>
            <a:spLocks noGrp="1"/>
          </p:cNvSpPr>
          <p:nvPr/>
        </p:nvSpPr>
        <p:spPr>
          <a:xfrm>
            <a:off x="6553200" y="1457325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HVE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056BE7-973F-45AF-85C6-BAD4329812C4}"/>
              </a:ext>
            </a:extLst>
          </p:cNvPr>
          <p:cNvSpPr>
            <a:spLocks noGrp="1"/>
          </p:cNvSpPr>
          <p:nvPr/>
        </p:nvSpPr>
        <p:spPr>
          <a:xfrm>
            <a:off x="7334250" y="140970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1719"/>
                </a:solidFill>
              </a:defRPr>
            </a:pPr>
            <a:r>
              <a:rPr sz="1650" b="1" i="0">
                <a:solidFill>
                  <a:srgbClr val="151719"/>
                </a:solidFill>
              </a:rPr>
              <a:t>Hypothesis-space variability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C111EB-8F89-435E-A919-C79EDFA4EC07}"/>
              </a:ext>
            </a:extLst>
          </p:cNvPr>
          <p:cNvSpPr>
            <a:spLocks noGrp="1"/>
          </p:cNvSpPr>
          <p:nvPr/>
        </p:nvSpPr>
        <p:spPr>
          <a:xfrm>
            <a:off x="6457950" y="1857375"/>
            <a:ext cx="4953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E6369"/>
                </a:solidFill>
              </a:defRPr>
            </a:pPr>
            <a:r>
              <a:rPr sz="1350" b="0" i="0">
                <a:solidFill>
                  <a:srgbClr val="5E6369"/>
                </a:solidFill>
              </a:rPr>
              <a:t>Exposure-set prediction from dispersion, between-type structure, and order-sensitive transitions.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25708" y="2352675"/>
            <a:ext cx="4686300" cy="3232152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CA4A87A-5750-4D3B-BE7D-A72182A603BC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E58AE8-8B97-4D91-A17D-E34140F2CE0C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6B4FA3"/>
          </a:solidFill>
          <a:ln w="0">
            <a:solidFill>
              <a:srgbClr val="6B4FA3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E3B5B6-D985-452D-8974-03B876129303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SBI is trial-specific; HVE summarizes the exposure distribution.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1E5A6F-F7D6-4301-9CEF-67FB92779409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17D12E1-FFC2-4B67-AFCC-6C25A43F6B54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cross_talker_generalization/analysis_update_2026-08-21/figures/figure_00_notebook_ceiling_normalized_profiles.png + figure_03a_variability_ceiling_normalized_profiles.png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7C0C73-1505-4D2B-859F-819EF8BE7B01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03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7571" y="-57150"/>
            <a:ext cx="9690186" cy="679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00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EF7EB042-F0DB-4639-BC9B-7D90DBAE271F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DATA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F4EBC0-586B-438B-9BA0-BF3723349F48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>
                <a:solidFill>
                  <a:srgbClr val="151719"/>
                </a:solidFill>
              </a:rPr>
              <a:t>Three experiments test the account under different demands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0482F0-74EA-4197-AC2A-68B631C7EDC7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DAF5180-9A35-4F00-AEB3-5D1441D64BF8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333375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7BFA1A-4F22-4812-9B9D-7B5E73FAF593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76200" cy="1000125"/>
          </a:xfrm>
          <a:prstGeom prst="rect">
            <a:avLst/>
          </a:prstGeom>
          <a:solidFill>
            <a:srgbClr val="2563A7"/>
          </a:solidFill>
          <a:ln w="0">
            <a:solidFill>
              <a:srgbClr val="2563A7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8B59DD-BF92-4D40-9973-3A1269965639}"/>
              </a:ext>
            </a:extLst>
          </p:cNvPr>
          <p:cNvSpPr>
            <a:spLocks noGrp="1"/>
          </p:cNvSpPr>
          <p:nvPr/>
        </p:nvSpPr>
        <p:spPr>
          <a:xfrm>
            <a:off x="628650" y="136207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2563A7"/>
                </a:solidFill>
              </a:defRPr>
            </a:pPr>
            <a:r>
              <a:rPr sz="2250" b="1" i="0">
                <a:solidFill>
                  <a:srgbClr val="2563A7"/>
                </a:solidFill>
              </a:rPr>
              <a:t>160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A390C0-3642-400E-B3BF-7853625BD1E3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E6369"/>
                </a:solidFill>
              </a:defRPr>
            </a:pPr>
            <a:r>
              <a:rPr sz="1125" b="0" i="0">
                <a:solidFill>
                  <a:srgbClr val="5E6369"/>
                </a:solidFill>
              </a:rPr>
              <a:t>AN19 participants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41A37DC-9650-4453-B445-4EDC5B28CE2B}"/>
              </a:ext>
            </a:extLst>
          </p:cNvPr>
          <p:cNvSpPr>
            <a:spLocks noGrp="1"/>
          </p:cNvSpPr>
          <p:nvPr/>
        </p:nvSpPr>
        <p:spPr>
          <a:xfrm>
            <a:off x="400050" y="2400300"/>
            <a:ext cx="333375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4EF301-9D1C-4262-8A0E-64CEC00BA2B5}"/>
              </a:ext>
            </a:extLst>
          </p:cNvPr>
          <p:cNvSpPr>
            <a:spLocks noGrp="1"/>
          </p:cNvSpPr>
          <p:nvPr/>
        </p:nvSpPr>
        <p:spPr>
          <a:xfrm>
            <a:off x="400050" y="2400300"/>
            <a:ext cx="76200" cy="1000125"/>
          </a:xfrm>
          <a:prstGeom prst="rect">
            <a:avLst/>
          </a:prstGeom>
          <a:solidFill>
            <a:srgbClr val="238B57"/>
          </a:solidFill>
          <a:ln w="0">
            <a:solidFill>
              <a:srgbClr val="238B5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3E77EB-DC91-44F9-B1E5-C9BF53E7F1D9}"/>
              </a:ext>
            </a:extLst>
          </p:cNvPr>
          <p:cNvSpPr>
            <a:spLocks noGrp="1"/>
          </p:cNvSpPr>
          <p:nvPr/>
        </p:nvSpPr>
        <p:spPr>
          <a:xfrm>
            <a:off x="628650" y="252412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238B57"/>
                </a:solidFill>
              </a:defRPr>
            </a:pPr>
            <a:r>
              <a:rPr sz="2250" b="1" i="0">
                <a:solidFill>
                  <a:srgbClr val="238B57"/>
                </a:solidFill>
              </a:rPr>
              <a:t>320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29853C-C24B-43D1-9AFB-473FCA5128A7}"/>
              </a:ext>
            </a:extLst>
          </p:cNvPr>
          <p:cNvSpPr>
            <a:spLocks noGrp="1"/>
          </p:cNvSpPr>
          <p:nvPr/>
        </p:nvSpPr>
        <p:spPr>
          <a:xfrm>
            <a:off x="628650" y="291465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E6369"/>
                </a:solidFill>
              </a:defRPr>
            </a:pPr>
            <a:r>
              <a:rPr sz="1125" b="0" i="0">
                <a:solidFill>
                  <a:srgbClr val="5E6369"/>
                </a:solidFill>
              </a:rPr>
              <a:t>X21 participants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7DC9F82-6A80-49F7-9994-E4145E780629}"/>
              </a:ext>
            </a:extLst>
          </p:cNvPr>
          <p:cNvSpPr>
            <a:spLocks noGrp="1"/>
          </p:cNvSpPr>
          <p:nvPr/>
        </p:nvSpPr>
        <p:spPr>
          <a:xfrm>
            <a:off x="400050" y="3562350"/>
            <a:ext cx="3333750" cy="1000125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F5E723-710A-4AB9-A57B-E1A88D7F4E86}"/>
              </a:ext>
            </a:extLst>
          </p:cNvPr>
          <p:cNvSpPr>
            <a:spLocks noGrp="1"/>
          </p:cNvSpPr>
          <p:nvPr/>
        </p:nvSpPr>
        <p:spPr>
          <a:xfrm>
            <a:off x="400050" y="3562350"/>
            <a:ext cx="76200" cy="1000125"/>
          </a:xfrm>
          <a:prstGeom prst="rect">
            <a:avLst/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194485-30E6-4093-B65F-8A0EE4937137}"/>
              </a:ext>
            </a:extLst>
          </p:cNvPr>
          <p:cNvSpPr>
            <a:spLocks noGrp="1"/>
          </p:cNvSpPr>
          <p:nvPr/>
        </p:nvSpPr>
        <p:spPr>
          <a:xfrm>
            <a:off x="628650" y="368617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FF6B35"/>
                </a:solidFill>
              </a:defRPr>
            </a:pPr>
            <a:r>
              <a:rPr sz="2250" b="1" i="0">
                <a:solidFill>
                  <a:srgbClr val="FF6B35"/>
                </a:solidFill>
              </a:rPr>
              <a:t>195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8ADD0C-F070-4AA0-9232-7081352BDA47}"/>
              </a:ext>
            </a:extLst>
          </p:cNvPr>
          <p:cNvSpPr>
            <a:spLocks noGrp="1"/>
          </p:cNvSpPr>
          <p:nvPr/>
        </p:nvSpPr>
        <p:spPr>
          <a:xfrm>
            <a:off x="628650" y="40767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 i="0">
                <a:solidFill>
                  <a:srgbClr val="5E6369"/>
                </a:solidFill>
              </a:defRPr>
            </a:pPr>
            <a:r>
              <a:rPr sz="1125" b="0" i="0">
                <a:solidFill>
                  <a:srgbClr val="5E6369"/>
                </a:solidFill>
              </a:rPr>
              <a:t>B23 participants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21C929-7587-4927-A3EF-B5298B453406}"/>
              </a:ext>
            </a:extLst>
          </p:cNvPr>
          <p:cNvSpPr>
            <a:spLocks noGrp="1"/>
          </p:cNvSpPr>
          <p:nvPr/>
        </p:nvSpPr>
        <p:spPr>
          <a:xfrm>
            <a:off x="400050" y="4810125"/>
            <a:ext cx="3333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E6369"/>
                </a:solidFill>
              </a:defRPr>
            </a:pPr>
            <a:r>
              <a:rPr sz="1350" b="0" i="0">
                <a:solidFill>
                  <a:srgbClr val="5E6369"/>
                </a:solidFill>
              </a:rPr>
              <a:t>Common target: explain accuracy from exposure–test geometry while respecting each experiment’s design and response format.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7C69AB8-A8D6-4F73-A5AF-80E5D5412974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E1F5CD-52C6-49E6-BE6B-98C06F78A531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2563A7"/>
          </a:solidFill>
          <a:ln w="0">
            <a:solidFill>
              <a:srgbClr val="2563A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4A4F27C-FCA7-4F46-A3BA-DF7F7FB8FAE2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The same analysis contract is applied across distinct talkers, stimuli, and behavioral designs.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89F7F40-DFBA-4C17-9CA4-5E42FE1225E7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FECB3A2-4E3F-4E5D-9297-5FBF7ECC4364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cross_talker_generalization/analysis_update_2026-08-21/figures/figure_05b_experiment_talker_distance_matrices.png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2AD6178-5813-4062-ADA9-265D3A4063B8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04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66773" y="324351"/>
            <a:ext cx="6068285" cy="638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28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27CD7A0-1E8F-4979-B3BB-49CF591DA358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REPRESENTATIONS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756294-3C61-4A77-8A6E-53B6261C64E6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>
                <a:solidFill>
                  <a:srgbClr val="151719"/>
                </a:solidFill>
              </a:rPr>
              <a:t>Behaviorally relevant geometry is tested across the hierarchy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8C4008-B43C-447A-AC4C-831FD77B4355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5F02CC2-6CC2-468E-B7DB-76443EA55858}"/>
              </a:ext>
            </a:extLst>
          </p:cNvPr>
          <p:cNvSpPr>
            <a:spLocks noGrp="1"/>
          </p:cNvSpPr>
          <p:nvPr/>
        </p:nvSpPr>
        <p:spPr>
          <a:xfrm>
            <a:off x="400050" y="1285875"/>
            <a:ext cx="1190625" cy="304800"/>
          </a:xfrm>
          <a:prstGeom prst="roundRect">
            <a:avLst>
              <a:gd name="adj" fmla="val 50000"/>
            </a:avLst>
          </a:prstGeom>
          <a:solidFill>
            <a:srgbClr val="2563A7"/>
          </a:solidFill>
          <a:ln w="0">
            <a:solidFill>
              <a:srgbClr val="2563A7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E0E0E8-3E82-4AAD-AE2D-1BF4722C00AA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18 SPACES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992C48-4663-488E-8CE5-6FD4763DA8F6}"/>
              </a:ext>
            </a:extLst>
          </p:cNvPr>
          <p:cNvSpPr>
            <a:spLocks noGrp="1"/>
          </p:cNvSpPr>
          <p:nvPr/>
        </p:nvSpPr>
        <p:spPr>
          <a:xfrm>
            <a:off x="400050" y="1762125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51719"/>
                </a:solidFill>
              </a:defRPr>
            </a:pPr>
            <a:r>
              <a:rPr sz="1725" b="1" i="0">
                <a:solidFill>
                  <a:srgbClr val="151719"/>
                </a:solidFill>
              </a:rPr>
              <a:t>HuBERT base and ASR fine-tuned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8EF4C2-7780-40EA-BD2C-5D14EAF74D7E}"/>
              </a:ext>
            </a:extLst>
          </p:cNvPr>
          <p:cNvSpPr>
            <a:spLocks noGrp="1"/>
          </p:cNvSpPr>
          <p:nvPr/>
        </p:nvSpPr>
        <p:spPr>
          <a:xfrm>
            <a:off x="400050" y="2238375"/>
            <a:ext cx="342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5E6369"/>
                </a:solidFill>
              </a:defRPr>
            </a:pPr>
            <a:r>
              <a:rPr sz="1425" b="0" i="0">
                <a:solidFill>
                  <a:srgbClr val="5E6369"/>
                </a:solidFill>
              </a:rPr>
              <a:t>CNN 2–6, transformer 0, and even transformer layers 2–24.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93BC2E-6160-4A8D-9FFE-CEE8566584A3}"/>
              </a:ext>
            </a:extLst>
          </p:cNvPr>
          <p:cNvSpPr>
            <a:spLocks noGrp="1"/>
          </p:cNvSpPr>
          <p:nvPr/>
        </p:nvSpPr>
        <p:spPr>
          <a:xfrm>
            <a:off x="400050" y="32194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1719"/>
                </a:solidFill>
              </a:defRPr>
            </a:pPr>
            <a:r>
              <a:rPr sz="1650" b="1" i="0">
                <a:solidFill>
                  <a:srgbClr val="151719"/>
                </a:solidFill>
              </a:rPr>
              <a:t>Acoustic baselines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6D84EF-96E5-4A62-9931-8E4E34BBCA85}"/>
              </a:ext>
            </a:extLst>
          </p:cNvPr>
          <p:cNvSpPr>
            <a:spLocks noGrp="1"/>
          </p:cNvSpPr>
          <p:nvPr/>
        </p:nvSpPr>
        <p:spPr>
          <a:xfrm>
            <a:off x="400050" y="3667125"/>
            <a:ext cx="342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5E6369"/>
                </a:solidFill>
              </a:defRPr>
            </a:pPr>
            <a:r>
              <a:rPr sz="1425" b="0" i="0">
                <a:solidFill>
                  <a:srgbClr val="5E6369"/>
                </a:solidFill>
              </a:rPr>
              <a:t>MFCC-39 and STRF-24 remain comparators rather than optimization targets.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9E8358-73FF-482E-98C0-703B915208B8}"/>
              </a:ext>
            </a:extLst>
          </p:cNvPr>
          <p:cNvSpPr>
            <a:spLocks noGrp="1"/>
          </p:cNvSpPr>
          <p:nvPr/>
        </p:nvSpPr>
        <p:spPr>
          <a:xfrm>
            <a:off x="400050" y="4810125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51719"/>
                </a:solidFill>
              </a:defRPr>
            </a:pPr>
            <a:r>
              <a:rPr sz="1350" b="1" i="0">
                <a:solidFill>
                  <a:srgbClr val="151719"/>
                </a:solidFill>
              </a:rPr>
              <a:t>Layer-distance correlations show that neighboring layers are related but not interchangeable.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E786E53-870F-48E7-A2FF-01B4EA60849F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C270D9-1044-4175-A19F-2E5667A15874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2563A7"/>
          </a:solidFill>
          <a:ln w="0">
            <a:solidFill>
              <a:srgbClr val="2563A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CAFC89-2103-4F1A-8B1D-98BC90A015A8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Layer selection is empirical because representation geometry changes across the network.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D02DFE-3E0D-4387-A5E0-25EDEF4B50A5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E40CC6-A427-43D4-87AA-D5B0D1652D00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cross_talker_generalization/analysis_update_2026-08-21/figures/figure_05a_layer_distance_correlations.png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421427-5F99-4C9B-81F9-47B5F16178D4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05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20126" y="352425"/>
            <a:ext cx="5083342" cy="653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9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682074B-4575-4BB4-94C5-776CE8DC90D6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METHOD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8E73AF-8C6F-474E-BA1F-90868ABD49C1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>
                <a:solidFill>
                  <a:srgbClr val="151719"/>
                </a:solidFill>
              </a:rPr>
              <a:t>SBI turns exposure–test distance into a trial predictor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121B8C-39A5-4CCB-8A92-D32B3A91D958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6275" y="1014436"/>
            <a:ext cx="6724650" cy="4865998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D6F434CC-47B6-4EC0-96E2-B38957842416}"/>
              </a:ext>
            </a:extLst>
          </p:cNvPr>
          <p:cNvSpPr>
            <a:spLocks noGrp="1"/>
          </p:cNvSpPr>
          <p:nvPr/>
        </p:nvSpPr>
        <p:spPr>
          <a:xfrm>
            <a:off x="8286750" y="1295400"/>
            <a:ext cx="3429000" cy="41719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AD3A51-8DF3-439D-9DF3-57CBF94B3883}"/>
              </a:ext>
            </a:extLst>
          </p:cNvPr>
          <p:cNvSpPr>
            <a:spLocks noGrp="1"/>
          </p:cNvSpPr>
          <p:nvPr/>
        </p:nvSpPr>
        <p:spPr>
          <a:xfrm>
            <a:off x="8496300" y="14954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2563A7"/>
                </a:solidFill>
              </a:defRPr>
            </a:pPr>
            <a:r>
              <a:rPr sz="2100" b="1" i="0">
                <a:solidFill>
                  <a:srgbClr val="2563A7"/>
                </a:solidFill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11B50F-BFB7-49A2-A9B8-5DDB4FDE0B11}"/>
              </a:ext>
            </a:extLst>
          </p:cNvPr>
          <p:cNvSpPr>
            <a:spLocks noGrp="1"/>
          </p:cNvSpPr>
          <p:nvPr/>
        </p:nvSpPr>
        <p:spPr>
          <a:xfrm>
            <a:off x="8934450" y="15430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51719"/>
                </a:solidFill>
              </a:defRPr>
            </a:pPr>
            <a:r>
              <a:rPr sz="1425" b="1" i="0">
                <a:solidFill>
                  <a:srgbClr val="151719"/>
                </a:solidFill>
              </a:rPr>
              <a:t>Extract frame-level HuBERT states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82684A-F9E6-4C64-ACBD-CDC7B3884800}"/>
              </a:ext>
            </a:extLst>
          </p:cNvPr>
          <p:cNvSpPr>
            <a:spLocks noGrp="1"/>
          </p:cNvSpPr>
          <p:nvPr/>
        </p:nvSpPr>
        <p:spPr>
          <a:xfrm>
            <a:off x="8496300" y="22860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2563A7"/>
                </a:solidFill>
              </a:defRPr>
            </a:pPr>
            <a:r>
              <a:rPr sz="2100" b="1" i="0">
                <a:solidFill>
                  <a:srgbClr val="2563A7"/>
                </a:solidFill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F128F9-E97B-42E5-8EAE-E03498F7343C}"/>
              </a:ext>
            </a:extLst>
          </p:cNvPr>
          <p:cNvSpPr>
            <a:spLocks noGrp="1"/>
          </p:cNvSpPr>
          <p:nvPr/>
        </p:nvSpPr>
        <p:spPr>
          <a:xfrm>
            <a:off x="8934450" y="2333625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51719"/>
                </a:solidFill>
              </a:defRPr>
            </a:pPr>
            <a:r>
              <a:rPr sz="1425" b="1" i="0">
                <a:solidFill>
                  <a:srgbClr val="151719"/>
                </a:solidFill>
              </a:rPr>
              <a:t>Reduce each layer to 3-D t-SNE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7C978F-1E48-4C22-BB52-74DE4304A40E}"/>
              </a:ext>
            </a:extLst>
          </p:cNvPr>
          <p:cNvSpPr>
            <a:spLocks noGrp="1"/>
          </p:cNvSpPr>
          <p:nvPr/>
        </p:nvSpPr>
        <p:spPr>
          <a:xfrm>
            <a:off x="8496300" y="30765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2563A7"/>
                </a:solidFill>
              </a:defRPr>
            </a:pPr>
            <a:r>
              <a:rPr sz="2100" b="1" i="0">
                <a:solidFill>
                  <a:srgbClr val="2563A7"/>
                </a:solidFill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25EC27-0229-4BBE-9FD0-639BA24D8EB1}"/>
              </a:ext>
            </a:extLst>
          </p:cNvPr>
          <p:cNvSpPr>
            <a:spLocks noGrp="1"/>
          </p:cNvSpPr>
          <p:nvPr/>
        </p:nvSpPr>
        <p:spPr>
          <a:xfrm>
            <a:off x="8934450" y="31242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51719"/>
                </a:solidFill>
              </a:defRPr>
            </a:pPr>
            <a:r>
              <a:rPr sz="1425" b="1" i="0" dirty="0">
                <a:solidFill>
                  <a:srgbClr val="151719"/>
                </a:solidFill>
              </a:rPr>
              <a:t>Compute DTW distance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03B720-4869-4977-BB6E-E5E6FDA5DF82}"/>
              </a:ext>
            </a:extLst>
          </p:cNvPr>
          <p:cNvSpPr>
            <a:spLocks noGrp="1"/>
          </p:cNvSpPr>
          <p:nvPr/>
        </p:nvSpPr>
        <p:spPr>
          <a:xfrm>
            <a:off x="8496300" y="3867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2563A7"/>
                </a:solidFill>
              </a:defRPr>
            </a:pPr>
            <a:r>
              <a:rPr sz="2100" b="1" i="0">
                <a:solidFill>
                  <a:srgbClr val="2563A7"/>
                </a:solidFill>
              </a:rPr>
              <a:t>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725A26-44F9-4172-8204-2D0064D8E214}"/>
              </a:ext>
            </a:extLst>
          </p:cNvPr>
          <p:cNvSpPr>
            <a:spLocks noGrp="1"/>
          </p:cNvSpPr>
          <p:nvPr/>
        </p:nvSpPr>
        <p:spPr>
          <a:xfrm>
            <a:off x="8934450" y="3914775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 i="0">
                <a:solidFill>
                  <a:srgbClr val="151719"/>
                </a:solidFill>
              </a:defRPr>
            </a:pPr>
            <a:r>
              <a:rPr sz="1425" b="1" i="0">
                <a:solidFill>
                  <a:srgbClr val="151719"/>
                </a:solidFill>
              </a:rPr>
              <a:t>Use standardized negative distance in the GLMM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2D4C38-4597-43AA-B91E-B46C515038DD}"/>
              </a:ext>
            </a:extLst>
          </p:cNvPr>
          <p:cNvSpPr>
            <a:spLocks noGrp="1"/>
          </p:cNvSpPr>
          <p:nvPr/>
        </p:nvSpPr>
        <p:spPr>
          <a:xfrm>
            <a:off x="8496300" y="4933950"/>
            <a:ext cx="2905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1">
                <a:solidFill>
                  <a:srgbClr val="8A9097"/>
                </a:solidFill>
              </a:defRPr>
            </a:pPr>
            <a:r>
              <a:rPr sz="975" b="0" i="1">
                <a:solidFill>
                  <a:srgbClr val="8A9097"/>
                </a:solidFill>
              </a:rPr>
              <a:t>Historical normalization: mean sequence length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5294ABD-FA68-4D50-934A-11BEFB4C53E7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442C48-F627-4ADC-A873-23E25E47FA49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2563A7"/>
          </a:solidFill>
          <a:ln w="0">
            <a:solidFill>
              <a:srgbClr val="2563A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77ED399-6618-48D2-982E-4788D67A3CAB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Higher SBI means the exposure is closer to the test item in the selected representation.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2F5027-080C-4A00-A818-B683BABB3FE9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0219BB3-8F9B-4A71-AFD7-1C14C7F4583D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results/figures/X21-base-tr12-representation-schematic-v1/representation_schematic.png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382A1FA-0AC7-4CF8-8DB9-139207AB9E7D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5540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2401FB7-5391-4C45-B857-90D990FFD87A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METHOD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E38DF73-0A3E-495A-9A41-91A2EBFC0DF4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>
                <a:solidFill>
                  <a:srgbClr val="151719"/>
                </a:solidFill>
              </a:rPr>
              <a:t>HVE tests multiple ways of summarizing exposure variability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F5FE6A-060A-42A8-92BB-6E4E48FF7EAB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7C0376D-2FDE-46DD-AC6B-24281AE36BE6}"/>
              </a:ext>
            </a:extLst>
          </p:cNvPr>
          <p:cNvSpPr>
            <a:spLocks noGrp="1"/>
          </p:cNvSpPr>
          <p:nvPr/>
        </p:nvSpPr>
        <p:spPr>
          <a:xfrm>
            <a:off x="400050" y="1295400"/>
            <a:ext cx="1381125" cy="304800"/>
          </a:xfrm>
          <a:prstGeom prst="roundRect">
            <a:avLst>
              <a:gd name="adj" fmla="val 50000"/>
            </a:avLst>
          </a:prstGeom>
          <a:solidFill>
            <a:srgbClr val="C83F3F"/>
          </a:solidFill>
          <a:ln w="0">
            <a:solidFill>
              <a:srgbClr val="C83F3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66871D-B8EB-4CED-8D9C-307A187D9957}"/>
              </a:ext>
            </a:extLst>
          </p:cNvPr>
          <p:cNvSpPr>
            <a:spLocks noGrp="1"/>
          </p:cNvSpPr>
          <p:nvPr/>
        </p:nvSpPr>
        <p:spPr>
          <a:xfrm>
            <a:off x="495300" y="1362075"/>
            <a:ext cx="1190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17 DEFINITIONS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12D44A-8865-41FC-BE0D-2B81AF854600}"/>
              </a:ext>
            </a:extLst>
          </p:cNvPr>
          <p:cNvSpPr>
            <a:spLocks noGrp="1"/>
          </p:cNvSpPr>
          <p:nvPr/>
        </p:nvSpPr>
        <p:spPr>
          <a:xfrm>
            <a:off x="400050" y="18288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1719"/>
                </a:solidFill>
              </a:defRPr>
            </a:pPr>
            <a:r>
              <a:rPr sz="1650" b="1" i="0">
                <a:solidFill>
                  <a:srgbClr val="151719"/>
                </a:solidFill>
              </a:rPr>
              <a:t>Order-independent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271B81-BC46-46A5-A6D3-FFE9B572D1EA}"/>
              </a:ext>
            </a:extLst>
          </p:cNvPr>
          <p:cNvSpPr>
            <a:spLocks noGrp="1"/>
          </p:cNvSpPr>
          <p:nvPr/>
        </p:nvSpPr>
        <p:spPr>
          <a:xfrm>
            <a:off x="400050" y="2247900"/>
            <a:ext cx="3143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E6369"/>
                </a:solidFill>
              </a:defRPr>
            </a:pPr>
            <a:r>
              <a:rPr sz="1350" b="0" i="0">
                <a:solidFill>
                  <a:srgbClr val="5E6369"/>
                </a:solidFill>
              </a:rPr>
              <a:t>Overall dispersion, within/between word or sentence types, and mean dissimilarity.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AF811CA-C59B-4C77-AF0C-B396870DD9ED}"/>
              </a:ext>
            </a:extLst>
          </p:cNvPr>
          <p:cNvSpPr>
            <a:spLocks noGrp="1"/>
          </p:cNvSpPr>
          <p:nvPr/>
        </p:nvSpPr>
        <p:spPr>
          <a:xfrm>
            <a:off x="400050" y="347662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151719"/>
                </a:solidFill>
              </a:defRPr>
            </a:pPr>
            <a:r>
              <a:rPr sz="1650" b="1" i="0">
                <a:solidFill>
                  <a:srgbClr val="151719"/>
                </a:solidFill>
              </a:rPr>
              <a:t>Order-sensitive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462102-9BCF-480F-AC63-5E3EDE747B1F}"/>
              </a:ext>
            </a:extLst>
          </p:cNvPr>
          <p:cNvSpPr>
            <a:spLocks noGrp="1"/>
          </p:cNvSpPr>
          <p:nvPr/>
        </p:nvSpPr>
        <p:spPr>
          <a:xfrm>
            <a:off x="400050" y="3895725"/>
            <a:ext cx="31432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E6369"/>
                </a:solidFill>
              </a:defRPr>
            </a:pPr>
            <a:r>
              <a:rPr sz="1350" b="0" i="0">
                <a:solidFill>
                  <a:srgbClr val="5E6369"/>
                </a:solidFill>
              </a:rPr>
              <a:t>Within-unit transitions plus a global measure that concatenates all exposure tokens in presentation order.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8CC925-9BD0-4915-89FD-C8071AF53A73}"/>
              </a:ext>
            </a:extLst>
          </p:cNvPr>
          <p:cNvSpPr>
            <a:spLocks noGrp="1"/>
          </p:cNvSpPr>
          <p:nvPr/>
        </p:nvSpPr>
        <p:spPr>
          <a:xfrm>
            <a:off x="400050" y="518160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151719"/>
                </a:solidFill>
              </a:defRPr>
            </a:pPr>
            <a:r>
              <a:rPr sz="1200" b="1" i="0">
                <a:solidFill>
                  <a:srgbClr val="151719"/>
                </a:solidFill>
              </a:rPr>
              <a:t>The registry is broader than the single ‘overall variability’ measure used in earlier plots.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19663" y="1709737"/>
            <a:ext cx="8525595" cy="3967163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A113294-4CB8-4D63-9422-28A8D4A5B12C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32DBB4-43CB-482B-9A07-F52B87DF888D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C83F3F"/>
          </a:solidFill>
          <a:ln w="0">
            <a:solidFill>
              <a:srgbClr val="C83F3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AD013C-D6ED-4BB2-AAFE-FFBD2B704D36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HVE is a model family; its definition must be selected without looking at the held-out outcome.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B1D4267-DE8C-4785-8515-83405025B1E1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D259CB-ABD3-4D73-92B8-8A5539A1560C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cross_talker_generalization/analysis_update_2026-08-27/figures/figure_03e_an19_complete_hve_selection.png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7D4D11-1E90-46DD-830A-0D73E5FBA521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7073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0FD7344D-BAB6-4532-B171-8AC9F251175B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STATISTICAL CONTRACT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961FAC-29F2-4CB0-90D1-BE9FE74FE0A8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 dirty="0">
                <a:solidFill>
                  <a:srgbClr val="151719"/>
                </a:solidFill>
              </a:rPr>
              <a:t>Participant-held-out prediction is the primary test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C5301F-4E5C-469C-AA45-87237C9EE621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347DC9-D262-4E12-9922-7BEFEB2B5C6E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563A7"/>
                </a:solidFill>
              </a:defRPr>
            </a:pPr>
            <a:r>
              <a:rPr sz="1800" b="1" i="0">
                <a:solidFill>
                  <a:srgbClr val="2563A7"/>
                </a:solidFill>
              </a:rPr>
              <a:t>M_predictor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9DF753-93ED-4707-9A99-8B00686AD378}"/>
              </a:ext>
            </a:extLst>
          </p:cNvPr>
          <p:cNvSpPr>
            <a:spLocks noGrp="1"/>
          </p:cNvSpPr>
          <p:nvPr/>
        </p:nvSpPr>
        <p:spPr>
          <a:xfrm>
            <a:off x="2095500" y="13906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51719"/>
                </a:solidFill>
              </a:defRPr>
            </a:pPr>
            <a:r>
              <a:rPr sz="1350" b="0" i="0">
                <a:solidFill>
                  <a:srgbClr val="151719"/>
                </a:solidFill>
              </a:rPr>
              <a:t>predictor + random effects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1DE088-B6B0-4759-B753-2F4A52C18F40}"/>
              </a:ext>
            </a:extLst>
          </p:cNvPr>
          <p:cNvSpPr>
            <a:spLocks noGrp="1"/>
          </p:cNvSpPr>
          <p:nvPr/>
        </p:nvSpPr>
        <p:spPr>
          <a:xfrm>
            <a:off x="400050" y="19716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238B57"/>
                </a:solidFill>
              </a:defRPr>
            </a:pPr>
            <a:r>
              <a:rPr sz="1800" b="1" i="0">
                <a:solidFill>
                  <a:srgbClr val="238B57"/>
                </a:solidFill>
              </a:rPr>
              <a:t>M_condition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DA034FE-70CE-4D22-B2A0-C14E955F24A1}"/>
              </a:ext>
            </a:extLst>
          </p:cNvPr>
          <p:cNvSpPr>
            <a:spLocks noGrp="1"/>
          </p:cNvSpPr>
          <p:nvPr/>
        </p:nvSpPr>
        <p:spPr>
          <a:xfrm>
            <a:off x="2095500" y="200977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51719"/>
                </a:solidFill>
              </a:defRPr>
            </a:pPr>
            <a:r>
              <a:rPr sz="1350" b="0" i="0">
                <a:solidFill>
                  <a:srgbClr val="151719"/>
                </a:solidFill>
              </a:rPr>
              <a:t>condition + random effects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4280F0-AB2E-4B33-9957-8F4B978B9F14}"/>
              </a:ext>
            </a:extLst>
          </p:cNvPr>
          <p:cNvSpPr>
            <a:spLocks noGrp="1"/>
          </p:cNvSpPr>
          <p:nvPr/>
        </p:nvSpPr>
        <p:spPr>
          <a:xfrm>
            <a:off x="400050" y="25908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6B4FA3"/>
                </a:solidFill>
              </a:defRPr>
            </a:pPr>
            <a:r>
              <a:rPr sz="1800" b="1" i="0">
                <a:solidFill>
                  <a:srgbClr val="6B4FA3"/>
                </a:solidFill>
              </a:rPr>
              <a:t>M_joint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D2B76B6-4F00-4C0D-BAF4-C286C9718BF4}"/>
              </a:ext>
            </a:extLst>
          </p:cNvPr>
          <p:cNvSpPr>
            <a:spLocks noGrp="1"/>
          </p:cNvSpPr>
          <p:nvPr/>
        </p:nvSpPr>
        <p:spPr>
          <a:xfrm>
            <a:off x="2095500" y="26289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151719"/>
                </a:solidFill>
              </a:defRPr>
            </a:pPr>
            <a:r>
              <a:rPr sz="1350" b="0" i="0">
                <a:solidFill>
                  <a:srgbClr val="151719"/>
                </a:solidFill>
              </a:rPr>
              <a:t>predictor + condition + random effects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ADC5F51-D097-4949-80C5-7BE640DC1DCC}"/>
              </a:ext>
            </a:extLst>
          </p:cNvPr>
          <p:cNvSpPr>
            <a:spLocks noGrp="1"/>
          </p:cNvSpPr>
          <p:nvPr/>
        </p:nvSpPr>
        <p:spPr>
          <a:xfrm>
            <a:off x="400050" y="3381375"/>
            <a:ext cx="4476750" cy="207645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4BCE28-3C89-4611-B5D5-E703F049FE0C}"/>
              </a:ext>
            </a:extLst>
          </p:cNvPr>
          <p:cNvSpPr>
            <a:spLocks noGrp="1"/>
          </p:cNvSpPr>
          <p:nvPr/>
        </p:nvSpPr>
        <p:spPr>
          <a:xfrm>
            <a:off x="590550" y="35814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 i="0">
                <a:solidFill>
                  <a:srgbClr val="151719"/>
                </a:solidFill>
              </a:defRPr>
            </a:pPr>
            <a:r>
              <a:rPr sz="1725" b="1" i="0">
                <a:solidFill>
                  <a:srgbClr val="151719"/>
                </a:solidFill>
              </a:rPr>
              <a:t>Three-fold participant CV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B39C04-64A9-434F-9DBD-EA8D4C857BA0}"/>
              </a:ext>
            </a:extLst>
          </p:cNvPr>
          <p:cNvSpPr>
            <a:spLocks noGrp="1"/>
          </p:cNvSpPr>
          <p:nvPr/>
        </p:nvSpPr>
        <p:spPr>
          <a:xfrm>
            <a:off x="590550" y="4048125"/>
            <a:ext cx="4000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5E6369"/>
                </a:solidFill>
              </a:defRPr>
            </a:pPr>
            <a:r>
              <a:rPr sz="1350" b="0" i="0">
                <a:solidFill>
                  <a:srgbClr val="5E6369"/>
                </a:solidFill>
              </a:rPr>
              <a:t>• select the predictor by held-out M_predictor log loss</a:t>
            </a:r>
          </a:p>
          <a:p>
            <a:pPr algn="l">
              <a:defRPr sz="1350" b="0" i="0">
                <a:solidFill>
                  <a:srgbClr val="5E6369"/>
                </a:solidFill>
              </a:defRPr>
            </a:pPr>
            <a:r>
              <a:rPr sz="1350" b="0" i="0">
                <a:solidFill>
                  <a:srgbClr val="5E6369"/>
                </a:solidFill>
              </a:rPr>
              <a:t>• fit on two participant folds</a:t>
            </a:r>
          </a:p>
          <a:p>
            <a:pPr algn="l">
              <a:defRPr sz="1350" b="0" i="0">
                <a:solidFill>
                  <a:srgbClr val="5E6369"/>
                </a:solidFill>
              </a:defRPr>
            </a:pPr>
            <a:r>
              <a:rPr sz="1350" b="0" i="0">
                <a:solidFill>
                  <a:srgbClr val="5E6369"/>
                </a:solidFill>
              </a:rPr>
              <a:t>• freeze fixed effects for the third fold</a:t>
            </a:r>
          </a:p>
          <a:p>
            <a:pPr algn="l">
              <a:defRPr sz="1350" b="0" i="0">
                <a:solidFill>
                  <a:srgbClr val="5E6369"/>
                </a:solidFill>
              </a:defRPr>
            </a:pPr>
            <a:r>
              <a:rPr sz="1350" b="0" i="0">
                <a:solidFill>
                  <a:srgbClr val="5E6369"/>
                </a:solidFill>
              </a:rPr>
              <a:t>• compare out-of-fold log loss</a:t>
            </a: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91125" y="1625926"/>
            <a:ext cx="6477000" cy="3510897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31F2E66-F534-41AA-92B8-74E269E55A8B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DCBDE9-7770-4B2F-978E-B04C46C49384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2563A7"/>
          </a:solidFill>
          <a:ln w="0">
            <a:solidFill>
              <a:srgbClr val="2563A7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686EDC2-A731-472C-9A6C-4F3FF4BEBA84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Out-of-fold gain measures transport to unseen participants—not refit association on the same data.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A8EBD97-7708-4B41-8E59-1D681F248C7B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89F855-E23F-4D26-AFD4-6DACE2682987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cross_talker_generalization/analysis_update_2026-08-21/figures/figure_04_cv_ceiling.png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155C24-60A2-4215-8A4D-2F23E0264F74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2218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8743C2A-9C8F-4BD5-AA7D-963E2A675BC7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SBI SELECTION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B2C721-3707-461C-B21E-A4D172114ABB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>
                <a:solidFill>
                  <a:srgbClr val="151719"/>
                </a:solidFill>
              </a:rPr>
              <a:t>Best SBI layers differ across datasets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BE4C20-84F6-4100-AA43-BAC5E0A8E16D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586623"/>
            <a:ext cx="11391900" cy="3684754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7DC8EC78-4B75-4A5F-8309-0361E2E16DB5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AD703A-FA00-44DE-AC89-AC101AF16527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2563A7"/>
          </a:solidFill>
          <a:ln w="0">
            <a:solidFill>
              <a:srgbClr val="2563A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43A05C-BCAD-4C38-A622-1C1368BA3781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Selected layers: AN19 tr10/tr10 · X21 tr14/tr22 · B23 tr24/tr20 (base/FT).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45B4EF-3D26-4B6D-A1C1-6FF17D804C1A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2AB810-BA0F-4D5B-8A5D-77C82353CB05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cross_talker_generalization/analysis_update_2026-08-27/figures/figure_01_sbi_predictor_only_selection.png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FF279B-D162-4864-9552-6D37E9FFE964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1386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AB16B19-F4F7-463A-ADA4-0780D4EA4A65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PRIMARY RESULT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CCBB7A-8012-4458-A7B4-82CBC409F796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>
                <a:solidFill>
                  <a:srgbClr val="151719"/>
                </a:solidFill>
              </a:rPr>
              <a:t>SBI improves held-out prediction most clearly in AN19 and X21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B677F8-B55A-4008-BF5D-B3C24C2E617E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569802"/>
            <a:ext cx="11391900" cy="3718395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8831EA02-D48A-46B3-9ED8-20C2F780A4F8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3A4306-6A17-4D23-8D22-CB359BC11C97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238B57"/>
          </a:solidFill>
          <a:ln w="0">
            <a:solidFill>
              <a:srgbClr val="238B5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E3FE5E-EA50-40F6-80E5-4096E275A9DF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Across all six selected representations, the participant-bootstrap CI for SBI beyond condition is above zero.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9ACFF5-ED1A-40E3-947A-04F55B7FCD8F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C3D5D3-8F95-41A7-AA56-FAC4063253B3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cross_talker_generalization/analysis_update_2026-08-27/figures/figure_02_sbi_selected_downstream_comparisons.png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A7902C-7A33-435A-8C1B-6318FA3965AE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92358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4314EFA-3961-41E9-AFAB-FF0ADE291F36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HVE SELECTION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0BE918-175D-4E51-A679-1B6A0F867BCF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>
                <a:solidFill>
                  <a:srgbClr val="151719"/>
                </a:solidFill>
              </a:rPr>
              <a:t>HVE selection is more heterogeneous and sample-dependent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C32BDD-9D3A-48A4-B1B7-D4B4647DDD07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9935E53-15F2-44DB-A429-FA43FAB669BE}"/>
              </a:ext>
            </a:extLst>
          </p:cNvPr>
          <p:cNvSpPr>
            <a:spLocks noGrp="1"/>
          </p:cNvSpPr>
          <p:nvPr/>
        </p:nvSpPr>
        <p:spPr>
          <a:xfrm>
            <a:off x="400050" y="1162050"/>
            <a:ext cx="1428750" cy="285750"/>
          </a:xfrm>
          <a:prstGeom prst="roundRect">
            <a:avLst>
              <a:gd name="adj" fmla="val 50000"/>
            </a:avLst>
          </a:prstGeom>
          <a:solidFill>
            <a:srgbClr val="C83F3F"/>
          </a:solidFill>
          <a:ln w="0">
            <a:solidFill>
              <a:srgbClr val="C83F3F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D82910-91F0-427D-80A9-6F91228C22E2}"/>
              </a:ext>
            </a:extLst>
          </p:cNvPr>
          <p:cNvSpPr>
            <a:spLocks noGrp="1"/>
          </p:cNvSpPr>
          <p:nvPr/>
        </p:nvSpPr>
        <p:spPr>
          <a:xfrm>
            <a:off x="495300" y="1228725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ORDER-SENSITIVE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56744" y="1428750"/>
            <a:ext cx="6478513" cy="209550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0F640DC9-6EB9-47B3-9095-3FB35A49DB20}"/>
              </a:ext>
            </a:extLst>
          </p:cNvPr>
          <p:cNvSpPr>
            <a:spLocks noGrp="1"/>
          </p:cNvSpPr>
          <p:nvPr/>
        </p:nvSpPr>
        <p:spPr>
          <a:xfrm>
            <a:off x="400050" y="36004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 w="0">
            <a:solidFill>
              <a:srgbClr val="FF6B3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170442-7773-48A1-9483-448858C63FA8}"/>
              </a:ext>
            </a:extLst>
          </p:cNvPr>
          <p:cNvSpPr>
            <a:spLocks noGrp="1"/>
          </p:cNvSpPr>
          <p:nvPr/>
        </p:nvSpPr>
        <p:spPr>
          <a:xfrm>
            <a:off x="495300" y="3667125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B23 ORDER-INDEPENDENT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99907" y="3857625"/>
            <a:ext cx="3992186" cy="182880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5EA97C3-C4EB-4E17-9707-809EC78C2EDC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2AF8F2-D6BD-4F2F-85B7-FE0EFFE1DC43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C83F3F"/>
          </a:solidFill>
          <a:ln w="0">
            <a:solidFill>
              <a:srgbClr val="C83F3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80B312-5B77-4D9B-8AF7-987EC48DB961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B23 global-order (n=97) and order-independent (n=168) results use different participant pools and should not be ranked directly.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B2238E7-5E97-4870-8A39-876FFE032C04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1D4DFA-CA27-4CD1-B455-99E27A58C391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cross_talker_generalization/analysis_update_2026-08-27/figures/figure_03a_order_sensitive_hve_selection.png + figure_03c_b23_order_independent_hve_selection.png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D78ECD9-D779-49DC-8296-413FB807FB30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28088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94F55CE-4CBF-449A-ACD2-C922CAAD9CBA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PRIMARY RESULT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4A5F6F-B314-466A-9483-8C900102F9C7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>
                <a:solidFill>
                  <a:srgbClr val="151719"/>
                </a:solidFill>
              </a:rPr>
              <a:t>HVE does not show the same stable held-out benefit as SBI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E78295-3EA0-4793-A2F8-4968C836F3B4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570205"/>
            <a:ext cx="11391900" cy="371759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5B155347-88FF-4656-9606-D475318F178A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32A5773-C53A-423D-B0B2-533A5402B4C6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C83F3F"/>
          </a:solidFill>
          <a:ln w="0">
            <a:solidFill>
              <a:srgbClr val="C83F3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5FB58E-F213-4E97-A09E-63CBCBC6A0A8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Global order-sensitive intervals include zero; B23 order-independent HVE slightly worsens the joint model relative to condition.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EEC076-1DDD-40ED-BF97-74720A37AE2C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81DC67E-D725-4F84-BA15-5573E0896200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cross_talker_generalization/analysis_update_2026-08-27/figures/figure_03g_selected_hve_downstream_comparisons.png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5A4CB-A4EC-413F-96E6-0EC7A166740F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49670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B8D6B4F6-4DE7-4566-8FF1-9C69FA9AEF2F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SUPPLEMENTARY INFERENCE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96732A-0C9D-4F8C-8038-CDB5D7977CD5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>
                <a:solidFill>
                  <a:srgbClr val="151719"/>
                </a:solidFill>
              </a:rPr>
              <a:t>Combined-fold LRTs reveal association beyond out-of-fold gain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E373B0-8394-41C1-8EB9-D4029BD3716E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814B3C0-CE32-4C84-B85C-41901C5F27E1}"/>
              </a:ext>
            </a:extLst>
          </p:cNvPr>
          <p:cNvSpPr>
            <a:spLocks noGrp="1"/>
          </p:cNvSpPr>
          <p:nvPr/>
        </p:nvSpPr>
        <p:spPr>
          <a:xfrm>
            <a:off x="400050" y="1200150"/>
            <a:ext cx="3429000" cy="44386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015FC5-7607-4901-B2F9-181FE510DC9E}"/>
              </a:ext>
            </a:extLst>
          </p:cNvPr>
          <p:cNvSpPr>
            <a:spLocks noGrp="1"/>
          </p:cNvSpPr>
          <p:nvPr/>
        </p:nvSpPr>
        <p:spPr>
          <a:xfrm>
            <a:off x="590550" y="14287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2563A7"/>
                </a:solidFill>
              </a:defRPr>
            </a:pPr>
            <a:r>
              <a:rPr sz="1650" b="1" i="0" dirty="0">
                <a:solidFill>
                  <a:srgbClr val="2563A7"/>
                </a:solidFill>
              </a:rPr>
              <a:t>SBI beyond condition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3D3AB9-44A5-41FA-BD1C-F703C171E4D9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28575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 i="0">
                <a:solidFill>
                  <a:srgbClr val="151719"/>
                </a:solidFill>
              </a:defRPr>
            </a:pPr>
            <a:r>
              <a:rPr sz="1575" b="0" i="0" dirty="0">
                <a:solidFill>
                  <a:srgbClr val="151719"/>
                </a:solidFill>
              </a:rPr>
              <a:t>AN19: p &lt; .003</a:t>
            </a:r>
          </a:p>
          <a:p>
            <a:pPr algn="l">
              <a:defRPr sz="1575" b="0" i="0">
                <a:solidFill>
                  <a:srgbClr val="151719"/>
                </a:solidFill>
              </a:defRPr>
            </a:pPr>
            <a:r>
              <a:rPr sz="1575" b="0" i="0" dirty="0">
                <a:solidFill>
                  <a:srgbClr val="151719"/>
                </a:solidFill>
              </a:rPr>
              <a:t>X21: p &lt; .029</a:t>
            </a:r>
          </a:p>
          <a:p>
            <a:pPr algn="l">
              <a:defRPr sz="1575" b="0" i="0">
                <a:solidFill>
                  <a:srgbClr val="151719"/>
                </a:solidFill>
              </a:defRPr>
            </a:pPr>
            <a:r>
              <a:rPr sz="1575" b="0" i="0" dirty="0">
                <a:solidFill>
                  <a:srgbClr val="151719"/>
                </a:solidFill>
              </a:rPr>
              <a:t>B23: p ≈ .067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D7FC3C-FD93-4B79-A65F-EF386D353EC7}"/>
              </a:ext>
            </a:extLst>
          </p:cNvPr>
          <p:cNvSpPr>
            <a:spLocks noGrp="1"/>
          </p:cNvSpPr>
          <p:nvPr/>
        </p:nvSpPr>
        <p:spPr>
          <a:xfrm>
            <a:off x="590550" y="32385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C83F3F"/>
                </a:solidFill>
              </a:defRPr>
            </a:pPr>
            <a:r>
              <a:rPr sz="1650" b="1" i="0">
                <a:solidFill>
                  <a:srgbClr val="C83F3F"/>
                </a:solidFill>
              </a:rPr>
              <a:t>HVE beyond condition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71C7594-D8DA-42AA-BF39-E12C73ADA552}"/>
              </a:ext>
            </a:extLst>
          </p:cNvPr>
          <p:cNvSpPr>
            <a:spLocks noGrp="1"/>
          </p:cNvSpPr>
          <p:nvPr/>
        </p:nvSpPr>
        <p:spPr>
          <a:xfrm>
            <a:off x="590550" y="3695700"/>
            <a:ext cx="2857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1719"/>
                </a:solidFill>
              </a:defRPr>
            </a:pPr>
            <a:r>
              <a:rPr sz="1500" b="0" i="0" dirty="0">
                <a:solidFill>
                  <a:srgbClr val="151719"/>
                </a:solidFill>
              </a:rPr>
              <a:t>AN19: not significant</a:t>
            </a:r>
          </a:p>
          <a:p>
            <a:pPr algn="l">
              <a:defRPr sz="1500" b="0" i="0">
                <a:solidFill>
                  <a:srgbClr val="151719"/>
                </a:solidFill>
              </a:defRPr>
            </a:pPr>
            <a:r>
              <a:rPr sz="1500" b="0" i="0" dirty="0">
                <a:solidFill>
                  <a:srgbClr val="151719"/>
                </a:solidFill>
              </a:rPr>
              <a:t>X21: p ≈ .053</a:t>
            </a:r>
          </a:p>
          <a:p>
            <a:pPr algn="l">
              <a:defRPr sz="1500" b="0" i="0">
                <a:solidFill>
                  <a:srgbClr val="151719"/>
                </a:solidFill>
              </a:defRPr>
            </a:pPr>
            <a:r>
              <a:rPr sz="1500" b="0" i="0" dirty="0">
                <a:solidFill>
                  <a:srgbClr val="151719"/>
                </a:solidFill>
              </a:rPr>
              <a:t>B23: significant in both HVE families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1338E0-AF12-4E4D-ACDD-F1467F1F8E20}"/>
              </a:ext>
            </a:extLst>
          </p:cNvPr>
          <p:cNvSpPr>
            <a:spLocks noGrp="1"/>
          </p:cNvSpPr>
          <p:nvPr/>
        </p:nvSpPr>
        <p:spPr>
          <a:xfrm>
            <a:off x="590550" y="5191125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1">
                <a:solidFill>
                  <a:srgbClr val="8A9097"/>
                </a:solidFill>
              </a:defRPr>
            </a:pPr>
            <a:r>
              <a:rPr sz="975" b="0" i="1">
                <a:solidFill>
                  <a:srgbClr val="8A9097"/>
                </a:solidFill>
              </a:rPr>
              <a:t>Selection-conditional and uncorrected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D6657D8-2CD3-4ABC-824E-C70A49594C6D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E6E924-E5B2-4AF7-B9A1-FB7E4E46DD0F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6B4FA3"/>
          </a:solidFill>
          <a:ln w="0">
            <a:solidFill>
              <a:srgbClr val="6B4FA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50E81E-CF1C-4365-96B1-FCEB8789EFE2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Association and out-of-fold transport answer different questions—especially for B23 HVE.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FB773D-443C-45FB-8C07-BA0F588D80A5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5D02CD-6849-40F2-9B2A-EFCA350DF150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cross_talker_generalization/analysis_update_2026-09-01/figures/figure_01_crossfitted_nested_lrt.png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2F117A-632E-41CB-845F-CFAEBC8FC48C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13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86419" y="1176088"/>
            <a:ext cx="6302850" cy="482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7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1684612-3B33-4DE4-A2B5-E5A126D99B8F}"/>
              </a:ext>
            </a:extLst>
          </p:cNvPr>
          <p:cNvSpPr>
            <a:spLocks noGrp="1"/>
          </p:cNvSpPr>
          <p:nvPr/>
        </p:nvSpPr>
        <p:spPr>
          <a:xfrm>
            <a:off x="419100" y="20955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2563A7"/>
                </a:solidFill>
              </a:defRPr>
            </a:pPr>
            <a:r>
              <a:rPr sz="825" b="1" i="0">
                <a:solidFill>
                  <a:srgbClr val="2563A7"/>
                </a:solidFill>
              </a:rPr>
              <a:t>CONCLUSIONS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42D242-A030-4AE9-BDD7-755C492AE0EA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11144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 i="0">
                <a:solidFill>
                  <a:srgbClr val="151719"/>
                </a:solidFill>
              </a:defRPr>
            </a:pPr>
            <a:r>
              <a:rPr sz="2700" b="1" i="0">
                <a:solidFill>
                  <a:srgbClr val="151719"/>
                </a:solidFill>
              </a:rPr>
              <a:t>SBI is the consistent signal; robustness is the next test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1BB814-9EDB-46D4-9956-B12D70DCFA51}"/>
              </a:ext>
            </a:extLst>
          </p:cNvPr>
          <p:cNvSpPr>
            <a:spLocks noGrp="1"/>
          </p:cNvSpPr>
          <p:nvPr/>
        </p:nvSpPr>
        <p:spPr>
          <a:xfrm>
            <a:off x="400050" y="990600"/>
            <a:ext cx="11391900" cy="19050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34BFE40-D3ED-49F0-B5E7-763D32AEEE32}"/>
              </a:ext>
            </a:extLst>
          </p:cNvPr>
          <p:cNvSpPr>
            <a:spLocks noGrp="1"/>
          </p:cNvSpPr>
          <p:nvPr/>
        </p:nvSpPr>
        <p:spPr>
          <a:xfrm>
            <a:off x="400050" y="1219200"/>
            <a:ext cx="4953000" cy="4429125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DEF52B-CD96-4CF9-9CDA-186BB7597507}"/>
              </a:ext>
            </a:extLst>
          </p:cNvPr>
          <p:cNvSpPr>
            <a:spLocks noGrp="1"/>
          </p:cNvSpPr>
          <p:nvPr/>
        </p:nvSpPr>
        <p:spPr>
          <a:xfrm>
            <a:off x="609600" y="14478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151719"/>
                </a:solidFill>
              </a:defRPr>
            </a:pPr>
            <a:r>
              <a:rPr sz="1800" b="1" i="0">
                <a:solidFill>
                  <a:srgbClr val="151719"/>
                </a:solidFill>
              </a:rPr>
              <a:t>What the current results support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41C4D0-76B0-4493-9618-FD4920666859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429125" cy="2495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151719"/>
                </a:solidFill>
              </a:defRPr>
            </a:pPr>
            <a:r>
              <a:rPr sz="1500" b="0" i="0">
                <a:solidFill>
                  <a:srgbClr val="151719"/>
                </a:solidFill>
              </a:rPr>
              <a:t>1  SBI predicts unseen participants across datasets, most clearly in AN19 and X21.</a:t>
            </a:r>
          </a:p>
          <a:p>
            <a:endParaRPr sz="1500" b="0" i="0">
              <a:solidFill>
                <a:srgbClr val="151719"/>
              </a:solidFill>
            </a:endParaRPr>
          </a:p>
          <a:p>
            <a:pPr algn="l">
              <a:defRPr sz="1500" b="0" i="0">
                <a:solidFill>
                  <a:srgbClr val="151719"/>
                </a:solidFill>
              </a:defRPr>
            </a:pPr>
            <a:r>
              <a:rPr sz="1500" b="0" i="0">
                <a:solidFill>
                  <a:srgbClr val="151719"/>
                </a:solidFill>
              </a:rPr>
              <a:t>2  ASR fine-tuning offers no consistent advantage.</a:t>
            </a:r>
          </a:p>
          <a:p>
            <a:endParaRPr sz="1500" b="0" i="0">
              <a:solidFill>
                <a:srgbClr val="151719"/>
              </a:solidFill>
            </a:endParaRPr>
          </a:p>
          <a:p>
            <a:pPr algn="l">
              <a:defRPr sz="1500" b="0" i="0">
                <a:solidFill>
                  <a:srgbClr val="151719"/>
                </a:solidFill>
              </a:defRPr>
            </a:pPr>
            <a:r>
              <a:rPr sz="1500" b="0" i="0">
                <a:solidFill>
                  <a:srgbClr val="151719"/>
                </a:solidFill>
              </a:rPr>
              <a:t>3  HVE is weaker and more dependent on definition, participant pool, and evaluation method.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0BBFF90-96A9-4A27-90A8-1935EE532A18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FF6B35"/>
                </a:solidFill>
              </a:defRPr>
            </a:pPr>
            <a:r>
              <a:rPr sz="1650" b="1" i="0">
                <a:solidFill>
                  <a:srgbClr val="FF6B35"/>
                </a:solidFill>
              </a:rPr>
              <a:t>Priority next steps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509836-39BD-4A25-A996-4999BD6D5F27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442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5E6369"/>
                </a:solidFill>
              </a:defRPr>
            </a:pPr>
            <a:r>
              <a:rPr sz="1200" b="0" i="0">
                <a:solidFill>
                  <a:srgbClr val="5E6369"/>
                </a:solidFill>
              </a:rPr>
              <a:t>Nested selection · full-dimensional/path-length sensitivity · joint SBI/HVE/acoustic models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56634" y="1123950"/>
            <a:ext cx="5622231" cy="4667250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ED305BF-0B67-47B1-A450-311B319C661C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11391900" cy="419100"/>
          </a:xfrm>
          <a:prstGeom prst="roundRect">
            <a:avLst>
              <a:gd name="adj" fmla="val 27273"/>
            </a:avLst>
          </a:prstGeom>
          <a:solidFill>
            <a:srgbClr val="F7F7F4"/>
          </a:solidFill>
          <a:ln w="9525">
            <a:solidFill>
              <a:srgbClr val="D5D7D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98229D-F6A8-48F4-847E-12A74C92515B}"/>
              </a:ext>
            </a:extLst>
          </p:cNvPr>
          <p:cNvSpPr>
            <a:spLocks noGrp="1"/>
          </p:cNvSpPr>
          <p:nvPr/>
        </p:nvSpPr>
        <p:spPr>
          <a:xfrm>
            <a:off x="400050" y="5857875"/>
            <a:ext cx="66675" cy="419100"/>
          </a:xfrm>
          <a:prstGeom prst="rect">
            <a:avLst/>
          </a:prstGeom>
          <a:solidFill>
            <a:srgbClr val="238B57"/>
          </a:solidFill>
          <a:ln w="0">
            <a:solidFill>
              <a:srgbClr val="238B5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F54242-DDFC-4053-867D-C67346574D81}"/>
              </a:ext>
            </a:extLst>
          </p:cNvPr>
          <p:cNvSpPr>
            <a:spLocks noGrp="1"/>
          </p:cNvSpPr>
          <p:nvPr/>
        </p:nvSpPr>
        <p:spPr>
          <a:xfrm>
            <a:off x="590550" y="5953125"/>
            <a:ext cx="11068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 i="0">
                <a:solidFill>
                  <a:srgbClr val="151719"/>
                </a:solidFill>
              </a:defRPr>
            </a:pPr>
            <a:r>
              <a:rPr sz="1275" b="1" i="0">
                <a:solidFill>
                  <a:srgbClr val="151719"/>
                </a:solidFill>
              </a:rPr>
              <a:t>Working conclusion: exposure–test similarity generalizes more reliably than exposure variability.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55A9BB-1C39-4D07-83EC-891CBEC496B6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11391900" cy="9525"/>
          </a:xfrm>
          <a:prstGeom prst="rect">
            <a:avLst/>
          </a:prstGeom>
          <a:solidFill>
            <a:srgbClr val="D5D7D2"/>
          </a:solidFill>
          <a:ln w="0">
            <a:solidFill>
              <a:srgbClr val="D5D7D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E8CADD-3F6A-441A-A808-DAE1C02E1DEB}"/>
              </a:ext>
            </a:extLst>
          </p:cNvPr>
          <p:cNvSpPr>
            <a:spLocks noGrp="1"/>
          </p:cNvSpPr>
          <p:nvPr/>
        </p:nvSpPr>
        <p:spPr>
          <a:xfrm>
            <a:off x="419100" y="6486525"/>
            <a:ext cx="1066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 i="0">
                <a:solidFill>
                  <a:srgbClr val="8A9097"/>
                </a:solidFill>
              </a:defRPr>
            </a:pPr>
            <a:r>
              <a:rPr sz="750" b="0" i="0">
                <a:solidFill>
                  <a:srgbClr val="8A9097"/>
                </a:solidFill>
              </a:rPr>
              <a:t>Project output · cross_talker_generalization/analysis_update_2026-08-21/figures/figure_09_predictor_transform_sensitivity.png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AA6855-5459-478A-87A1-4A1658ED995B}"/>
              </a:ext>
            </a:extLst>
          </p:cNvPr>
          <p:cNvSpPr>
            <a:spLocks noGrp="1"/>
          </p:cNvSpPr>
          <p:nvPr/>
        </p:nvSpPr>
        <p:spPr>
          <a:xfrm>
            <a:off x="11144250" y="6467475"/>
            <a:ext cx="609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8A9097"/>
                </a:solidFill>
              </a:defRPr>
            </a:pPr>
            <a:r>
              <a:rPr sz="825" b="1" i="0">
                <a:solidFill>
                  <a:srgbClr val="8A9097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92269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1187</Words>
  <Application>Microsoft Office PowerPoint</Application>
  <DocSecurity>0</DocSecurity>
  <PresentationFormat>宽屏</PresentationFormat>
  <Paragraphs>142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 Jin</cp:lastModifiedBy>
  <cp:revision>1</cp:revision>
  <dcterms:created xsi:type="dcterms:W3CDTF">2026-09-01T13:04:21Z</dcterms:created>
  <dcterms:modified xsi:type="dcterms:W3CDTF">2026-09-01T21:35:09Z</dcterms:modified>
</cp:coreProperties>
</file>